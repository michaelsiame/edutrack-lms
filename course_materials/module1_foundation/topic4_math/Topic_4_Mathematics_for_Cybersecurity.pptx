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Topic 4: Mathematics for Cybersecurity. Mathematics is the hidden engine behind almost every security technology you use: encryption, hashing, digital signatures, network addressing, and access control. This topic focuses on the specific math concepts that cybersecurity professionals need to understand: binary and hexadecimal number systems, Boolean logic, and the Exclusive OR (XOR) operation. We will explain every concept clearly, show how it is used in real security systems, and provide plenty of practical examples.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Binary is the native language of computers. At the hardware level, a computer's Central Processing Unit (CPU) and memory chips represent information using electrical signals: a high voltage typically means 1, and a low voltage (or no voltage) means 0. Because there are only two states, the base-2 binary system is the perfect mathematical model for how computers store and process information.</a:t>
            </a:r>
          </a:p>
          <a:p/>
          <a:p>
            <a:r>
              <a:t>A bit (short for binary digit) is the smallest unit of data in computing. It can hold exactly one of two values: 0 or 1. A byte is a group of 8 bits. One byte can represent 256 different values (2 to the power of 8), ranging from 0 to 255. This is why an IPv4 address uses four bytes (four numbers from 0 to 255), and why the American Standard Code for Information Interchange (ASCII) character set uses one byte per character.</a:t>
            </a:r>
          </a:p>
          <a:p/>
          <a:p>
            <a:r>
              <a:t>How to convert decimal to binary: The easiest method for small numbers is to find the largest power of 2 that fits into the number, subtract it, and repeat.</a:t>
            </a:r>
          </a:p>
          <a:p>
            <a:r>
              <a:t>Example: Convert decimal 13 to binary.</a:t>
            </a:r>
          </a:p>
          <a:p>
            <a:r>
              <a:t>- The powers of 2 are: 8, 4, 2, 1.</a:t>
            </a:r>
          </a:p>
          <a:p>
            <a:r>
              <a:t>- Does 8 fit into 13? Yes. Write 1. Remainder = 13 - 8 = 5.</a:t>
            </a:r>
          </a:p>
          <a:p>
            <a:r>
              <a:t>- Does 4 fit into 5? Yes. Write 1. Remainder = 5 - 4 = 1.</a:t>
            </a:r>
          </a:p>
          <a:p>
            <a:r>
              <a:t>- Does 2 fit into 1? No. Write 0. Remainder stays 1.</a:t>
            </a:r>
          </a:p>
          <a:p>
            <a:r>
              <a:t>- Does 1 fit into 1? Yes. Write 1. Remainder = 0.</a:t>
            </a:r>
          </a:p>
          <a:p>
            <a:r>
              <a:t>- Reading the results: 1101. So decimal 13 = binary 1101.</a:t>
            </a:r>
          </a:p>
          <a:p/>
          <a:p>
            <a:r>
              <a:t>Real-world cybersecurity context:</a:t>
            </a:r>
          </a:p>
          <a:p>
            <a:r>
              <a:t>- Subnet masks are expressed in binary. A /24 subnet mask means the first 24 bits are 1s and the last 8 bits are 0s: 11111111.11111111.11111111.00000000, which is 255.255.255.0 in decimal.</a:t>
            </a:r>
          </a:p>
          <a:p>
            <a:r>
              <a:t>- File permissions in Linux are often represented in octal (base-8), which is derived from binary groupings of three bits.</a:t>
            </a:r>
          </a:p>
          <a:p>
            <a:r>
              <a:t>- Cryptographic keys are measured in bits. A 256-bit key has 2^256 possible combinations, making it computationally infeasible to guess.</a:t>
            </a:r>
          </a:p>
          <a:p>
            <a:r>
              <a:t>- Memory forensics involves analyzing raw binary data extracted from RAM chips to find artifacts like passwords, encryption keys, and malware.</a:t>
            </a:r>
          </a:p>
          <a:p/>
          <a:p>
            <a:r>
              <a:t>Abbreviations defined:</a:t>
            </a:r>
          </a:p>
          <a:p>
            <a:r>
              <a:t>- CPU = Central Processing Unit</a:t>
            </a:r>
          </a:p>
          <a:p>
            <a:r>
              <a:t>- ASCII = American Standard Code for Information Interchange</a:t>
            </a:r>
          </a:p>
          <a:p>
            <a:r>
              <a:t>- IPv4 = Internet Protocol version 4</a:t>
            </a:r>
          </a:p>
          <a:p>
            <a:r>
              <a:t>- RAM = Random Access Memory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Binary addition is a fundamental operation in computing. Even though humans work in decimal, computers perform all arithmetic in binary.</a:t>
            </a:r>
          </a:p>
          <a:p/>
          <a:p>
            <a:r>
              <a:t>Binary addition rules:</a:t>
            </a:r>
          </a:p>
          <a:p>
            <a:r>
              <a:t>- 0 + 0 = 0</a:t>
            </a:r>
          </a:p>
          <a:p>
            <a:r>
              <a:t>- 0 + 1 = 1</a:t>
            </a:r>
          </a:p>
          <a:p>
            <a:r>
              <a:t>- 1 + 0 = 1</a:t>
            </a:r>
          </a:p>
          <a:p>
            <a:r>
              <a:t>- 1 + 1 = 10 (which is 2 in decimal). Write down 0 and carry 1 to the next column.</a:t>
            </a:r>
          </a:p>
          <a:p>
            <a:r>
              <a:t>- 1 + 1 + 1 (with a carried 1) = 11 (which is 3 in decimal). Write down 1 and carry 1.</a:t>
            </a:r>
          </a:p>
          <a:p/>
          <a:p>
            <a:r>
              <a:t>Example: Add 0101 (5) and 0011 (3).</a:t>
            </a:r>
          </a:p>
          <a:p>
            <a:r>
              <a:t>  0101</a:t>
            </a:r>
          </a:p>
          <a:p>
            <a:r>
              <a:t>+ 0011</a:t>
            </a:r>
          </a:p>
          <a:p>
            <a:r>
              <a:t>------</a:t>
            </a:r>
          </a:p>
          <a:p>
            <a:r>
              <a:t>  1000</a:t>
            </a:r>
          </a:p>
          <a:p/>
          <a:p>
            <a:r>
              <a:t>Let's do it column by column from right to left:</a:t>
            </a:r>
          </a:p>
          <a:p>
            <a:r>
              <a:t>- Rightmost column: 1 + 1 = 10. Write 0, carry 1.</a:t>
            </a:r>
          </a:p>
          <a:p>
            <a:r>
              <a:t>- Next column: 0 + 1 + carry 1 = 10. Write 0, carry 1.</a:t>
            </a:r>
          </a:p>
          <a:p>
            <a:r>
              <a:t>- Next column: 1 + 0 + carry 1 = 10. Write 0, carry 1.</a:t>
            </a:r>
          </a:p>
          <a:p>
            <a:r>
              <a:t>- Leftmost column: 0 + 0 + carry 1 = 1. Write 1.</a:t>
            </a:r>
          </a:p>
          <a:p>
            <a:r>
              <a:t>- Final result: 1000, which is 8 in decimal.</a:t>
            </a:r>
          </a:p>
          <a:p/>
          <a:p>
            <a:r>
              <a:t>Integer overflow: Computers allocate a fixed number of bits to store numbers. For example, an unsigned 8-bit integer can hold values from 0 to 255. If you try to add 255 + 1 in an 8-bit container, the result is 256, but 256 in binary is 1 0000 0000 (9 bits). Since only 8 bits are available, the leading 1 is discarded, and the result wraps around to 0. This is called overflow.</a:t>
            </a:r>
          </a:p>
          <a:p/>
          <a:p>
            <a:r>
              <a:t>Security impact of integer overflow: Attackers have exploited integer overflow to cause devastating security problems. In 2014, the 'Heartbleed' vulnerability in OpenSSL allowed attackers to read sensitive memory from servers - though Heartbleed itself was a buffer over-read, it was closely related to length miscalculation. More directly, integer overflows in image parsers, file format handlers, and network protocols have allowed attackers to bypass size checks, allocate too-small memory buffers, and then overflow those buffers with malicious data. The Stagefright vulnerability in Android (2015) was partly caused by integer underflow (the opposite: subtracting too much and wrapping to a huge positive number).</a:t>
            </a:r>
          </a:p>
          <a:p/>
          <a:p>
            <a:r>
              <a:t>Mitigation: Modern programming languages and compilers include protections against integer overflow. However, in languages like C and C++, it is still the programmer's responsibility to check for overflow before performing arithmetic. Secure coding standards require that all arithmetic on untrusted input be bounds-checked.</a:t>
            </a:r>
          </a:p>
          <a:p/>
          <a:p>
            <a:r>
              <a:t>Abbreviations defined:</a:t>
            </a:r>
          </a:p>
          <a:p>
            <a:r>
              <a:t>- OpenSSL = Open Secure Sockets Layer toolkit</a:t>
            </a:r>
          </a:p>
          <a:p>
            <a:r>
              <a:t>- Android = Mobile operating system developed by Google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Hexadecimal is indispensable in cybersecurity because it provides a compact, human-readable way to represent long sequences of binary data. Without hex, a 256-bit cryptographic key would be a 77-digit decimal number or a 256-digit binary number - both impractical to write down or compare. In hex, the same key is a 64-character string, which is much more manageable.</a:t>
            </a:r>
          </a:p>
          <a:p/>
          <a:p>
            <a:r>
              <a:t>Hexadecimal uses 16 digits: 0, 1, 2, 3, 4, 5, 6, 7, 8, 9, A, B, C, D, E, F. The letters A through F represent decimal values 10 through 15.</a:t>
            </a:r>
          </a:p>
          <a:p/>
          <a:p>
            <a:r>
              <a:t>The relationship between hex and binary is elegant because 16 is 2 to the power of 4. This means every hex digit maps directly to exactly 4 binary digits (a nibble). Every pair of hex digits maps to exactly 1 byte (8 bits). This makes conversion between hex and binary very easy:</a:t>
            </a:r>
          </a:p>
          <a:p>
            <a:r>
              <a:t>- Hex F = Binary 1111</a:t>
            </a:r>
          </a:p>
          <a:p>
            <a:r>
              <a:t>- Hex A = Binary 1010</a:t>
            </a:r>
          </a:p>
          <a:p>
            <a:r>
              <a:t>- Hex 0 = Binary 0000</a:t>
            </a:r>
          </a:p>
          <a:p>
            <a:r>
              <a:t>- Hex FF = Binary 11111111 (one byte)</a:t>
            </a:r>
          </a:p>
          <a:p>
            <a:r>
              <a:t>- Hex 1A = Binary 00011010 (one byte)</a:t>
            </a:r>
          </a:p>
          <a:p/>
          <a:p>
            <a:r>
              <a:t>Real-world cybersecurity uses of hex:</a:t>
            </a:r>
          </a:p>
          <a:p>
            <a:r>
              <a:t>- MAC (Media Access Control) addresses are written in hex, like 00:1A:2B:3C:4D:5E.</a:t>
            </a:r>
          </a:p>
          <a:p>
            <a:r>
              <a:t>- IPv6 addresses use hex, like 2001:0DB8:85A3::8A2E:0370:7334.</a:t>
            </a:r>
          </a:p>
          <a:p>
            <a:r>
              <a:t>- Memory dumps and packet captures display raw bytes in hex. Tools like Wireshark show packet contents in both hex and ASCII.</a:t>
            </a:r>
          </a:p>
          <a:p>
            <a:r>
              <a:t>- Cryptographic hashes are represented in hex. For example, an SHA-256 hash is a 64-character hex string.</a:t>
            </a:r>
          </a:p>
          <a:p>
            <a:r>
              <a:t>- Color codes in web development use hex, like #FF5733 for a shade of red.</a:t>
            </a:r>
          </a:p>
          <a:p/>
          <a:p>
            <a:r>
              <a:t>How to convert decimal to hex: Divide the decimal number by 16 repeatedly and record the remainders.</a:t>
            </a:r>
          </a:p>
          <a:p>
            <a:r>
              <a:t>Example: Convert decimal 255 to hex.</a:t>
            </a:r>
          </a:p>
          <a:p>
            <a:r>
              <a:t>- 255 divided by 16 = 15 with a remainder of 15.</a:t>
            </a:r>
          </a:p>
          <a:p>
            <a:r>
              <a:t>- 15 in hex is F.</a:t>
            </a:r>
          </a:p>
          <a:p>
            <a:r>
              <a:t>- So 255 in decimal = FF in hex.</a:t>
            </a:r>
          </a:p>
          <a:p/>
          <a:p>
            <a:r>
              <a:t>Example: Convert decimal 173 to hex.</a:t>
            </a:r>
          </a:p>
          <a:p>
            <a:r>
              <a:t>- 173 divided by 16 = 10 with a remainder of 13.</a:t>
            </a:r>
          </a:p>
          <a:p>
            <a:r>
              <a:t>- 10 in hex is A. 13 in hex is D.</a:t>
            </a:r>
          </a:p>
          <a:p>
            <a:r>
              <a:t>- So 173 in decimal = AD in hex.</a:t>
            </a:r>
          </a:p>
          <a:p/>
          <a:p>
            <a:r>
              <a:t>Abbreviations defined:</a:t>
            </a:r>
          </a:p>
          <a:p>
            <a:r>
              <a:t>- Hex = Hexadecimal</a:t>
            </a:r>
          </a:p>
          <a:p>
            <a:r>
              <a:t>- MAC = Media Access Control</a:t>
            </a:r>
          </a:p>
          <a:p>
            <a:r>
              <a:t>- IPv6 = Internet Protocol version 6</a:t>
            </a:r>
          </a:p>
          <a:p>
            <a:r>
              <a:t>- ASCII = American Standard Code for Information Interchange</a:t>
            </a:r>
          </a:p>
          <a:p>
            <a:r>
              <a:t>- SHA-256 = Secure Hash Algorithm 256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Boolean logic, named after the mathematician George Boole (1815-1864), is the mathematical system that underlies all digital computing. Every Central Processing Unit (CPU), every software condition, and every database query filter relies on Boolean operations.</a:t>
            </a:r>
          </a:p>
          <a:p/>
          <a:p>
            <a:r>
              <a:t>AND operation (symbol: &amp;&amp; or AND):</a:t>
            </a:r>
          </a:p>
          <a:p>
            <a:r>
              <a:t>- True AND True = True</a:t>
            </a:r>
          </a:p>
          <a:p>
            <a:r>
              <a:t>- True AND False = False</a:t>
            </a:r>
          </a:p>
          <a:p>
            <a:r>
              <a:t>- False AND True = False</a:t>
            </a:r>
          </a:p>
          <a:p>
            <a:r>
              <a:t>- False AND False = False</a:t>
            </a:r>
          </a:p>
          <a:p>
            <a:r>
              <a:t>In cybersecurity, AND is used in access control. For example: if (user.isEmployee == True) AND (user.hasSecurityClearance == True) then grantAccess(). Both conditions must be satisfied.</a:t>
            </a:r>
          </a:p>
          <a:p/>
          <a:p>
            <a:r>
              <a:t>OR operation (symbol: || or OR):</a:t>
            </a:r>
          </a:p>
          <a:p>
            <a:r>
              <a:t>- True OR True = True</a:t>
            </a:r>
          </a:p>
          <a:p>
            <a:r>
              <a:t>- True OR False = True</a:t>
            </a:r>
          </a:p>
          <a:p>
            <a:r>
              <a:t>- False OR True = True</a:t>
            </a:r>
          </a:p>
          <a:p>
            <a:r>
              <a:t>- False OR False = False</a:t>
            </a:r>
          </a:p>
          <a:p>
            <a:r>
              <a:t>In cybersecurity, OR is used in firewall rules. For example: allow traffic if (sourcePort == 80) OR (sourcePort == 443). If either condition is true, the traffic is allowed.</a:t>
            </a:r>
          </a:p>
          <a:p/>
          <a:p>
            <a:r>
              <a:t>NOT operation (symbol: ! or NOT):</a:t>
            </a:r>
          </a:p>
          <a:p>
            <a:r>
              <a:t>- NOT True = False</a:t>
            </a:r>
          </a:p>
          <a:p>
            <a:r>
              <a:t>- NOT False = True</a:t>
            </a:r>
          </a:p>
          <a:p>
            <a:r>
              <a:t>In cybersecurity, NOT is used to deny access. For example: if NOT (user.isBanned) then allowLogin().</a:t>
            </a:r>
          </a:p>
          <a:p/>
          <a:p>
            <a:r>
              <a:t>Truth tables: A truth table is a chart that lists all possible input combinations and their corresponding outputs for a Boolean operation. Engineers use truth tables to design logic gates - the physical building blocks of computer chips. A logic gate is a tiny electronic circuit that performs a Boolean operation. Modern CPUs contain billions of logic gates working together at incredible speeds.</a:t>
            </a:r>
          </a:p>
          <a:p/>
          <a:p>
            <a:r>
              <a:t>Boolean logic in SQL injection: Attackers sometimes exploit Boolean-based SQL injection to extract data one bit at a time. They craft queries that return True or False based on a condition. By observing whether the application behaves differently for True versus False, they can slowly reconstruct secret information like database contents.</a:t>
            </a:r>
          </a:p>
          <a:p/>
          <a:p>
            <a:r>
              <a:t>Abbreviations defined:</a:t>
            </a:r>
          </a:p>
          <a:p>
            <a:r>
              <a:t>- CPU = Central Processing Unit</a:t>
            </a:r>
          </a:p>
          <a:p>
            <a:r>
              <a:t>- SQL = Structured Query Language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This slide presents the truth tables for AND, OR, and NOT in a clean tabular format. Instructors should walk through each row slowly, especially for students who have never seen truth tables before.</a:t>
            </a:r>
          </a:p>
          <a:p/>
          <a:p>
            <a:r>
              <a:t>AND truth table walkthrough:</a:t>
            </a:r>
          </a:p>
          <a:p>
            <a:r>
              <a:t>- Row 1: Input A=0, Input B=0. Since neither is 1, the output is 0 (False).</a:t>
            </a:r>
          </a:p>
          <a:p>
            <a:r>
              <a:t>- Row 2: Input A=0, Input B=1. A is not True, so the output is 0.</a:t>
            </a:r>
          </a:p>
          <a:p>
            <a:r>
              <a:t>- Row 3: Input A=1, Input B=0. B is not True, so the output is 0.</a:t>
            </a:r>
          </a:p>
          <a:p>
            <a:r>
              <a:t>- Row 4: Input A=1, Input B=1. Both are True, so the output is 1 (True).</a:t>
            </a:r>
          </a:p>
          <a:p/>
          <a:p>
            <a:r>
              <a:t>OR truth table walkthrough:</a:t>
            </a:r>
          </a:p>
          <a:p>
            <a:r>
              <a:t>- Row 1: Input A=0, Input B=0. Neither is True, so output is 0.</a:t>
            </a:r>
          </a:p>
          <a:p>
            <a:r>
              <a:t>- Row 2: Input A=0, Input B=1. B is True, so output is 1.</a:t>
            </a:r>
          </a:p>
          <a:p>
            <a:r>
              <a:t>- Row 3: Input A=1, Input B=0. A is True, so output is 1.</a:t>
            </a:r>
          </a:p>
          <a:p>
            <a:r>
              <a:t>- Row 4: Input A=1, Input B=1. Both are True, so output is 1.</a:t>
            </a:r>
          </a:p>
          <a:p/>
          <a:p>
            <a:r>
              <a:t>NOT truth table walkthrough:</a:t>
            </a:r>
          </a:p>
          <a:p>
            <a:r>
              <a:t>- Row 1: Input A=0. The opposite of False is True, so output is 1.</a:t>
            </a:r>
          </a:p>
          <a:p>
            <a:r>
              <a:t>- Row 2: Input A=1. The opposite of True is False, so output is 0.</a:t>
            </a:r>
          </a:p>
          <a:p/>
          <a:p>
            <a:r>
              <a:t>Security example - Multi-factor authentication (MFA): MFA requires users to provide at least two different types of authentication factors. For example, 'something you know' (password) AND 'something you have' (mobile phone with a one-time code). In Boolean terms: accessGranted = (correctPassword) AND (validOTP). Even if an attacker steals the password (A=1, B=0), the AND operation returns False, and access is denied.</a:t>
            </a:r>
          </a:p>
          <a:p/>
          <a:p>
            <a:r>
              <a:t>Security example - Firewall rule: A firewall might allow traffic if it comes from the internal network OR if it uses the HTTPS protocol. Internal network = True, other network = False. HTTPS = True, other protocol = False. If either is True, the OR operation allows the traffic.</a:t>
            </a:r>
          </a:p>
          <a:p/>
          <a:p>
            <a:r>
              <a:t>Abbreviations defined:</a:t>
            </a:r>
          </a:p>
          <a:p>
            <a:r>
              <a:t>- MFA = Multi-Factor Authentication</a:t>
            </a:r>
          </a:p>
          <a:p>
            <a:r>
              <a:t>- OTP = One-Time Password</a:t>
            </a:r>
          </a:p>
          <a:p>
            <a:r>
              <a:t>- HTTPS = HyperText Transfer Protocol Secure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XOR is arguably the single most important Boolean operation in all of cryptography. While AND and OR are useful for general logic, XOR has a unique mathematical property that makes it perfect for encryption: it is its own inverse.</a:t>
            </a:r>
          </a:p>
          <a:p/>
          <a:p>
            <a:r>
              <a:t>What does 'its own inverse' mean? If you XOR a plaintext message (P) with a secret key (K), you get ciphertext (C): P XOR K = C. Then, if you XOR the ciphertext (C) with the same key (K), you get the original plaintext back: C XOR K = P. This property is called self-inverse or involution.</a:t>
            </a:r>
          </a:p>
          <a:p/>
          <a:p>
            <a:r>
              <a:t>Let's verify this with a simple example:</a:t>
            </a:r>
          </a:p>
          <a:p>
            <a:r>
              <a:t>- Plaintext bit: 1</a:t>
            </a:r>
          </a:p>
          <a:p>
            <a:r>
              <a:t>- Key bit: 0</a:t>
            </a:r>
          </a:p>
          <a:p>
            <a:r>
              <a:t>- Ciphertext = 1 XOR 0 = 1</a:t>
            </a:r>
          </a:p>
          <a:p>
            <a:r>
              <a:t>- Decryption = 1 XOR 0 = 1 (original plaintext restored)</a:t>
            </a:r>
          </a:p>
          <a:p/>
          <a:p>
            <a:r>
              <a:t>Another example:</a:t>
            </a:r>
          </a:p>
          <a:p>
            <a:r>
              <a:t>- Plaintext bit: 1</a:t>
            </a:r>
          </a:p>
          <a:p>
            <a:r>
              <a:t>- Key bit: 1</a:t>
            </a:r>
          </a:p>
          <a:p>
            <a:r>
              <a:t>- Ciphertext = 1 XOR 1 = 0</a:t>
            </a:r>
          </a:p>
          <a:p>
            <a:r>
              <a:t>- Decryption = 0 XOR 1 = 1 (original plaintext restored)</a:t>
            </a:r>
          </a:p>
          <a:p/>
          <a:p>
            <a:r>
              <a:t>This works because for any bits A and B: (A XOR B) XOR B = A. The key cancels itself out.</a:t>
            </a:r>
          </a:p>
          <a:p/>
          <a:p>
            <a:r>
              <a:t>Real-world cryptographic uses of XOR:</a:t>
            </a:r>
          </a:p>
          <a:p>
            <a:r>
              <a:t>- Stream ciphers: In a stream cipher, a keystream generator produces a long sequence of pseudo-random bits. The plaintext is XORed with this keystream to produce ciphertext. The One-Time Pad (OTP) is the theoretically unbreakable stream cipher where the key is truly random, as long as the message, and never reused. Real-world stream ciphers like RC4 (now broken and deprecated) and ChaCha20 (used in modern Transport Layer Security, or TLS) use this principle.</a:t>
            </a:r>
          </a:p>
          <a:p>
            <a:r>
              <a:t>- Block ciphers: The Data Encryption Standard (DES) and its successor, the Advanced Encryption Standard (AES), use XOR operations in multiple rounds to mix the plaintext with the key. Each round transforms the data using substitution, permutation, and XOR with round keys derived from the main key.</a:t>
            </a:r>
          </a:p>
          <a:p>
            <a:r>
              <a:t>- Hash functions: Some hash algorithms use XOR to combine blocks of data.</a:t>
            </a:r>
          </a:p>
          <a:p>
            <a:r>
              <a:t>- Cyclic Redundancy Check (CRC): XOR is used to calculate checksums that detect accidental changes to data during transmission.</a:t>
            </a:r>
          </a:p>
          <a:p/>
          <a:p>
            <a:r>
              <a:t>Security warning about XOR-based 'encryption': Because XOR is simple, inexperienced developers sometimes create their own 'encryption' by XORing data with a short, repeating password. This is extremely insecure. If an attacker can guess even a small portion of the plaintext (for example, knowing that an email starts with 'Dear '), they can derive the key and decrypt the entire message. The security of XOR-based encryption depends entirely on the quality and secrecy of the key.</a:t>
            </a:r>
          </a:p>
          <a:p/>
          <a:p>
            <a:r>
              <a:t>Abbreviations defined:</a:t>
            </a:r>
          </a:p>
          <a:p>
            <a:r>
              <a:t>- XOR = Exclusive OR</a:t>
            </a:r>
          </a:p>
          <a:p>
            <a:r>
              <a:t>- DES = Data Encryption Standard</a:t>
            </a:r>
          </a:p>
          <a:p>
            <a:r>
              <a:t>- 3DES = Triple Data Encryption Standard</a:t>
            </a:r>
          </a:p>
          <a:p>
            <a:r>
              <a:t>- AES = Advanced Encryption Standard</a:t>
            </a:r>
          </a:p>
          <a:p>
            <a:r>
              <a:t>- OTP = One-Time Pad</a:t>
            </a:r>
          </a:p>
          <a:p>
            <a:r>
              <a:t>- RC4 = Rivest Cipher 4</a:t>
            </a:r>
          </a:p>
          <a:p>
            <a:r>
              <a:t>- TLS = Transport Layer Security</a:t>
            </a:r>
          </a:p>
          <a:p>
            <a:r>
              <a:t>- CRC = Cyclic Redundancy Check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This slide walks through a concrete, byte-level XOR encryption and decryption example. Instructors should present this line by line to ensure every student understands the bitwise operation.</a:t>
            </a:r>
          </a:p>
          <a:p/>
          <a:p>
            <a:r>
              <a:t>Step 1: Convert the plaintext to binary. The letter 'A' in the American Standard Code for Information Interchange (ASCII) is decimal 65, which is binary 01000001.</a:t>
            </a:r>
          </a:p>
          <a:p/>
          <a:p>
            <a:r>
              <a:t>Step 2: Choose a key byte. For this example, the key is 00110101 (which is decimal 53 in decimal, or hex 35).</a:t>
            </a:r>
          </a:p>
          <a:p/>
          <a:p>
            <a:r>
              <a:t>Step 3: XOR each corresponding bit:</a:t>
            </a:r>
          </a:p>
          <a:p>
            <a:r>
              <a:t>- Bit 1: 0 XOR 0 = 0</a:t>
            </a:r>
          </a:p>
          <a:p>
            <a:r>
              <a:t>- Bit 2: 1 XOR 0 = 1</a:t>
            </a:r>
          </a:p>
          <a:p>
            <a:r>
              <a:t>- Bit 3: 0 XOR 1 = 1</a:t>
            </a:r>
          </a:p>
          <a:p>
            <a:r>
              <a:t>- Bit 4: 0 XOR 1 = 1</a:t>
            </a:r>
          </a:p>
          <a:p>
            <a:r>
              <a:t>- Bit 5: 0 XOR 0 = 0</a:t>
            </a:r>
          </a:p>
          <a:p>
            <a:r>
              <a:t>- Bit 6: 0 XOR 1 = 1</a:t>
            </a:r>
          </a:p>
          <a:p>
            <a:r>
              <a:t>- Bit 7: 0 XOR 0 = 0</a:t>
            </a:r>
          </a:p>
          <a:p>
            <a:r>
              <a:t>- Bit 8: 1 XOR 1 = 0</a:t>
            </a:r>
          </a:p>
          <a:p/>
          <a:p>
            <a:r>
              <a:t>Wait - let me recalculate correctly, bit by bit:</a:t>
            </a:r>
          </a:p>
          <a:p>
            <a:r>
              <a:t>  Plaintext:  0 1 0 0 0 0 0 1</a:t>
            </a:r>
          </a:p>
          <a:p>
            <a:r>
              <a:t>  Key:        0 0 1 1 0 1 0 1</a:t>
            </a:r>
          </a:p>
          <a:p>
            <a:r>
              <a:t>  ----------------------------</a:t>
            </a:r>
          </a:p>
          <a:p>
            <a:r>
              <a:t>  XOR result: 0 1 1 1 0 1 0 0</a:t>
            </a:r>
          </a:p>
          <a:p/>
          <a:p>
            <a:r>
              <a:t>So the ciphertext is 01110100, which is decimal 116. In ASCII, decimal 116 is the lowercase letter 't'. So encrypting 'A' with this key produces the ciphertext byte 't'.</a:t>
            </a:r>
          </a:p>
          <a:p/>
          <a:p>
            <a:r>
              <a:t>Step 4: Decryption. To recover the original plaintext, XOR the ciphertext with the same key:</a:t>
            </a:r>
          </a:p>
          <a:p>
            <a:r>
              <a:t>  Ciphertext: 0 1 1 1 0 1 0 0</a:t>
            </a:r>
          </a:p>
          <a:p>
            <a:r>
              <a:t>  Key:        0 0 1 1 0 1 0 1</a:t>
            </a:r>
          </a:p>
          <a:p>
            <a:r>
              <a:t>  ----------------------------</a:t>
            </a:r>
          </a:p>
          <a:p>
            <a:r>
              <a:t>  Result:     0 1 0 0 0 0 0 1</a:t>
            </a:r>
          </a:p>
          <a:p/>
          <a:p>
            <a:r>
              <a:t>The result is 01000001, which is the ASCII code for 'A'. The original data is perfectly restored.</a:t>
            </a:r>
          </a:p>
          <a:p/>
          <a:p>
            <a:r>
              <a:t>Why this matters: This simple example is the exact same principle used by billion-dollar encryption systems. The only difference is that modern algorithms like Advanced Encryption Standard (AES) use much longer keys (128, 192, or 256 bits), perform many rounds of transformations, and include additional operations like substitution and permutation to ensure security. But at the core, XOR is doing the heavy lifting of combining the plaintext with the key.</a:t>
            </a:r>
          </a:p>
          <a:p/>
          <a:p>
            <a:r>
              <a:t>Abbreviations defined:</a:t>
            </a:r>
          </a:p>
          <a:p>
            <a:r>
              <a:t>- ASCII = American Standard Code for Information Interchange</a:t>
            </a:r>
          </a:p>
          <a:p>
            <a:r>
              <a:t>- AES = Advanced Encryption Standard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This topic provides the mathematical literacy that underpins all technical cybersecurity work. Students should not feel intimidated by the math - every concept introduced here is used directly in real security tools and protocols that they will encounter throughout the course and in their careers.</a:t>
            </a:r>
          </a:p>
          <a:p/>
          <a:p>
            <a:r>
              <a:t>Key connections to future topics and careers:</a:t>
            </a:r>
          </a:p>
          <a:p>
            <a:r>
              <a:t>- Binary and hex are essential for reading packet captures, memory dumps, and forensic artifacts.</a:t>
            </a:r>
          </a:p>
          <a:p>
            <a:r>
              <a:t>- Boolean logic is the basis of firewall rules, intrusion detection signatures, and SQL queries.</a:t>
            </a:r>
          </a:p>
          <a:p>
            <a:r>
              <a:t>- XOR is the mathematical heart of encryption. When students later learn about Virtual Private Networks (VPNs), Transport Layer Security (TLS), and disk encryption, they will be building on the XOR concepts learned here.</a:t>
            </a:r>
          </a:p>
          <a:p/>
          <a:p>
            <a:r>
              <a:t>For the practical assessment, students should be able to convert small decimal numbers to binary and hex, construct simple truth tables, explain why XOR is used in cryptography, and perform a manual XOR encryption/decryption on a single byte. A practical exercise might involve using an online XOR calculator or a simple Python script to encrypt a short message.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0"/>
            <a:ext cx="11277295" cy="1371600"/>
          </a:xfrm>
          <a:prstGeom prst="rect">
            <a:avLst/>
          </a:prstGeom>
          <a:noFill/>
        </p:spPr>
        <p:txBody>
          <a:bodyPr wrap="none">
            <a:spAutoFit/>
          </a:bodyPr>
          <a:lstStyle/>
          <a:p>
            <a:pPr algn="ctr">
              <a:defRPr sz="4800" b="1">
                <a:solidFill>
                  <a:srgbClr val="FFFFFF"/>
                </a:solidFill>
              </a:defRPr>
            </a:pPr>
            <a:r>
              <a:t>Topic 4: Mathematics for Cybersecurity</a:t>
            </a:r>
          </a:p>
        </p:txBody>
      </p:sp>
      <p:sp>
        <p:nvSpPr>
          <p:cNvPr id="4" name="TextBox 3"/>
          <p:cNvSpPr txBox="1"/>
          <p:nvPr/>
        </p:nvSpPr>
        <p:spPr>
          <a:xfrm>
            <a:off x="457200" y="3657600"/>
            <a:ext cx="11277295" cy="914400"/>
          </a:xfrm>
          <a:prstGeom prst="rect">
            <a:avLst/>
          </a:prstGeom>
          <a:noFill/>
        </p:spPr>
        <p:txBody>
          <a:bodyPr wrap="none">
            <a:spAutoFit/>
          </a:bodyPr>
          <a:lstStyle/>
          <a:p>
            <a:pPr algn="ctr">
              <a:defRPr sz="2600">
                <a:solidFill>
                  <a:srgbClr val="FFB74D"/>
                </a:solidFill>
              </a:defRPr>
            </a:pPr>
            <a:r>
              <a:t>Binary, Hexadecimal, Boolean Logic, and XOR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The Binary Number System</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Binary is a base-2 number system that uses only two digits: 0 and 1.</a:t>
            </a:r>
          </a:p>
          <a:p>
            <a:pPr>
              <a:lnSpc>
                <a:spcPct val="100000"/>
              </a:lnSpc>
              <a:spcAft>
                <a:spcPts val="100"/>
              </a:spcAft>
              <a:defRPr sz="1400">
                <a:solidFill>
                  <a:srgbClr val="1F2933"/>
                </a:solidFill>
              </a:defRPr>
            </a:pPr>
            <a:r>
              <a:t>- Each binary digit is called a bit. Eight bits make one byte.</a:t>
            </a:r>
          </a:p>
          <a:p>
            <a:pPr>
              <a:lnSpc>
                <a:spcPct val="100000"/>
              </a:lnSpc>
              <a:spcAft>
                <a:spcPts val="100"/>
              </a:spcAft>
              <a:defRPr sz="1400">
                <a:solidFill>
                  <a:srgbClr val="1F2933"/>
                </a:solidFill>
              </a:defRPr>
            </a:pPr>
            <a:r>
              <a:t>- Computers store all data - text, images, passwords, and network packets - as binary.</a:t>
            </a:r>
          </a:p>
          <a:p>
            <a:pPr>
              <a:lnSpc>
                <a:spcPct val="100000"/>
              </a:lnSpc>
              <a:spcAft>
                <a:spcPts val="100"/>
              </a:spcAft>
              <a:defRPr sz="1400">
                <a:solidFill>
                  <a:srgbClr val="1F2933"/>
                </a:solidFill>
              </a:defRPr>
            </a:pPr>
            <a:r>
              <a:t>- Understanding binary is essential for interpreting memory dumps, network packet captures, and cryptographic hashes.</a:t>
            </a:r>
          </a:p>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Decimal to Binary Examples:</a:t>
            </a:r>
          </a:p>
          <a:p>
            <a:pPr>
              <a:lnSpc>
                <a:spcPct val="100000"/>
              </a:lnSpc>
              <a:spcAft>
                <a:spcPts val="100"/>
              </a:spcAft>
              <a:defRPr sz="1400">
                <a:solidFill>
                  <a:srgbClr val="1F2933"/>
                </a:solidFill>
              </a:defRPr>
            </a:pPr>
            <a:r>
              <a:t>- Decimal 0 = Binary 0000</a:t>
            </a:r>
          </a:p>
          <a:p>
            <a:pPr>
              <a:lnSpc>
                <a:spcPct val="100000"/>
              </a:lnSpc>
              <a:spcAft>
                <a:spcPts val="100"/>
              </a:spcAft>
              <a:defRPr sz="1400">
                <a:solidFill>
                  <a:srgbClr val="1F2933"/>
                </a:solidFill>
              </a:defRPr>
            </a:pPr>
            <a:r>
              <a:t>- Decimal 1 = Binary 0001</a:t>
            </a:r>
          </a:p>
          <a:p>
            <a:pPr>
              <a:lnSpc>
                <a:spcPct val="100000"/>
              </a:lnSpc>
              <a:spcAft>
                <a:spcPts val="100"/>
              </a:spcAft>
              <a:defRPr sz="1400">
                <a:solidFill>
                  <a:srgbClr val="1F2933"/>
                </a:solidFill>
              </a:defRPr>
            </a:pPr>
            <a:r>
              <a:t>- Decimal 2 = Binary 0010</a:t>
            </a:r>
          </a:p>
          <a:p>
            <a:pPr>
              <a:lnSpc>
                <a:spcPct val="100000"/>
              </a:lnSpc>
              <a:spcAft>
                <a:spcPts val="100"/>
              </a:spcAft>
              <a:defRPr sz="1400">
                <a:solidFill>
                  <a:srgbClr val="1F2933"/>
                </a:solidFill>
              </a:defRPr>
            </a:pPr>
            <a:r>
              <a:t>- Decimal 5 = Binary 0101</a:t>
            </a:r>
          </a:p>
          <a:p>
            <a:pPr>
              <a:lnSpc>
                <a:spcPct val="100000"/>
              </a:lnSpc>
              <a:spcAft>
                <a:spcPts val="100"/>
              </a:spcAft>
              <a:defRPr sz="1400">
                <a:solidFill>
                  <a:srgbClr val="1F2933"/>
                </a:solidFill>
              </a:defRPr>
            </a:pPr>
            <a:r>
              <a:t>- Decimal 10 = Binary 1010</a:t>
            </a:r>
          </a:p>
          <a:p>
            <a:pPr>
              <a:lnSpc>
                <a:spcPct val="100000"/>
              </a:lnSpc>
              <a:spcAft>
                <a:spcPts val="0"/>
              </a:spcAft>
              <a:defRPr sz="1400">
                <a:solidFill>
                  <a:srgbClr val="1F2933"/>
                </a:solidFill>
              </a:defRPr>
            </a:pPr>
            <a:r>
              <a:t>- Decimal 255 = Binary 11111111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Binary Addition and Overflow</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Binary addition follows the same rules as decimal addition, but with only two digits.</a:t>
            </a:r>
          </a:p>
          <a:p>
            <a:pPr>
              <a:lnSpc>
                <a:spcPct val="100000"/>
              </a:lnSpc>
              <a:spcAft>
                <a:spcPts val="100"/>
              </a:spcAft>
              <a:defRPr sz="1400">
                <a:solidFill>
                  <a:srgbClr val="1F2933"/>
                </a:solidFill>
              </a:defRPr>
            </a:pPr>
            <a:r>
              <a:t>- Rules: 0 + 0 = 0, 0 + 1 = 1, 1 + 0 = 1, 1 + 1 = 10 (write 0, carry 1).</a:t>
            </a:r>
          </a:p>
          <a:p>
            <a:pPr>
              <a:lnSpc>
                <a:spcPct val="100000"/>
              </a:lnSpc>
              <a:spcAft>
                <a:spcPts val="100"/>
              </a:spcAft>
              <a:defRPr sz="1400">
                <a:solidFill>
                  <a:srgbClr val="1F2933"/>
                </a:solidFill>
              </a:defRPr>
            </a:pPr>
            <a:r>
              <a:t>- Example: Add 0101 (5) and 0011 (3). Result = 1000 (8).</a:t>
            </a:r>
          </a:p>
          <a:p>
            <a:pPr>
              <a:lnSpc>
                <a:spcPct val="100000"/>
              </a:lnSpc>
              <a:spcAft>
                <a:spcPts val="100"/>
              </a:spcAft>
              <a:defRPr sz="1400">
                <a:solidFill>
                  <a:srgbClr val="1F2933"/>
                </a:solidFill>
              </a:defRPr>
            </a:pPr>
            <a:r>
              <a:t>- Overflow occurs when the result requires more bits than the container can hold.</a:t>
            </a:r>
          </a:p>
          <a:p>
            <a:pPr>
              <a:lnSpc>
                <a:spcPct val="100000"/>
              </a:lnSpc>
              <a:spcAft>
                <a:spcPts val="0"/>
              </a:spcAft>
              <a:defRPr sz="1400">
                <a:solidFill>
                  <a:srgbClr val="1F2933"/>
                </a:solidFill>
              </a:defRPr>
            </a:pPr>
            <a:r>
              <a:t>- Integer overflow is a real-world vulnerability that has caused crashes, privilege escalation, and remote code execution in software.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The Hexadecimal Number System</a:t>
            </a:r>
          </a:p>
        </p:txBody>
      </p:sp>
      <p:sp>
        <p:nvSpPr>
          <p:cNvPr id="4" name="TextBox 3"/>
          <p:cNvSpPr txBox="1"/>
          <p:nvPr/>
        </p:nvSpPr>
        <p:spPr>
          <a:xfrm>
            <a:off x="365760" y="1024128"/>
            <a:ext cx="603504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Hexadecimal (hex) is a base-16 number system. It uses 16 symbols: 0-9 and A-F.</a:t>
            </a:r>
          </a:p>
          <a:p>
            <a:pPr>
              <a:lnSpc>
                <a:spcPct val="100000"/>
              </a:lnSpc>
              <a:spcAft>
                <a:spcPts val="100"/>
              </a:spcAft>
              <a:defRPr sz="1400">
                <a:solidFill>
                  <a:srgbClr val="1F2933"/>
                </a:solidFill>
              </a:defRPr>
            </a:pPr>
            <a:r>
              <a:t>- Hexadecimal is used as a compact way to represent binary data.</a:t>
            </a:r>
          </a:p>
          <a:p>
            <a:pPr>
              <a:lnSpc>
                <a:spcPct val="100000"/>
              </a:lnSpc>
              <a:spcAft>
                <a:spcPts val="100"/>
              </a:spcAft>
              <a:defRPr sz="1400">
                <a:solidFill>
                  <a:srgbClr val="1F2933"/>
                </a:solidFill>
              </a:defRPr>
            </a:pPr>
            <a:r>
              <a:t>- One hex digit represents exactly 4 bits (a nibble). Two hex digits represent one byte (8 bits).</a:t>
            </a:r>
          </a:p>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Decimal to Hexadecimal Examples:</a:t>
            </a:r>
          </a:p>
          <a:p>
            <a:pPr>
              <a:lnSpc>
                <a:spcPct val="100000"/>
              </a:lnSpc>
              <a:spcAft>
                <a:spcPts val="100"/>
              </a:spcAft>
              <a:defRPr sz="1400">
                <a:solidFill>
                  <a:srgbClr val="1F2933"/>
                </a:solidFill>
              </a:defRPr>
            </a:pPr>
            <a:r>
              <a:t>- Decimal 0 = Hex 00</a:t>
            </a:r>
          </a:p>
          <a:p>
            <a:pPr>
              <a:lnSpc>
                <a:spcPct val="100000"/>
              </a:lnSpc>
              <a:spcAft>
                <a:spcPts val="100"/>
              </a:spcAft>
              <a:defRPr sz="1400">
                <a:solidFill>
                  <a:srgbClr val="1F2933"/>
                </a:solidFill>
              </a:defRPr>
            </a:pPr>
            <a:r>
              <a:t>- Decimal 10 = Hex 0A</a:t>
            </a:r>
          </a:p>
          <a:p>
            <a:pPr>
              <a:lnSpc>
                <a:spcPct val="100000"/>
              </a:lnSpc>
              <a:spcAft>
                <a:spcPts val="100"/>
              </a:spcAft>
              <a:defRPr sz="1400">
                <a:solidFill>
                  <a:srgbClr val="1F2933"/>
                </a:solidFill>
              </a:defRPr>
            </a:pPr>
            <a:r>
              <a:t>- Decimal 15 = Hex 0F</a:t>
            </a:r>
          </a:p>
          <a:p>
            <a:pPr>
              <a:lnSpc>
                <a:spcPct val="100000"/>
              </a:lnSpc>
              <a:spcAft>
                <a:spcPts val="100"/>
              </a:spcAft>
              <a:defRPr sz="1400">
                <a:solidFill>
                  <a:srgbClr val="1F2933"/>
                </a:solidFill>
              </a:defRPr>
            </a:pPr>
            <a:r>
              <a:t>- Decimal 16 = Hex 10</a:t>
            </a:r>
          </a:p>
          <a:p>
            <a:pPr>
              <a:lnSpc>
                <a:spcPct val="100000"/>
              </a:lnSpc>
              <a:spcAft>
                <a:spcPts val="100"/>
              </a:spcAft>
              <a:defRPr sz="1400">
                <a:solidFill>
                  <a:srgbClr val="1F2933"/>
                </a:solidFill>
              </a:defRPr>
            </a:pPr>
            <a:r>
              <a:t>- Decimal 255 = Hex FF</a:t>
            </a:r>
          </a:p>
          <a:p>
            <a:pPr>
              <a:lnSpc>
                <a:spcPct val="100000"/>
              </a:lnSpc>
              <a:spcAft>
                <a:spcPts val="0"/>
              </a:spcAft>
              <a:defRPr sz="1400">
                <a:solidFill>
                  <a:srgbClr val="1F2933"/>
                </a:solidFill>
              </a:defRPr>
            </a:pPr>
            <a:r>
              <a:t>- Decimal 256 = Hex 100</a:t>
            </a:r>
          </a:p>
        </p:txBody>
      </p:sp>
      <p:pic>
        <p:nvPicPr>
          <p:cNvPr id="5" name="Picture 4" descr="binary_hex_table.png"/>
          <p:cNvPicPr>
            <a:picLocks noChangeAspect="1"/>
          </p:cNvPicPr>
          <p:nvPr/>
        </p:nvPicPr>
        <p:blipFill>
          <a:blip r:embed="rId2"/>
          <a:stretch>
            <a:fillRect/>
          </a:stretch>
        </p:blipFill>
        <p:spPr>
          <a:xfrm>
            <a:off x="6309360" y="1234440"/>
            <a:ext cx="548640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Boolean Logic in Computing</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Boolean logic deals with values that are either True (1) or False (0).</a:t>
            </a:r>
          </a:p>
          <a:p>
            <a:pPr>
              <a:lnSpc>
                <a:spcPct val="100000"/>
              </a:lnSpc>
              <a:spcAft>
                <a:spcPts val="100"/>
              </a:spcAft>
              <a:defRPr sz="1400">
                <a:solidFill>
                  <a:srgbClr val="1F2933"/>
                </a:solidFill>
              </a:defRPr>
            </a:pPr>
            <a:r>
              <a:t>- The three fundamental Boolean operations are AND, OR, and NOT.</a:t>
            </a:r>
          </a:p>
          <a:p>
            <a:pPr>
              <a:lnSpc>
                <a:spcPct val="100000"/>
              </a:lnSpc>
              <a:spcAft>
                <a:spcPts val="100"/>
              </a:spcAft>
              <a:defRPr sz="1400">
                <a:solidFill>
                  <a:srgbClr val="1F2933"/>
                </a:solidFill>
              </a:defRPr>
            </a:pPr>
            <a:r>
              <a:t>- AND: The output is True only if BOTH inputs are True.</a:t>
            </a:r>
          </a:p>
          <a:p>
            <a:pPr>
              <a:lnSpc>
                <a:spcPct val="100000"/>
              </a:lnSpc>
              <a:spcAft>
                <a:spcPts val="100"/>
              </a:spcAft>
              <a:defRPr sz="1400">
                <a:solidFill>
                  <a:srgbClr val="1F2933"/>
                </a:solidFill>
              </a:defRPr>
            </a:pPr>
            <a:r>
              <a:t>- OR: The output is True if AT LEAST ONE input is True.</a:t>
            </a:r>
          </a:p>
          <a:p>
            <a:pPr>
              <a:lnSpc>
                <a:spcPct val="100000"/>
              </a:lnSpc>
              <a:spcAft>
                <a:spcPts val="100"/>
              </a:spcAft>
              <a:defRPr sz="1400">
                <a:solidFill>
                  <a:srgbClr val="1F2933"/>
                </a:solidFill>
              </a:defRPr>
            </a:pPr>
            <a:r>
              <a:t>- NOT: The output is the opposite of the input.</a:t>
            </a:r>
          </a:p>
          <a:p>
            <a:pPr>
              <a:lnSpc>
                <a:spcPct val="100000"/>
              </a:lnSpc>
              <a:spcAft>
                <a:spcPts val="0"/>
              </a:spcAft>
              <a:defRPr sz="1400">
                <a:solidFill>
                  <a:srgbClr val="1F2933"/>
                </a:solidFill>
              </a:defRPr>
            </a:pPr>
            <a:r>
              <a:t>- Boolean logic is the foundation of all digital circuits, programming conditions, and access control rules.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Boolean Truth Tables</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AND Table          OR Table           NOT Table</a:t>
            </a:r>
          </a:p>
          <a:p>
            <a:pPr>
              <a:lnSpc>
                <a:spcPct val="100000"/>
              </a:lnSpc>
              <a:spcAft>
                <a:spcPts val="100"/>
              </a:spcAft>
              <a:defRPr sz="1400">
                <a:solidFill>
                  <a:srgbClr val="1F2933"/>
                </a:solidFill>
              </a:defRPr>
            </a:pPr>
            <a:r>
              <a:t>A B | Output       A B | Output       A | Output</a:t>
            </a:r>
          </a:p>
          <a:p>
            <a:pPr>
              <a:lnSpc>
                <a:spcPct val="100000"/>
              </a:lnSpc>
              <a:spcAft>
                <a:spcPts val="100"/>
              </a:spcAft>
              <a:defRPr sz="1400">
                <a:solidFill>
                  <a:srgbClr val="1F2933"/>
                </a:solidFill>
              </a:defRPr>
            </a:pPr>
            <a:r>
              <a:t>----------------    ----------------   --------------</a:t>
            </a:r>
          </a:p>
          <a:p>
            <a:pPr>
              <a:lnSpc>
                <a:spcPct val="100000"/>
              </a:lnSpc>
              <a:spcAft>
                <a:spcPts val="100"/>
              </a:spcAft>
              <a:defRPr sz="1400">
                <a:solidFill>
                  <a:srgbClr val="1F2933"/>
                </a:solidFill>
              </a:defRPr>
            </a:pPr>
            <a:r>
              <a:t>0 0 | 0            0 0 | 0            0 | 1</a:t>
            </a:r>
          </a:p>
          <a:p>
            <a:pPr>
              <a:lnSpc>
                <a:spcPct val="100000"/>
              </a:lnSpc>
              <a:spcAft>
                <a:spcPts val="100"/>
              </a:spcAft>
              <a:defRPr sz="1400">
                <a:solidFill>
                  <a:srgbClr val="1F2933"/>
                </a:solidFill>
              </a:defRPr>
            </a:pPr>
            <a:r>
              <a:t>0 1 | 0            0 1 | 1            1 | 0</a:t>
            </a:r>
          </a:p>
          <a:p>
            <a:pPr>
              <a:lnSpc>
                <a:spcPct val="100000"/>
              </a:lnSpc>
              <a:spcAft>
                <a:spcPts val="100"/>
              </a:spcAft>
              <a:defRPr sz="1400">
                <a:solidFill>
                  <a:srgbClr val="1F2933"/>
                </a:solidFill>
              </a:defRPr>
            </a:pPr>
            <a:r>
              <a:t>1 0 | 0            1 0 | 1</a:t>
            </a:r>
          </a:p>
          <a:p>
            <a:pPr>
              <a:lnSpc>
                <a:spcPct val="100000"/>
              </a:lnSpc>
              <a:spcAft>
                <a:spcPts val="100"/>
              </a:spcAft>
              <a:defRPr sz="1400">
                <a:solidFill>
                  <a:srgbClr val="1F2933"/>
                </a:solidFill>
              </a:defRPr>
            </a:pPr>
            <a:r>
              <a:t>1 1 | 1            1 1 | 1</a:t>
            </a:r>
          </a:p>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Example Security Application:</a:t>
            </a:r>
          </a:p>
          <a:p>
            <a:pPr>
              <a:lnSpc>
                <a:spcPct val="100000"/>
              </a:lnSpc>
              <a:spcAft>
                <a:spcPts val="100"/>
              </a:spcAft>
              <a:defRPr sz="1400">
                <a:solidFill>
                  <a:srgbClr val="1F2933"/>
                </a:solidFill>
              </a:defRPr>
            </a:pPr>
            <a:r>
              <a:t>- Access requires: (hasBadge = True) AND (isInsideHours = True)</a:t>
            </a:r>
          </a:p>
          <a:p>
            <a:pPr>
              <a:lnSpc>
                <a:spcPct val="100000"/>
              </a:lnSpc>
              <a:spcAft>
                <a:spcPts val="100"/>
              </a:spcAft>
              <a:defRPr sz="1400">
                <a:solidFill>
                  <a:srgbClr val="1F2933"/>
                </a:solidFill>
              </a:defRPr>
            </a:pPr>
            <a:r>
              <a:t>- Only when BOTH conditions are True is access granted.</a:t>
            </a:r>
          </a:p>
          <a:p>
            <a:pPr>
              <a:lnSpc>
                <a:spcPct val="100000"/>
              </a:lnSpc>
              <a:spcAft>
                <a:spcPts val="0"/>
              </a:spcAft>
              <a:defRPr sz="1400">
                <a:solidFill>
                  <a:srgbClr val="1F2933"/>
                </a:solidFill>
              </a:defRPr>
            </a:pPr>
            <a:r>
              <a:t>- This is how multi-factor authentication and dual-authorization systems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Exclusive OR (XOR): The Heart of Cryptography</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Exclusive OR (XOR) is a Boolean operation that outputs True (1) only when the inputs are DIFFERENT.</a:t>
            </a:r>
          </a:p>
          <a:p>
            <a:pPr>
              <a:lnSpc>
                <a:spcPct val="100000"/>
              </a:lnSpc>
              <a:spcAft>
                <a:spcPts val="100"/>
              </a:spcAft>
              <a:defRPr sz="1400">
                <a:solidFill>
                  <a:srgbClr val="1F2933"/>
                </a:solidFill>
              </a:defRPr>
            </a:pPr>
            <a:r>
              <a:t>- XOR Rules: 0 XOR 0 = 0, 0 XOR 1 = 1, 1 XOR 0 = 1, 1 XOR 1 = 0.</a:t>
            </a:r>
          </a:p>
          <a:p>
            <a:pPr>
              <a:lnSpc>
                <a:spcPct val="100000"/>
              </a:lnSpc>
              <a:spcAft>
                <a:spcPts val="100"/>
              </a:spcAft>
              <a:defRPr sz="1400">
                <a:solidFill>
                  <a:srgbClr val="1F2933"/>
                </a:solidFill>
              </a:defRPr>
            </a:pPr>
            <a:r>
              <a:t>- The XOR operation is reversible. If A XOR B = C, then C XOR B = A.</a:t>
            </a:r>
          </a:p>
          <a:p>
            <a:pPr>
              <a:lnSpc>
                <a:spcPct val="100000"/>
              </a:lnSpc>
              <a:spcAft>
                <a:spcPts val="100"/>
              </a:spcAft>
              <a:defRPr sz="1400">
                <a:solidFill>
                  <a:srgbClr val="1F2933"/>
                </a:solidFill>
              </a:defRPr>
            </a:pPr>
            <a:r>
              <a:t>- This reversibility makes XOR the fundamental building block of many encryption algorithms, including the Data Encryption Standard (DES), Triple DES (3DES), Advanced Encryption Standard (AES), and stream ciphers.</a:t>
            </a:r>
          </a:p>
          <a:p>
            <a:pPr>
              <a:lnSpc>
                <a:spcPct val="100000"/>
              </a:lnSpc>
              <a:spcAft>
                <a:spcPts val="0"/>
              </a:spcAft>
              <a:defRPr sz="1400">
                <a:solidFill>
                  <a:srgbClr val="1F2933"/>
                </a:solidFill>
              </a:defRPr>
            </a:pPr>
            <a:r>
              <a:t>- XOR is also used in hash functions and error detection codes.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XOR in Action: Encryption Example</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Plaintext letter 'A' in binary = 01000001</a:t>
            </a:r>
          </a:p>
          <a:p>
            <a:pPr>
              <a:lnSpc>
                <a:spcPct val="100000"/>
              </a:lnSpc>
              <a:spcAft>
                <a:spcPts val="100"/>
              </a:spcAft>
              <a:defRPr sz="1400">
                <a:solidFill>
                  <a:srgbClr val="1F2933"/>
                </a:solidFill>
              </a:defRPr>
            </a:pPr>
            <a:r>
              <a:t>Key byte                     = 00110101</a:t>
            </a:r>
          </a:p>
          <a:p>
            <a:pPr>
              <a:lnSpc>
                <a:spcPct val="100000"/>
              </a:lnSpc>
              <a:spcAft>
                <a:spcPts val="100"/>
              </a:spcAft>
              <a:defRPr sz="1400">
                <a:solidFill>
                  <a:srgbClr val="1F2933"/>
                </a:solidFill>
              </a:defRPr>
            </a:pPr>
            <a:r>
              <a:t>-------------------------------------------</a:t>
            </a:r>
          </a:p>
          <a:p>
            <a:pPr>
              <a:lnSpc>
                <a:spcPct val="100000"/>
              </a:lnSpc>
              <a:spcAft>
                <a:spcPts val="100"/>
              </a:spcAft>
              <a:defRPr sz="1400">
                <a:solidFill>
                  <a:srgbClr val="1F2933"/>
                </a:solidFill>
              </a:defRPr>
            </a:pPr>
            <a:r>
              <a:t>Ciphertext (XOR result)      = 01110100</a:t>
            </a:r>
          </a:p>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Decryption:</a:t>
            </a:r>
          </a:p>
          <a:p>
            <a:pPr>
              <a:lnSpc>
                <a:spcPct val="100000"/>
              </a:lnSpc>
              <a:spcAft>
                <a:spcPts val="100"/>
              </a:spcAft>
              <a:defRPr sz="1400">
                <a:solidFill>
                  <a:srgbClr val="1F2933"/>
                </a:solidFill>
              </a:defRPr>
            </a:pPr>
            <a:r>
              <a:t>Ciphertext                   = 01110100</a:t>
            </a:r>
          </a:p>
          <a:p>
            <a:pPr>
              <a:lnSpc>
                <a:spcPct val="100000"/>
              </a:lnSpc>
              <a:spcAft>
                <a:spcPts val="100"/>
              </a:spcAft>
              <a:defRPr sz="1400">
                <a:solidFill>
                  <a:srgbClr val="1F2933"/>
                </a:solidFill>
              </a:defRPr>
            </a:pPr>
            <a:r>
              <a:t>Key byte                     = 00110101</a:t>
            </a:r>
          </a:p>
          <a:p>
            <a:pPr>
              <a:lnSpc>
                <a:spcPct val="100000"/>
              </a:lnSpc>
              <a:spcAft>
                <a:spcPts val="100"/>
              </a:spcAft>
              <a:defRPr sz="1400">
                <a:solidFill>
                  <a:srgbClr val="1F2933"/>
                </a:solidFill>
              </a:defRPr>
            </a:pPr>
            <a:r>
              <a:t>-------------------------------------------</a:t>
            </a:r>
          </a:p>
          <a:p>
            <a:pPr>
              <a:lnSpc>
                <a:spcPct val="100000"/>
              </a:lnSpc>
              <a:spcAft>
                <a:spcPts val="100"/>
              </a:spcAft>
              <a:defRPr sz="1400">
                <a:solidFill>
                  <a:srgbClr val="1F2933"/>
                </a:solidFill>
              </a:defRPr>
            </a:pPr>
            <a:r>
              <a:t>Plaintext restored           = 01000001 = 'A'</a:t>
            </a:r>
          </a:p>
          <a:p>
            <a:pPr>
              <a:lnSpc>
                <a:spcPct val="100000"/>
              </a:lnSpc>
              <a:spcAft>
                <a:spcPts val="100"/>
              </a:spcAft>
              <a:defRPr sz="1400">
                <a:solidFill>
                  <a:srgbClr val="1F2933"/>
                </a:solidFill>
              </a:defRPr>
            </a:pPr>
          </a:p>
          <a:p>
            <a:pPr>
              <a:lnSpc>
                <a:spcPct val="100000"/>
              </a:lnSpc>
              <a:spcAft>
                <a:spcPts val="0"/>
              </a:spcAft>
              <a:defRPr sz="1400">
                <a:solidFill>
                  <a:srgbClr val="1F2933"/>
                </a:solidFill>
              </a:defRPr>
            </a:pPr>
            <a:r>
              <a:t>This demonstrates why XOR is called 'self-inverting.' Applying the same key twice returns the original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Topic 4 Summary: Key Takeaways</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Binary (base-2) is the language of computers. One byte is 8 bits, representing values 0 to 255.</a:t>
            </a:r>
          </a:p>
          <a:p>
            <a:pPr>
              <a:lnSpc>
                <a:spcPct val="100000"/>
              </a:lnSpc>
              <a:spcAft>
                <a:spcPts val="100"/>
              </a:spcAft>
              <a:defRPr sz="1400">
                <a:solidFill>
                  <a:srgbClr val="1F2933"/>
                </a:solidFill>
              </a:defRPr>
            </a:pPr>
            <a:r>
              <a:t>- Binary addition follows simple rules, but overflow can cause serious security vulnerabilities.</a:t>
            </a:r>
          </a:p>
          <a:p>
            <a:pPr>
              <a:lnSpc>
                <a:spcPct val="100000"/>
              </a:lnSpc>
              <a:spcAft>
                <a:spcPts val="100"/>
              </a:spcAft>
              <a:defRPr sz="1400">
                <a:solidFill>
                  <a:srgbClr val="1F2933"/>
                </a:solidFill>
              </a:defRPr>
            </a:pPr>
            <a:r>
              <a:t>- Hexadecimal (base-16) is a compact way to represent binary. It is used for MAC addresses, IPv6 addresses, memory dumps, and cryptographic hashes.</a:t>
            </a:r>
          </a:p>
          <a:p>
            <a:pPr>
              <a:lnSpc>
                <a:spcPct val="100000"/>
              </a:lnSpc>
              <a:spcAft>
                <a:spcPts val="100"/>
              </a:spcAft>
              <a:defRPr sz="1400">
                <a:solidFill>
                  <a:srgbClr val="1F2933"/>
                </a:solidFill>
              </a:defRPr>
            </a:pPr>
            <a:r>
              <a:t>- Boolean logic (AND, OR, NOT) is the foundation of digital circuits, programming conditions, and access control.</a:t>
            </a:r>
          </a:p>
          <a:p>
            <a:pPr>
              <a:lnSpc>
                <a:spcPct val="100000"/>
              </a:lnSpc>
              <a:spcAft>
                <a:spcPts val="100"/>
              </a:spcAft>
              <a:defRPr sz="1400">
                <a:solidFill>
                  <a:srgbClr val="1F2933"/>
                </a:solidFill>
              </a:defRPr>
            </a:pPr>
            <a:r>
              <a:t>- Exclusive OR (XOR) outputs 1 only when inputs differ. Its self-inverse property makes it the core operation in most encryption algorithms.</a:t>
            </a:r>
          </a:p>
          <a:p>
            <a:pPr>
              <a:lnSpc>
                <a:spcPct val="100000"/>
              </a:lnSpc>
              <a:spcAft>
                <a:spcPts val="0"/>
              </a:spcAft>
              <a:defRPr sz="1400">
                <a:solidFill>
                  <a:srgbClr val="1F2933"/>
                </a:solidFill>
              </a:defRPr>
            </a:pPr>
            <a:r>
              <a:t>- Mathematics is not just theory - it is the practical foundation of cryptography, networking, and secure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