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744"/>
  </p:normalViewPr>
  <p:slideViewPr>
    <p:cSldViewPr snapToGrid="0" snapToObjects="1">
      <p:cViewPr varScale="1">
        <p:scale>
          <a:sx n="116" d="100"/>
          <a:sy n="116" d="100"/>
        </p:scale>
        <p:origin x="96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5932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Topic 3: Introduction to Programming Logic. Programming is not about becoming a software developer - it is about understanding how software works so you can analyze malware, automate security tasks, spot vulnerabilities in code, and communicate effectively with developers. In this topic, we cover variables, data types, control structures (if/else and loops), functions, pseudocode, and basic Bash scripting. Every concept is explained from a cybersecurity perspective, with no prior programming experience assumed.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Programming logic is the ability to think step-by-step about how a computer solves a problem. This skill is essential in cybersecurity because everything attackers and defenders do ultimately involves code.</a:t>
            </a:r>
          </a:p>
          <a:p>
            <a:endParaRPr/>
          </a:p>
          <a:p>
            <a:r>
              <a:t>Automation in security operations: A Security Operations Center (SOC) analyst might receive tens of thousands of alerts per day. Manually reviewing each one is impossible. Instead, analysts write Python scripts to automatically parse log files, extract suspicious Internet Protocol (IP) addresses, cross-reference them with threat intelligence databases, and generate a summary report. For example, a simple script might read a firewall log, count how many times each external IP attempted to connect, and flag any IP with more than 100 attempts as a potential brute-force attacker.</a:t>
            </a:r>
          </a:p>
          <a:p>
            <a:endParaRPr/>
          </a:p>
          <a:p>
            <a:r>
              <a:t>Malware analysis: At its core, ransomware is just a program that uses loops to iterate through files, conditionals to decide which files to encrypt, and file system Application Programming Interfaces (APIs) to overwrite data with encrypted versions. If you understand loops and conditionals, you can read technical analyses of malware and understand exactly how it works. For example, the WannaCry ransomware had a built-in 'kill switch' - it checked whether a specific domain name was registered, and if so, it stopped spreading. This was a simple if/else statement that security researchers discovered and exploited to slow the outbreak.</a:t>
            </a:r>
          </a:p>
          <a:p>
            <a:endParaRPr/>
          </a:p>
          <a:p>
            <a:r>
              <a:t>Vulnerability analysis: Many of the most common vulnerabilities are caused by missing or incorrect logic. SQL injection occurs when a program takes user input and puts it directly into a database query without checking whether it is safe. This is a missing validation step - a logic error. Similarly, if a web application checks if (user.isAdmin) but fails to handle the case where isAdmin is undefined or null, an attacker might be able to bypass the check.</a:t>
            </a:r>
          </a:p>
          <a:p>
            <a:endParaRPr/>
          </a:p>
          <a:p>
            <a:r>
              <a:t>Tool development: Python dominates the cybersecurity tool ecosystem because it is easy to read, has a massive library of pre-built modules, and works on both Windows and Linux. Tools like Nmap (network scanner), Metasploit (penetration testing framework), and Scapy (packet manipulation) all have Python interfaces or are written in Python. Bash scripting is equally important for automating Linux system administration tasks.</a:t>
            </a:r>
          </a:p>
          <a:p>
            <a:endParaRPr/>
          </a:p>
          <a:p>
            <a:r>
              <a:t>Career impact: According to the 2023 Cybersecurity Workforce Study by (ISC) squared, over 60 percent of cybersecurity job postings mention Python or scripting skills. Learning even basic programming significantly improves employability.</a:t>
            </a:r>
          </a:p>
          <a:p>
            <a:endParaRPr/>
          </a:p>
          <a:p>
            <a:r>
              <a:t>Abbreviations defined:</a:t>
            </a:r>
          </a:p>
          <a:p>
            <a:r>
              <a:t>- SOC = Security Operations Center</a:t>
            </a:r>
          </a:p>
          <a:p>
            <a:r>
              <a:t>- IP = Internet Protocol</a:t>
            </a:r>
          </a:p>
          <a:p>
            <a:r>
              <a:t>- API = Application Programming Interface</a:t>
            </a:r>
          </a:p>
          <a:p>
            <a:r>
              <a:t>- SQL = Structured Query Language</a:t>
            </a:r>
          </a:p>
          <a:p>
            <a:r>
              <a:t>- (ISC) squared = International Information System Security Certification Consortium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Variables are the foundation of every program. When you write a script to analyze security data, you use variables to store and manipulate that data.</a:t>
            </a:r>
          </a:p>
          <a:p>
            <a:endParaRPr/>
          </a:p>
          <a:p>
            <a:r>
              <a:t>String: In Python, strings are created by enclosing text in single or double quotes. For example: username = 'admin' or password = 'SecurePass123!'. In cybersecurity, strings are everywhere - in log files, network packets, and database queries. A common security task is parsing strings to extract useful information. For example, a log entry might look like: '192.168.1.50 - - [10/Mar/2026:14:32:01] GET /login HTTP/1.1'. A script would use string manipulation to extract the IP address (192.168.1.50), the timestamp, and the requested page (/login).</a:t>
            </a:r>
          </a:p>
          <a:p>
            <a:endParaRPr/>
          </a:p>
          <a:p>
            <a:r>
              <a:t>Integer: Integers are used for counting and indexing. In networking, port numbers are integers in the range 0 to 65535. The well-known ports (0 to 1023) are reserved for standard services and require administrator privileges to use on Linux and Unix systems. For example, port 22 is Secure Shell (SSH), port 80 is HyperText Transfer Protocol (HTTP), and port 443 is HyperText Transfer Protocol Secure (HTTPS). Integer overflow is a serious vulnerability: if a program uses an integer to track the size of something, and that size grows beyond the maximum value the integer can hold, it wraps around to a negative number or zero. This can cause the program to allocate too little memory, leading to a buffer overflow.</a:t>
            </a:r>
          </a:p>
          <a:p>
            <a:endParaRPr/>
          </a:p>
          <a:p>
            <a:r>
              <a:t>Float: Floats represent real numbers with decimal points. In security analytics, you might calculate the percentage of failed logins (failed / total * 100.0) or the average response time of a server.</a:t>
            </a:r>
          </a:p>
          <a:p>
            <a:endParaRPr/>
          </a:p>
          <a:p>
            <a:r>
              <a:t>Boolean: Booleans have only two possible values: True or False. Authentication systems rely heavily on booleans. For example, after a user enters a password, the system might set is_authenticated = True. If the password is wrong, it remains False. A logic flaw occurs when the program does not properly check this value. For instance, in some weakly typed languages, a null (empty) value might be treated differently than False, potentially allowing an attacker to bypass checks.</a:t>
            </a:r>
          </a:p>
          <a:p>
            <a:endParaRPr/>
          </a:p>
          <a:p>
            <a:r>
              <a:t>List: A list is an ordered collection of items. In Python, lists are created with square brackets. For example: suspicious_ips = ['192.168.1.100', '10.0.0.50', '172.16.0.25']. Lists are essential for automation - a penetration tester might have a list of target IP addresses to scan, and a script would loop through the list, scanning each one. However, in secure coding, iterating over a list of user inputs without proper validation can lead to injection attacks if any item in the list contains malicious data.</a:t>
            </a:r>
          </a:p>
          <a:p>
            <a:endParaRPr/>
          </a:p>
          <a:p>
            <a:r>
              <a:t>Abbreviations defined:</a:t>
            </a:r>
          </a:p>
          <a:p>
            <a:r>
              <a:t>- IP = Internet Protocol</a:t>
            </a:r>
          </a:p>
          <a:p>
            <a:r>
              <a:t>- SSH = Secure Shell</a:t>
            </a:r>
          </a:p>
          <a:p>
            <a:r>
              <a:t>- HTTP = HyperText Transfer Protocol</a:t>
            </a:r>
          </a:p>
          <a:p>
            <a:r>
              <a:t>- HTTPS = HyperText Transfer Protocol Secure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This slide shows concrete Python syntax for declaring variables. In Python, you do not need to declare the data type explicitly - the interpreter figures it out based on the value you assign.</a:t>
            </a:r>
          </a:p>
          <a:p>
            <a:endParaRPr/>
          </a:p>
          <a:p>
            <a:r>
              <a:t>String variables are enclosed in quotes. The student_name variable stores the text 'Chanda Mwale'. The password variable stores a string. In real applications, passwords should NEVER be stored in plain text like this - they should be hashed using algorithms like the Secure Hash Algorithm 256 (SHA-256) or the bcrypt algorithm. However, for learning basic syntax, this example is fine. The target_ip variable stores an IP address as a string.</a:t>
            </a:r>
          </a:p>
          <a:p>
            <a:endParaRPr/>
          </a:p>
          <a:p>
            <a:r>
              <a:t>Integer variables store whole numbers. port_number = 22 assigns the integer 22 to the variable port_number. failed_attempts = 0 initializes a counter to zero. This is a common pattern in security scripts - you start a counter at zero and increment it each time an event occurs (like a failed login).</a:t>
            </a:r>
          </a:p>
          <a:p>
            <a:endParaRPr/>
          </a:p>
          <a:p>
            <a:r>
              <a:t>Boolean variables store True or False. access_granted = False means the user has not yet been authenticated. Later in the program, after the password is checked, this variable might be changed to True.</a:t>
            </a:r>
          </a:p>
          <a:p>
            <a:endParaRPr/>
          </a:p>
          <a:p>
            <a:r>
              <a:t>Float variables store decimal numbers. risk_score = 7.5 might represent the calculated risk level of a particular user or event on a scale of 1 to 10.</a:t>
            </a:r>
          </a:p>
          <a:p>
            <a:endParaRPr/>
          </a:p>
          <a:p>
            <a:r>
              <a:t>List variables store multiple values. blocked_ips is a list of three IP addresses. You can access individual items using an index, starting from zero. blocked_ips[0] would give '10.0.0.99', blocked_ips[1] would give '192.168.1.200', and so on. You can also add items to a list using the append method: blocked_ips.append('192.168.1.250').</a:t>
            </a:r>
          </a:p>
          <a:p>
            <a:endParaRPr/>
          </a:p>
          <a:p>
            <a:r>
              <a:t>The print function displays output to the screen. In Python 3, print is a function that takes the text to display as an argument. The output of print('Target:', target_ip) would be: Target: 192.168.1.50</a:t>
            </a:r>
          </a:p>
          <a:p>
            <a:endParaRPr/>
          </a:p>
          <a:p>
            <a:r>
              <a:t>Abbreviations defined:</a:t>
            </a:r>
          </a:p>
          <a:p>
            <a:r>
              <a:t>- IP = Internet Protocol</a:t>
            </a:r>
          </a:p>
          <a:p>
            <a:r>
              <a:t>- SHA-256 = Secure Hash Algorithm 256</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Control structures determine the flow of a program. Without them, a program would simply execute every line from top to bottom in order. If/else statements allow programs to adapt their behavior based on circumstances.</a:t>
            </a:r>
          </a:p>
          <a:p>
            <a:endParaRPr/>
          </a:p>
          <a:p>
            <a:r>
              <a:t>How if/else works: The keyword if is followed by a condition - an expression that evaluates to either True or False. If the condition is True, the indented block of code under the if statement runs. If the condition is False, the indented block under the else statement runs instead. Python uses indentation (spaces at the beginning of lines) to define blocks of code. Standard practice is to use four spaces per indentation level.</a:t>
            </a:r>
          </a:p>
          <a:p>
            <a:endParaRPr/>
          </a:p>
          <a:p>
            <a:r>
              <a:t>The example on this slide asks the user to enter a password. The input() function pauses the program and waits for the user to type something and press Enter. The text entered by the user is stored in the variable password. The condition password == 'Secure@2026' uses the double equals sign (==), which is the comparison operator. It checks whether the value of password is exactly equal to the string 'Secure@2026'. A single equals sign (=) is the assignment operator, used to give a value to a variable. This is a common beginner mistake - using = instead of == in a condition.</a:t>
            </a:r>
          </a:p>
          <a:p>
            <a:endParaRPr/>
          </a:p>
          <a:p>
            <a:r>
              <a:t>Real-world cybersecurity applications of if/else:</a:t>
            </a:r>
          </a:p>
          <a:p>
            <a:r>
              <a:t>- Authentication: if (password_hash == stored_hash) { grant_access() } else { deny_access() }. This is the core logic of every login system.</a:t>
            </a:r>
          </a:p>
          <a:p>
            <a:r>
              <a:t>- Authorization: if (user.role == 'admin') { show_admin_panel() } else { show_standard_dashboard() }. This determines what a user is allowed to see and do.</a:t>
            </a:r>
          </a:p>
          <a:p>
            <a:r>
              <a:t>- Input validation: if (len(user_input) &gt; 1000) { reject_input() } else { process_input() }. This prevents buffer overflow by rejecting oversized input.</a:t>
            </a:r>
          </a:p>
          <a:p>
            <a:r>
              <a:t>- Alerting: if (failed_logins &gt; 5) { send_alert_to_admin() } else { allow_retry() }. This is how intrusion detection systems identify brute-force attacks.</a:t>
            </a:r>
          </a:p>
          <a:p>
            <a:endParaRPr/>
          </a:p>
          <a:p>
            <a:r>
              <a:t>Famous logic bug example: In 2019, Apple discovered a critical bug in FaceTime (their video calling app). Due to an incorrectly structured if statement, a caller could connect to another person's microphone and camera BEFORE the recipient answered the call. This was purely a logic error - no memory corruption or sophisticated hacking was involved. It demonstrates how dangerous logic bugs can be.</a:t>
            </a:r>
          </a:p>
          <a:p>
            <a:endParaRPr/>
          </a:p>
          <a:p>
            <a:r>
              <a:t>Abbreviations defined:</a:t>
            </a:r>
          </a:p>
          <a:p>
            <a:r>
              <a:t>- API = Application Programming Interface (referenced in context of input function)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Loops are one of the most powerful concepts in programming. They allow a small amount of code to handle large amounts of work. In cybersecurity, loops are used constantly.</a:t>
            </a:r>
          </a:p>
          <a:p>
            <a:endParaRPr/>
          </a:p>
          <a:p>
            <a:r>
              <a:t>How a while loop works: The keyword while is followed by a condition. Before each iteration (each repetition), the program checks whether the condition is True. If it is, the indented block of code runs. After the block finishes, the condition is checked again. This repeats until the condition becomes False. It is critically important that something inside the loop eventually changes the condition to False. Otherwise, the loop will run forever - this is called an infinite loop.</a:t>
            </a:r>
          </a:p>
          <a:p>
            <a:endParaRPr/>
          </a:p>
          <a:p>
            <a:r>
              <a:t>Let's trace through the account lockout example step by step:</a:t>
            </a:r>
          </a:p>
          <a:p>
            <a:r>
              <a:t>1. attempts = 0: We create a variable called attempts and set it to 0.</a:t>
            </a:r>
          </a:p>
          <a:p>
            <a:r>
              <a:t>2. while attempts &lt; 3: The condition is 0 &lt; 3, which is True. So we enter the loop.</a:t>
            </a:r>
          </a:p>
          <a:p>
            <a:r>
              <a:t>3. password = input('Enter password: '): The program waits for the user to type a password.</a:t>
            </a:r>
          </a:p>
          <a:p>
            <a:r>
              <a:t>4. if password == 'Secure@2026': The program checks if the password is correct.</a:t>
            </a:r>
          </a:p>
          <a:p>
            <a:r>
              <a:t>   - If correct: It prints 'Access granted' and then encounters the break statement. The break statement immediately exits the loop, skipping everything else.</a:t>
            </a:r>
          </a:p>
          <a:p>
            <a:r>
              <a:t>   - If incorrect: It runs the else block. attempts = attempts + 1 increases the counter by 1. If this was the first failure, attempts is now 1. The program prints a warning message.</a:t>
            </a:r>
          </a:p>
          <a:p>
            <a:r>
              <a:t>5. The loop goes back to step 2 and checks attempts &lt; 3 again.</a:t>
            </a:r>
          </a:p>
          <a:p>
            <a:r>
              <a:t>6. After three failed attempts, attempts becomes 3. The condition 3 &lt; 3 is now False, so the loop ends.</a:t>
            </a:r>
          </a:p>
          <a:p>
            <a:r>
              <a:t>7. if attempts == 3: Since attempts is 3, the program prints 'Account locked. Too many failed attempts.'</a:t>
            </a:r>
          </a:p>
          <a:p>
            <a:endParaRPr/>
          </a:p>
          <a:p>
            <a:r>
              <a:t>This example mirrors exactly how real-world account lockout policies work. After a configurable number of failed login attempts (often three to five), the account is temporarily or permanently locked to prevent brute-force password guessing.</a:t>
            </a:r>
          </a:p>
          <a:p>
            <a:endParaRPr/>
          </a:p>
          <a:p>
            <a:r>
              <a:t>Other security uses of loops:</a:t>
            </a:r>
          </a:p>
          <a:p>
            <a:r>
              <a:t>- Port scanning: A tool like Nmap uses loops to test thousands of ports. Pseudocode: for port in range(1, 65536): scan_port(port).</a:t>
            </a:r>
          </a:p>
          <a:p>
            <a:r>
              <a:t>- Password cracking: A dictionary attack loops through a list of common passwords, trying each one. Pseudocode: for word in wordlist: try_login(word).</a:t>
            </a:r>
          </a:p>
          <a:p>
            <a:r>
              <a:t>- Log analysis: A script might loop through millions of log lines, checking each one for suspicious patterns. Pseudocode: for line in logfile: analyze(line).</a:t>
            </a:r>
          </a:p>
          <a:p>
            <a:endParaRPr/>
          </a:p>
          <a:p>
            <a:r>
              <a:t>Infinite loops as a security threat: If an attacker can trigger an infinite loop in a web application or network service, they can cause a Denial of Service (DoS). The service consumes 100 percent of the CPU and stops responding to legitimate users. Input validation and proper loop termination are essential defenses.</a:t>
            </a:r>
          </a:p>
          <a:p>
            <a:endParaRPr/>
          </a:p>
          <a:p>
            <a:r>
              <a:t>Abbreviations defined:</a:t>
            </a:r>
          </a:p>
          <a:p>
            <a:r>
              <a:t>- DoS = Denial of Service</a:t>
            </a:r>
          </a:p>
          <a:p>
            <a:r>
              <a:t>- CPU = Central Processing Unit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Functions are essential for writing clean, maintainable, and secure code. They allow you to define a security check once and reuse it throughout your program.</a:t>
            </a:r>
          </a:p>
          <a:p>
            <a:endParaRPr/>
          </a:p>
          <a:p>
            <a:r>
              <a:t>How functions work in Python: A function is defined using the def keyword, followed by the function name, parentheses containing any inputs (called parameters or arguments), and a colon. The indented block below is the function body - the code that runs when the function is called. The return statement sends a result back to the code that called the function.</a:t>
            </a:r>
          </a:p>
          <a:p>
            <a:endParaRPr/>
          </a:p>
          <a:p>
            <a:r>
              <a:t>In the password strength example:</a:t>
            </a:r>
          </a:p>
          <a:p>
            <a:r>
              <a:t>- def check_password_strength(password): defines a function named check_password_strength that takes one input called password.</a:t>
            </a:r>
          </a:p>
          <a:p>
            <a:r>
              <a:t>- len(password) is a built-in function that returns the number of characters in the string. If the password has fewer than 8 characters, the function immediately returns 'Weak - too short'.</a:t>
            </a:r>
          </a:p>
          <a:p>
            <a:r>
              <a:t>- password.isalpha() is a string method that returns True if all characters in the password are letters (A-Z, a-z). If so, the function returns 'Weak - letters only' because the password lacks numbers and symbols.</a:t>
            </a:r>
          </a:p>
          <a:p>
            <a:r>
              <a:t>- If neither of the above conditions is true, the password is at least 8 characters long and contains at least one non-letter character, so the function returns 'Strong'.</a:t>
            </a:r>
          </a:p>
          <a:p>
            <a:r>
              <a:t>- result = check_password_strength('Zambia@2026') calls the function with the string 'Zambia@2026'. The returned value ('Strong') is stored in the variable result.</a:t>
            </a:r>
          </a:p>
          <a:p>
            <a:r>
              <a:t>- print(result) displays the output.</a:t>
            </a:r>
          </a:p>
          <a:p>
            <a:endParaRPr/>
          </a:p>
          <a:p>
            <a:r>
              <a:t>Password policy best practices: The United States National Institute of Standards and Technology (NIST) publishes guidelines for password security in Special Publication 800-63B. Modern recommendations emphasize password length over complexity. A long passphrase like 'Correct-Horse-Battery-Staple!' is more secure and easier to remember than a short complex password like 'P@ssw0rd1'. NIST recommends a minimum length of 8 characters but encourages even longer passwords. They also advise against forcing users to change passwords frequently unless there is evidence of compromise, because frequent changes lead to predictable patterns (like Password1, Password2, Password3).</a:t>
            </a:r>
          </a:p>
          <a:p>
            <a:endParaRPr/>
          </a:p>
          <a:p>
            <a:r>
              <a:t>Other security uses of functions:</a:t>
            </a:r>
          </a:p>
          <a:p>
            <a:r>
              <a:t>- Hashing a password before storing it in a database.</a:t>
            </a:r>
          </a:p>
          <a:p>
            <a:r>
              <a:t>- Validating that an IP address is in the correct format.</a:t>
            </a:r>
          </a:p>
          <a:p>
            <a:r>
              <a:t>- Encrypting a message before sending it over a network.</a:t>
            </a:r>
          </a:p>
          <a:p>
            <a:r>
              <a:t>- Parsing a log line and extracting the timestamp, source IP, and event type.</a:t>
            </a:r>
          </a:p>
          <a:p>
            <a:endParaRPr/>
          </a:p>
          <a:p>
            <a:r>
              <a:t>Abbreviations defined:</a:t>
            </a:r>
          </a:p>
          <a:p>
            <a:r>
              <a:t>- NIST = National Institute of Standards and Technology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Pseudocode bridges the gap between human thinking and computer programming. It uses plain English (or any natural language) combined with programming-like structures such as IF, THEN, ELSE, WHILE, and FOR. Because pseudocode is not tied to any specific programming language, it can be understood by programmers, security analysts, managers, and auditors alike.</a:t>
            </a:r>
          </a:p>
          <a:p>
            <a:endParaRPr/>
          </a:p>
          <a:p>
            <a:r>
              <a:t>Why pseudocode matters in cybersecurity:</a:t>
            </a:r>
          </a:p>
          <a:p>
            <a:r>
              <a:t>- Security architects use pseudocode to design authentication systems before developers write a single line of real code. This helps catch logic flaws early.</a:t>
            </a:r>
          </a:p>
          <a:p>
            <a:r>
              <a:t>- Incident response playbooks are often written in pseudocode or flowchart form to ensure everyone follows the same steps during a crisis.</a:t>
            </a:r>
          </a:p>
          <a:p>
            <a:r>
              <a:t>- Compliance auditors may review pseudocode descriptions of access control logic to verify that an application meets regulatory requirements.</a:t>
            </a:r>
          </a:p>
          <a:p>
            <a:endParaRPr/>
          </a:p>
          <a:p>
            <a:r>
              <a:t>Analyzing the login system pseudocode:</a:t>
            </a:r>
          </a:p>
          <a:p>
            <a:r>
              <a:t>1. START and END mark the beginning and end of the algorithm.</a:t>
            </a:r>
          </a:p>
          <a:p>
            <a:r>
              <a:t>2. INPUT username and INPUT password represent the user providing their credentials.</a:t>
            </a:r>
          </a:p>
          <a:p>
            <a:r>
              <a:t>3. The outer IF checks whether the username exists in the database. This prevents the system from revealing whether the username or password was wrong - a security best practice called 'ambiguous error messages.' If an attacker knows a username exists, they can focus on cracking just the password.</a:t>
            </a:r>
          </a:p>
          <a:p>
            <a:r>
              <a:t>4. The inner IF checks whether the password matches the stored hash. In real systems, passwords are NEVER stored in plain text. Instead, the system stores a cryptographic hash of the password. When the user logs in, the system hashes the entered password and compares the two hashes.</a:t>
            </a:r>
          </a:p>
          <a:p>
            <a:r>
              <a:t>5. If the password is wrong, failed_attempts is incremented (increased by one).</a:t>
            </a:r>
          </a:p>
          <a:p>
            <a:r>
              <a:t>6. If failed_attempts reaches 3, the account is locked and an alert is sent to the administrator. This is the account lockout policy.</a:t>
            </a:r>
          </a:p>
          <a:p>
            <a:endParaRPr/>
          </a:p>
          <a:p>
            <a:r>
              <a:t>Real-world consideration: Account lockout policies must balance security and usability. If the threshold is too low (like 2 attempts), users may be locked out frequently due to typos. If the threshold is too high (like 50 attempts), attackers have more opportunities to guess passwords. A common setting is 3 to 5 failed attempts, with a temporary lockout period of 15 to 30 minutes. Some systems also implement CAPTCHA (Completely Automated Public Turing test to tell Computers and Humans Apart) after a few failed attempts to slow down automated guessing.</a:t>
            </a:r>
          </a:p>
          <a:p>
            <a:endParaRPr/>
          </a:p>
          <a:p>
            <a:r>
              <a:t>Abbreviations defined:</a:t>
            </a:r>
          </a:p>
          <a:p>
            <a:r>
              <a:t>- CAPTCHA = Completely Automated Public Turing test to tell Computers and Humans Apart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Bash is both a command language and a scripting language. When you type commands into a Linux terminal, you are talking to Bash. A Bash script is simply a file that collects multiple Bash commands so they can be run together.</a:t>
            </a:r>
          </a:p>
          <a:p>
            <a:endParaRPr/>
          </a:p>
          <a:p>
            <a:r>
              <a:t>The first line of a Bash script is always the shebang: #!/bin/bash. This tells the operating system which interpreter (in this case, Bash) should execute the script. Without this line, the system might try to run the script with the wrong program.</a:t>
            </a:r>
          </a:p>
          <a:p>
            <a:endParaRPr/>
          </a:p>
          <a:p>
            <a:r>
              <a:t>The echo command prints text to the screen. It is the Bash equivalent of Python's print function.</a:t>
            </a:r>
          </a:p>
          <a:p>
            <a:endParaRPr/>
          </a:p>
          <a:p>
            <a:r>
              <a:t>ping -c 4 8.8.8.8 sends four network test packets to the IP address 8.8.8.8, which is one of Google's public DNS servers. The -c 4 flag means 'send exactly 4 packets.' If the responses come back successfully, it means the computer has internet connectivity. If they time out, there may be a network problem.</a:t>
            </a:r>
          </a:p>
          <a:p>
            <a:endParaRPr/>
          </a:p>
          <a:p>
            <a:r>
              <a:t>ip addr | grep 'inet ' | grep -v '127.0.0.1' displays the computer's IP addresses, excluding the loopback address (127.0.0.1). The pipe symbol (|) takes the output of one command and feeds it as input to the next command. This is called piping. First, ip addr shows all network interfaces. Then, grep 'inet ' filters for lines containing IP addresses. Finally, grep -v '127.0.0.1' removes the loopback line.</a:t>
            </a:r>
          </a:p>
          <a:p>
            <a:endParaRPr/>
          </a:p>
          <a:p>
            <a:r>
              <a:t>netstat -tuln shows all listening network connections. The flags mean: -t = TCP, -u = UDP, -l = listening ports only, -n = show numeric addresses instead of resolving names. This command is useful for auditing which services are exposed on the machine. Unexpected open ports may indicate unauthorized software or backdoors.</a:t>
            </a:r>
          </a:p>
          <a:p>
            <a:endParaRPr/>
          </a:p>
          <a:p>
            <a:r>
              <a:t>To run this script, you would save it as check_network.sh, make it executable with chmod +x check_network.sh, and then run it with ./check_network.sh.</a:t>
            </a:r>
          </a:p>
          <a:p>
            <a:endParaRPr/>
          </a:p>
          <a:p>
            <a:r>
              <a:t>Security warning: Bash scripts that accept user input without validation are vulnerable to command injection. If a script takes user input and passes it directly to a command, an attacker can inject additional commands. For example, if a script runs ping $user_input and the attacker provides 8.8.8.8; rm -rf /, the script might execute the destructive rm command. Always validate and sanitize inputs in scripts.</a:t>
            </a:r>
          </a:p>
          <a:p>
            <a:endParaRPr/>
          </a:p>
          <a:p>
            <a:r>
              <a:t>Abbreviations defined:</a:t>
            </a:r>
          </a:p>
          <a:p>
            <a:r>
              <a:t>- DNS = Domain Name System</a:t>
            </a:r>
          </a:p>
          <a:p>
            <a:r>
              <a:t>- TCP = Transmission Control Protocol</a:t>
            </a:r>
          </a:p>
          <a:p>
            <a:r>
              <a:t>- UDP = User Datagram Protocol</a:t>
            </a:r>
          </a:p>
          <a:p>
            <a:r>
              <a:t>- IP = Internet Protocol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NOTES - Detailed Explanation:</a:t>
            </a:r>
          </a:p>
          <a:p>
            <a:r>
              <a:t>This summary reinforces that programming is a practical skill for cybersecurity, not just an academic exercise. Students do not need to become software engineers, but they do need to understand how code works so they can 'think like both an attacker and a defender.'</a:t>
            </a:r>
          </a:p>
          <a:p>
            <a:endParaRPr/>
          </a:p>
          <a:p>
            <a:r>
              <a:t>Key connections to cybersecurity careers:</a:t>
            </a:r>
          </a:p>
          <a:p>
            <a:r>
              <a:t>- SOC Analysts use Python to parse logs and automate alert triage.</a:t>
            </a:r>
          </a:p>
          <a:p>
            <a:r>
              <a:t>- Penetration testers write scripts to automate scanning and exploitation.</a:t>
            </a:r>
          </a:p>
          <a:p>
            <a:r>
              <a:t>- Malware analysts read code to understand how threats behave.</a:t>
            </a:r>
          </a:p>
          <a:p>
            <a:r>
              <a:t>- Security engineers write scripts to enforce policies and check compliance.</a:t>
            </a:r>
          </a:p>
          <a:p>
            <a:endParaRPr/>
          </a:p>
          <a:p>
            <a:r>
              <a:t>For the practical assessment, students should be able to write simple pseudocode for a login system, explain what variables and data types are, and understand how if/else and loops control program flow. If time permits, having them write and run a simple Bash script on Kali Linux or an Ubuntu virtual machine is an excellent hands-on exercise.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BCAD085-E8A6-8845-BD4E-CB4CCA059FC4}" type="datetimeFigureOut">
              <a:rPr lang="en-US" smtClean="0"/>
              <a:t>4/5/26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96324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81597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053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7532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3446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48971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5629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295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00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9238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38029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17672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5310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0799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59090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284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8084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4/5/26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8431734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6"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7"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0"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5"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3"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4"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5"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6"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7"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8"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9"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71" name="Rectangle 70">
            <a:extLst>
              <a:ext uri="{FF2B5EF4-FFF2-40B4-BE49-F238E27FC236}">
                <a16:creationId xmlns:a16="http://schemas.microsoft.com/office/drawing/2014/main" id="{29EF3596-DF97-4605-88C4-E1D6634C1B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A04CF5AE-1525-458C-805A-277612287C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74" name="Rectangle 5">
              <a:extLst>
                <a:ext uri="{FF2B5EF4-FFF2-40B4-BE49-F238E27FC236}">
                  <a16:creationId xmlns:a16="http://schemas.microsoft.com/office/drawing/2014/main" id="{75184BC4-A6A5-41B7-9463-51287F8C988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5" name="Freeform 6">
              <a:extLst>
                <a:ext uri="{FF2B5EF4-FFF2-40B4-BE49-F238E27FC236}">
                  <a16:creationId xmlns:a16="http://schemas.microsoft.com/office/drawing/2014/main" id="{847CE477-1D61-4F65-A819-156F30645C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7">
              <a:extLst>
                <a:ext uri="{FF2B5EF4-FFF2-40B4-BE49-F238E27FC236}">
                  <a16:creationId xmlns:a16="http://schemas.microsoft.com/office/drawing/2014/main" id="{0168D70C-C0A3-4080-935A-4C7D34D1FD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Rectangle 8">
              <a:extLst>
                <a:ext uri="{FF2B5EF4-FFF2-40B4-BE49-F238E27FC236}">
                  <a16:creationId xmlns:a16="http://schemas.microsoft.com/office/drawing/2014/main" id="{4BFE52DB-6074-4322-91A0-BA19AC6534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8" name="Freeform 9">
              <a:extLst>
                <a:ext uri="{FF2B5EF4-FFF2-40B4-BE49-F238E27FC236}">
                  <a16:creationId xmlns:a16="http://schemas.microsoft.com/office/drawing/2014/main" id="{15482A31-6AFE-4781-B3EC-26CF5A34CC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10">
              <a:extLst>
                <a:ext uri="{FF2B5EF4-FFF2-40B4-BE49-F238E27FC236}">
                  <a16:creationId xmlns:a16="http://schemas.microsoft.com/office/drawing/2014/main" id="{A2F5607A-50CD-401B-AA0D-375828CC2B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11">
              <a:extLst>
                <a:ext uri="{FF2B5EF4-FFF2-40B4-BE49-F238E27FC236}">
                  <a16:creationId xmlns:a16="http://schemas.microsoft.com/office/drawing/2014/main" id="{E2065C15-E60F-4857-877B-1F8235F9A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12">
              <a:extLst>
                <a:ext uri="{FF2B5EF4-FFF2-40B4-BE49-F238E27FC236}">
                  <a16:creationId xmlns:a16="http://schemas.microsoft.com/office/drawing/2014/main" id="{10515003-9E36-4383-852B-C467122CD4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13">
              <a:extLst>
                <a:ext uri="{FF2B5EF4-FFF2-40B4-BE49-F238E27FC236}">
                  <a16:creationId xmlns:a16="http://schemas.microsoft.com/office/drawing/2014/main" id="{F6809E31-CFB3-4460-A5B9-9B5D20C4D2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14">
              <a:extLst>
                <a:ext uri="{FF2B5EF4-FFF2-40B4-BE49-F238E27FC236}">
                  <a16:creationId xmlns:a16="http://schemas.microsoft.com/office/drawing/2014/main" id="{A4181E6F-BF0F-40DF-B995-3E6E1D016D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15">
              <a:extLst>
                <a:ext uri="{FF2B5EF4-FFF2-40B4-BE49-F238E27FC236}">
                  <a16:creationId xmlns:a16="http://schemas.microsoft.com/office/drawing/2014/main" id="{21ECCFEF-1B38-4DA5-BE12-61FC280572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5" name="Freeform 16">
              <a:extLst>
                <a:ext uri="{FF2B5EF4-FFF2-40B4-BE49-F238E27FC236}">
                  <a16:creationId xmlns:a16="http://schemas.microsoft.com/office/drawing/2014/main" id="{EF7B7547-12E7-424A-B8A2-836C862B0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6" name="Freeform 17">
              <a:extLst>
                <a:ext uri="{FF2B5EF4-FFF2-40B4-BE49-F238E27FC236}">
                  <a16:creationId xmlns:a16="http://schemas.microsoft.com/office/drawing/2014/main" id="{ED73F691-9932-4DF3-9C00-5FB99E59B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7" name="Freeform 18">
              <a:extLst>
                <a:ext uri="{FF2B5EF4-FFF2-40B4-BE49-F238E27FC236}">
                  <a16:creationId xmlns:a16="http://schemas.microsoft.com/office/drawing/2014/main" id="{FC1D4D7C-DDA0-4901-B134-3A4F498A45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8" name="Freeform 19">
              <a:extLst>
                <a:ext uri="{FF2B5EF4-FFF2-40B4-BE49-F238E27FC236}">
                  <a16:creationId xmlns:a16="http://schemas.microsoft.com/office/drawing/2014/main" id="{1D667447-7CCB-4723-98DC-3B6243BB50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9" name="Freeform 20">
              <a:extLst>
                <a:ext uri="{FF2B5EF4-FFF2-40B4-BE49-F238E27FC236}">
                  <a16:creationId xmlns:a16="http://schemas.microsoft.com/office/drawing/2014/main" id="{3205CA6A-75CC-441A-A983-276CC72438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0" name="Freeform 21">
              <a:extLst>
                <a:ext uri="{FF2B5EF4-FFF2-40B4-BE49-F238E27FC236}">
                  <a16:creationId xmlns:a16="http://schemas.microsoft.com/office/drawing/2014/main" id="{97C5F7AB-65D8-48CC-ABE1-4E6FCC596D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1" name="Freeform 22">
              <a:extLst>
                <a:ext uri="{FF2B5EF4-FFF2-40B4-BE49-F238E27FC236}">
                  <a16:creationId xmlns:a16="http://schemas.microsoft.com/office/drawing/2014/main" id="{9D2DE9CF-1915-4458-8504-23EE23C703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2" name="Freeform 23">
              <a:extLst>
                <a:ext uri="{FF2B5EF4-FFF2-40B4-BE49-F238E27FC236}">
                  <a16:creationId xmlns:a16="http://schemas.microsoft.com/office/drawing/2014/main" id="{875539DD-1581-4269-9977-2AD4EC61A06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3" name="Freeform 24">
              <a:extLst>
                <a:ext uri="{FF2B5EF4-FFF2-40B4-BE49-F238E27FC236}">
                  <a16:creationId xmlns:a16="http://schemas.microsoft.com/office/drawing/2014/main" id="{4F35F98A-A81D-4A28-B3EF-AA4CF85525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4" name="Freeform 25">
              <a:extLst>
                <a:ext uri="{FF2B5EF4-FFF2-40B4-BE49-F238E27FC236}">
                  <a16:creationId xmlns:a16="http://schemas.microsoft.com/office/drawing/2014/main" id="{2F4C3514-1560-4004-BACC-31CAF69A9F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5" name="Freeform 26">
              <a:extLst>
                <a:ext uri="{FF2B5EF4-FFF2-40B4-BE49-F238E27FC236}">
                  <a16:creationId xmlns:a16="http://schemas.microsoft.com/office/drawing/2014/main" id="{759492B1-819E-4D36-8684-DE6269CD9F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6" name="Freeform 27">
              <a:extLst>
                <a:ext uri="{FF2B5EF4-FFF2-40B4-BE49-F238E27FC236}">
                  <a16:creationId xmlns:a16="http://schemas.microsoft.com/office/drawing/2014/main" id="{6D37E5FF-AC11-4600-A1A7-5A79E8987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7" name="Freeform 28">
              <a:extLst>
                <a:ext uri="{FF2B5EF4-FFF2-40B4-BE49-F238E27FC236}">
                  <a16:creationId xmlns:a16="http://schemas.microsoft.com/office/drawing/2014/main" id="{71BEA79E-EC3A-49E3-BF83-FD38146C20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8" name="Freeform 29">
              <a:extLst>
                <a:ext uri="{FF2B5EF4-FFF2-40B4-BE49-F238E27FC236}">
                  <a16:creationId xmlns:a16="http://schemas.microsoft.com/office/drawing/2014/main" id="{628003CD-17C2-4EF6-9422-BCC831E6E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9" name="Freeform 30">
              <a:extLst>
                <a:ext uri="{FF2B5EF4-FFF2-40B4-BE49-F238E27FC236}">
                  <a16:creationId xmlns:a16="http://schemas.microsoft.com/office/drawing/2014/main" id="{1116C327-1D14-460A-A6E2-78987B1492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0" name="Freeform 31">
              <a:extLst>
                <a:ext uri="{FF2B5EF4-FFF2-40B4-BE49-F238E27FC236}">
                  <a16:creationId xmlns:a16="http://schemas.microsoft.com/office/drawing/2014/main" id="{BE5E6917-BBB5-46D6-A9EF-108A2A621F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1" name="Freeform 32">
              <a:extLst>
                <a:ext uri="{FF2B5EF4-FFF2-40B4-BE49-F238E27FC236}">
                  <a16:creationId xmlns:a16="http://schemas.microsoft.com/office/drawing/2014/main" id="{15AE5B56-D24B-45D6-B264-EFD2BCFDE4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2" name="Rectangle 33">
              <a:extLst>
                <a:ext uri="{FF2B5EF4-FFF2-40B4-BE49-F238E27FC236}">
                  <a16:creationId xmlns:a16="http://schemas.microsoft.com/office/drawing/2014/main" id="{3F5649DF-34D2-42EB-AEA0-DB38895E791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03" name="Freeform 34">
              <a:extLst>
                <a:ext uri="{FF2B5EF4-FFF2-40B4-BE49-F238E27FC236}">
                  <a16:creationId xmlns:a16="http://schemas.microsoft.com/office/drawing/2014/main" id="{908BA6A2-58E6-4EF1-B21C-C129AD44AF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4" name="Freeform 35">
              <a:extLst>
                <a:ext uri="{FF2B5EF4-FFF2-40B4-BE49-F238E27FC236}">
                  <a16:creationId xmlns:a16="http://schemas.microsoft.com/office/drawing/2014/main" id="{FF764234-DCC8-409D-9589-60BA5BEBD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5" name="Freeform 36">
              <a:extLst>
                <a:ext uri="{FF2B5EF4-FFF2-40B4-BE49-F238E27FC236}">
                  <a16:creationId xmlns:a16="http://schemas.microsoft.com/office/drawing/2014/main" id="{672EDBF1-5836-45EE-ACAA-026F06E612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6" name="Freeform 37">
              <a:extLst>
                <a:ext uri="{FF2B5EF4-FFF2-40B4-BE49-F238E27FC236}">
                  <a16:creationId xmlns:a16="http://schemas.microsoft.com/office/drawing/2014/main" id="{32EDE749-EE15-49ED-A703-EB5B8296FCC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7" name="Freeform 38">
              <a:extLst>
                <a:ext uri="{FF2B5EF4-FFF2-40B4-BE49-F238E27FC236}">
                  <a16:creationId xmlns:a16="http://schemas.microsoft.com/office/drawing/2014/main" id="{ECAFA4A1-3EFA-41E8-8124-5BD1A7FD33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8" name="Freeform 39">
              <a:extLst>
                <a:ext uri="{FF2B5EF4-FFF2-40B4-BE49-F238E27FC236}">
                  <a16:creationId xmlns:a16="http://schemas.microsoft.com/office/drawing/2014/main" id="{5FC977BF-3314-4C13-949F-F7005E49AF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9" name="Freeform 40">
              <a:extLst>
                <a:ext uri="{FF2B5EF4-FFF2-40B4-BE49-F238E27FC236}">
                  <a16:creationId xmlns:a16="http://schemas.microsoft.com/office/drawing/2014/main" id="{FFE293AA-EA29-496D-B73C-DD63AA5CEDC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0" name="Freeform 41">
              <a:extLst>
                <a:ext uri="{FF2B5EF4-FFF2-40B4-BE49-F238E27FC236}">
                  <a16:creationId xmlns:a16="http://schemas.microsoft.com/office/drawing/2014/main" id="{555B5CF2-EB1C-4BAF-831C-F7563748F4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1" name="Freeform 42">
              <a:extLst>
                <a:ext uri="{FF2B5EF4-FFF2-40B4-BE49-F238E27FC236}">
                  <a16:creationId xmlns:a16="http://schemas.microsoft.com/office/drawing/2014/main" id="{6C35CEC0-2B0B-4B96-A85B-170DFCE7396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2" name="Freeform 43">
              <a:extLst>
                <a:ext uri="{FF2B5EF4-FFF2-40B4-BE49-F238E27FC236}">
                  <a16:creationId xmlns:a16="http://schemas.microsoft.com/office/drawing/2014/main" id="{4479BA0E-1F0F-44CC-B967-41E59E556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3" name="Freeform 44">
              <a:extLst>
                <a:ext uri="{FF2B5EF4-FFF2-40B4-BE49-F238E27FC236}">
                  <a16:creationId xmlns:a16="http://schemas.microsoft.com/office/drawing/2014/main" id="{0EA2BA01-0538-42E6-94BA-FC5ADB2DE13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4" name="Rectangle 45">
              <a:extLst>
                <a:ext uri="{FF2B5EF4-FFF2-40B4-BE49-F238E27FC236}">
                  <a16:creationId xmlns:a16="http://schemas.microsoft.com/office/drawing/2014/main" id="{03F7E47C-F027-4901-A6C8-390843EE323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15" name="Freeform 46">
              <a:extLst>
                <a:ext uri="{FF2B5EF4-FFF2-40B4-BE49-F238E27FC236}">
                  <a16:creationId xmlns:a16="http://schemas.microsoft.com/office/drawing/2014/main" id="{28E1E440-AFF9-4333-83FE-EE96FF139F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6" name="Freeform 47">
              <a:extLst>
                <a:ext uri="{FF2B5EF4-FFF2-40B4-BE49-F238E27FC236}">
                  <a16:creationId xmlns:a16="http://schemas.microsoft.com/office/drawing/2014/main" id="{303A70BD-0FF2-440D-BE34-940EEC170DF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7" name="Freeform 48">
              <a:extLst>
                <a:ext uri="{FF2B5EF4-FFF2-40B4-BE49-F238E27FC236}">
                  <a16:creationId xmlns:a16="http://schemas.microsoft.com/office/drawing/2014/main" id="{E9E7E43D-CEBC-4F5A-9849-06150C6F5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8" name="Freeform 49">
              <a:extLst>
                <a:ext uri="{FF2B5EF4-FFF2-40B4-BE49-F238E27FC236}">
                  <a16:creationId xmlns:a16="http://schemas.microsoft.com/office/drawing/2014/main" id="{DB41515B-EB52-4FB6-9ED6-AFDF7598F2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9" name="Freeform 50">
              <a:extLst>
                <a:ext uri="{FF2B5EF4-FFF2-40B4-BE49-F238E27FC236}">
                  <a16:creationId xmlns:a16="http://schemas.microsoft.com/office/drawing/2014/main" id="{325F3C87-07A2-4F10-AFAB-254EC057F9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0" name="Freeform 51">
              <a:extLst>
                <a:ext uri="{FF2B5EF4-FFF2-40B4-BE49-F238E27FC236}">
                  <a16:creationId xmlns:a16="http://schemas.microsoft.com/office/drawing/2014/main" id="{8A65FB10-C150-41C0-AE33-92EA10D2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1" name="Freeform 52">
              <a:extLst>
                <a:ext uri="{FF2B5EF4-FFF2-40B4-BE49-F238E27FC236}">
                  <a16:creationId xmlns:a16="http://schemas.microsoft.com/office/drawing/2014/main" id="{87206993-1AA8-4179-B1AE-7486E1FA08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2" name="Freeform 53">
              <a:extLst>
                <a:ext uri="{FF2B5EF4-FFF2-40B4-BE49-F238E27FC236}">
                  <a16:creationId xmlns:a16="http://schemas.microsoft.com/office/drawing/2014/main" id="{85A838BB-56EF-47B9-B613-2EC774731E7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3" name="Freeform 54">
              <a:extLst>
                <a:ext uri="{FF2B5EF4-FFF2-40B4-BE49-F238E27FC236}">
                  <a16:creationId xmlns:a16="http://schemas.microsoft.com/office/drawing/2014/main" id="{E7A25950-F58D-4098-9824-C8518F323EC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4" name="Freeform 55">
              <a:extLst>
                <a:ext uri="{FF2B5EF4-FFF2-40B4-BE49-F238E27FC236}">
                  <a16:creationId xmlns:a16="http://schemas.microsoft.com/office/drawing/2014/main" id="{3CD280DC-A611-4DAC-BC0C-070097BBE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5" name="Freeform 56">
              <a:extLst>
                <a:ext uri="{FF2B5EF4-FFF2-40B4-BE49-F238E27FC236}">
                  <a16:creationId xmlns:a16="http://schemas.microsoft.com/office/drawing/2014/main" id="{88921E44-6C5B-4CD9-8347-604B039BAC9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6" name="Freeform 57">
              <a:extLst>
                <a:ext uri="{FF2B5EF4-FFF2-40B4-BE49-F238E27FC236}">
                  <a16:creationId xmlns:a16="http://schemas.microsoft.com/office/drawing/2014/main" id="{311649F5-0FA2-4ED1-9C27-5EFF64007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7" name="Freeform 58">
              <a:extLst>
                <a:ext uri="{FF2B5EF4-FFF2-40B4-BE49-F238E27FC236}">
                  <a16:creationId xmlns:a16="http://schemas.microsoft.com/office/drawing/2014/main" id="{F94683F6-FEDA-4D28-9E9F-557699D6A3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pic>
        <p:nvPicPr>
          <p:cNvPr id="129" name="Picture 2">
            <a:extLst>
              <a:ext uri="{FF2B5EF4-FFF2-40B4-BE49-F238E27FC236}">
                <a16:creationId xmlns:a16="http://schemas.microsoft.com/office/drawing/2014/main" id="{EE045C80-5D28-4F64-9892-322DA1D237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3" name="TextBox 2"/>
          <p:cNvSpPr txBox="1"/>
          <p:nvPr/>
        </p:nvSpPr>
        <p:spPr>
          <a:xfrm>
            <a:off x="1876425" y="1113282"/>
            <a:ext cx="5201086" cy="2396681"/>
          </a:xfrm>
          <a:prstGeom prst="rect">
            <a:avLst/>
          </a:prstGeom>
        </p:spPr>
        <p:txBody>
          <a:bodyPr vert="horz" lIns="91440" tIns="45720" rIns="91440" bIns="45720" rtlCol="0" anchor="b">
            <a:normAutofit/>
          </a:bodyPr>
          <a:lstStyle/>
          <a:p>
            <a:pPr defTabSz="914400">
              <a:lnSpc>
                <a:spcPct val="90000"/>
              </a:lnSpc>
              <a:spcBef>
                <a:spcPct val="0"/>
              </a:spcBef>
              <a:spcAft>
                <a:spcPts val="600"/>
              </a:spcAft>
              <a:defRPr sz="4800" b="1">
                <a:solidFill>
                  <a:srgbClr val="FFFFFF"/>
                </a:solidFill>
              </a:defRPr>
            </a:pPr>
            <a:r>
              <a:rPr lang="en-US" sz="4100" cap="all">
                <a:solidFill>
                  <a:srgbClr val="FFFFFF"/>
                </a:solidFill>
                <a:latin typeface="+mj-lt"/>
                <a:ea typeface="+mj-ea"/>
                <a:cs typeface="+mj-cs"/>
              </a:rPr>
              <a:t>Topic 3: Introduction to Programming Logic</a:t>
            </a:r>
          </a:p>
        </p:txBody>
      </p:sp>
      <p:sp>
        <p:nvSpPr>
          <p:cNvPr id="4" name="TextBox 3"/>
          <p:cNvSpPr txBox="1"/>
          <p:nvPr/>
        </p:nvSpPr>
        <p:spPr>
          <a:xfrm>
            <a:off x="1876424" y="3602038"/>
            <a:ext cx="5231513" cy="2052720"/>
          </a:xfrm>
          <a:prstGeom prst="rect">
            <a:avLst/>
          </a:prstGeom>
        </p:spPr>
        <p:txBody>
          <a:bodyPr vert="horz" lIns="91440" tIns="45720" rIns="91440" bIns="45720" rtlCol="0">
            <a:normAutofit/>
          </a:bodyPr>
          <a:lstStyle/>
          <a:p>
            <a:pPr defTabSz="914400">
              <a:lnSpc>
                <a:spcPct val="120000"/>
              </a:lnSpc>
              <a:spcBef>
                <a:spcPts val="1000"/>
              </a:spcBef>
              <a:buSzPct val="125000"/>
              <a:defRPr sz="2600">
                <a:solidFill>
                  <a:srgbClr val="FFB74D"/>
                </a:solidFill>
              </a:defRPr>
            </a:pPr>
            <a:r>
              <a:rPr lang="en-US" sz="2000" cap="all">
                <a:solidFill>
                  <a:schemeClr val="bg2"/>
                </a:solidFill>
              </a:rPr>
              <a:t>Thinking Like a Defender and an Attacker</a:t>
            </a:r>
          </a:p>
        </p:txBody>
      </p:sp>
      <p:sp useBgFill="1">
        <p:nvSpPr>
          <p:cNvPr id="131" name="Round Diagonal Corner Rectangle 6">
            <a:extLst>
              <a:ext uri="{FF2B5EF4-FFF2-40B4-BE49-F238E27FC236}">
                <a16:creationId xmlns:a16="http://schemas.microsoft.com/office/drawing/2014/main" id="{0F4BA0F2-1035-4F3D-B3FE-C551450E4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0945" y="808057"/>
            <a:ext cx="3821429" cy="5234394"/>
          </a:xfrm>
          <a:prstGeom prst="round2DiagRect">
            <a:avLst>
              <a:gd name="adj1" fmla="val 11323"/>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31D2888-35D9-85D2-C1DB-FD390EA28B7E}"/>
              </a:ext>
            </a:extLst>
          </p:cNvPr>
          <p:cNvPicPr>
            <a:picLocks noChangeAspect="1"/>
          </p:cNvPicPr>
          <p:nvPr/>
        </p:nvPicPr>
        <p:blipFill>
          <a:blip r:embed="rId4"/>
          <a:stretch>
            <a:fillRect/>
          </a:stretch>
        </p:blipFill>
        <p:spPr>
          <a:xfrm>
            <a:off x="7943986" y="1136606"/>
            <a:ext cx="3055345" cy="4577297"/>
          </a:xfrm>
          <a:prstGeom prst="rect">
            <a:avLst/>
          </a:prstGeom>
        </p:spPr>
      </p:pic>
      <p:sp>
        <p:nvSpPr>
          <p:cNvPr id="2" name="Rectangle 1"/>
          <p:cNvSpPr/>
          <p:nvPr/>
        </p:nvSpPr>
        <p:spPr>
          <a:xfrm>
            <a:off x="0" y="0"/>
            <a:ext cx="12191695" cy="6858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Why Programming Logic Matters in Cybersecurity</a:t>
            </a:r>
          </a:p>
        </p:txBody>
      </p:sp>
      <p:sp>
        <p:nvSpPr>
          <p:cNvPr id="4" name="TextBox 3"/>
          <p:cNvSpPr txBox="1"/>
          <p:nvPr/>
        </p:nvSpPr>
        <p:spPr>
          <a:xfrm>
            <a:off x="365760" y="1024128"/>
            <a:ext cx="11430000" cy="4905254"/>
          </a:xfrm>
          <a:prstGeom prst="rect">
            <a:avLst/>
          </a:prstGeom>
          <a:noFill/>
        </p:spPr>
        <p:txBody>
          <a:bodyPr wrap="square" tIns="0" bIns="0">
            <a:spAutoFit/>
          </a:bodyPr>
          <a:lstStyle/>
          <a:p>
            <a:pPr>
              <a:lnSpc>
                <a:spcPct val="200000"/>
              </a:lnSpc>
              <a:spcAft>
                <a:spcPts val="100"/>
              </a:spcAft>
              <a:defRPr sz="1400">
                <a:solidFill>
                  <a:srgbClr val="1F2933"/>
                </a:solidFill>
              </a:defRPr>
            </a:pPr>
            <a:r>
              <a:rPr sz="1600" dirty="0">
                <a:solidFill>
                  <a:srgbClr val="FFFFFF"/>
                </a:solidFill>
              </a:rPr>
              <a:t>- Automation: Security professionals write scripts to automate repetitive tasks such as parsing log files, scanning networks, and generating reports.</a:t>
            </a:r>
          </a:p>
          <a:p>
            <a:pPr>
              <a:lnSpc>
                <a:spcPct val="200000"/>
              </a:lnSpc>
              <a:spcAft>
                <a:spcPts val="100"/>
              </a:spcAft>
              <a:defRPr sz="1400">
                <a:solidFill>
                  <a:srgbClr val="1F2933"/>
                </a:solidFill>
              </a:defRPr>
            </a:pPr>
            <a:r>
              <a:rPr sz="1600" dirty="0">
                <a:solidFill>
                  <a:srgbClr val="FFFFFF"/>
                </a:solidFill>
              </a:rPr>
              <a:t>- Malware Analysis: Malware is simply software written with malicious intent. Understanding programming logic allows you to read malware reports, understand indicators of compromise, and even reverse-engineer simple samples.</a:t>
            </a:r>
          </a:p>
          <a:p>
            <a:pPr>
              <a:lnSpc>
                <a:spcPct val="200000"/>
              </a:lnSpc>
              <a:spcAft>
                <a:spcPts val="100"/>
              </a:spcAft>
              <a:defRPr sz="1400">
                <a:solidFill>
                  <a:srgbClr val="1F2933"/>
                </a:solidFill>
              </a:defRPr>
            </a:pPr>
            <a:r>
              <a:rPr sz="1600" dirty="0">
                <a:solidFill>
                  <a:srgbClr val="FFFFFF"/>
                </a:solidFill>
              </a:rPr>
              <a:t>- Vulnerability Analysis: Many security flaws are logic errors. Missing input validation, incorrect access checks, and flawed business logic can all lead to exploitable vulnerabilities.</a:t>
            </a:r>
          </a:p>
          <a:p>
            <a:pPr>
              <a:lnSpc>
                <a:spcPct val="200000"/>
              </a:lnSpc>
              <a:spcAft>
                <a:spcPts val="100"/>
              </a:spcAft>
              <a:defRPr sz="1400">
                <a:solidFill>
                  <a:srgbClr val="1F2933"/>
                </a:solidFill>
              </a:defRPr>
            </a:pPr>
            <a:r>
              <a:rPr sz="1600" dirty="0">
                <a:solidFill>
                  <a:srgbClr val="FFFFFF"/>
                </a:solidFill>
              </a:rPr>
              <a:t>- Tool Development: Python is the most popular language in cybersecurity. Over 90 percent of the tools in Kali Linux are written in Python or Bash.</a:t>
            </a:r>
          </a:p>
          <a:p>
            <a:pPr>
              <a:lnSpc>
                <a:spcPct val="200000"/>
              </a:lnSpc>
              <a:spcAft>
                <a:spcPts val="0"/>
              </a:spcAft>
              <a:defRPr sz="1400">
                <a:solidFill>
                  <a:srgbClr val="1F2933"/>
                </a:solidFill>
              </a:defRPr>
            </a:pPr>
            <a:r>
              <a:rPr sz="1600" dirty="0">
                <a:solidFill>
                  <a:srgbClr val="FFFFFF"/>
                </a:solidFill>
              </a:rPr>
              <a:t>- Career Advantage: Job surveys consistently list Python and scripting skills as the most requested technical abilities for roles like SOC Analyst, Penetration Tester, and Security Analyst.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Variables and Data Types</a:t>
            </a:r>
          </a:p>
        </p:txBody>
      </p:sp>
      <p:sp>
        <p:nvSpPr>
          <p:cNvPr id="4" name="TextBox 3"/>
          <p:cNvSpPr txBox="1"/>
          <p:nvPr/>
        </p:nvSpPr>
        <p:spPr>
          <a:xfrm>
            <a:off x="365760" y="1024128"/>
            <a:ext cx="11430000" cy="3933193"/>
          </a:xfrm>
          <a:prstGeom prst="rect">
            <a:avLst/>
          </a:prstGeom>
          <a:noFill/>
        </p:spPr>
        <p:txBody>
          <a:bodyPr wrap="square" tIns="0" bIns="0">
            <a:spAutoFit/>
          </a:bodyPr>
          <a:lstStyle/>
          <a:p>
            <a:pPr>
              <a:lnSpc>
                <a:spcPct val="200000"/>
              </a:lnSpc>
              <a:spcAft>
                <a:spcPts val="100"/>
              </a:spcAft>
              <a:defRPr sz="1400">
                <a:solidFill>
                  <a:srgbClr val="1F2933"/>
                </a:solidFill>
              </a:defRPr>
            </a:pPr>
            <a:r>
              <a:rPr sz="1600" dirty="0">
                <a:solidFill>
                  <a:srgbClr val="FFFFFF"/>
                </a:solidFill>
              </a:rPr>
              <a:t>- A variable is a named container that stores a value. Think of it as a labeled box where you can store information.</a:t>
            </a:r>
          </a:p>
          <a:p>
            <a:pPr>
              <a:lnSpc>
                <a:spcPct val="200000"/>
              </a:lnSpc>
              <a:spcAft>
                <a:spcPts val="100"/>
              </a:spcAft>
              <a:defRPr sz="1400">
                <a:solidFill>
                  <a:srgbClr val="1F2933"/>
                </a:solidFill>
              </a:defRPr>
            </a:pPr>
            <a:r>
              <a:rPr sz="1600" dirty="0">
                <a:solidFill>
                  <a:srgbClr val="FFFFFF"/>
                </a:solidFill>
              </a:rPr>
              <a:t>- String: A sequence of characters used for text. Examples in cybersecurity include usernames, passwords, domain names, and Internet Protocol (IP) addresses.</a:t>
            </a:r>
          </a:p>
          <a:p>
            <a:pPr>
              <a:lnSpc>
                <a:spcPct val="200000"/>
              </a:lnSpc>
              <a:spcAft>
                <a:spcPts val="100"/>
              </a:spcAft>
              <a:defRPr sz="1400">
                <a:solidFill>
                  <a:srgbClr val="1F2933"/>
                </a:solidFill>
              </a:defRPr>
            </a:pPr>
            <a:r>
              <a:rPr sz="1600" dirty="0">
                <a:solidFill>
                  <a:srgbClr val="FFFFFF"/>
                </a:solidFill>
              </a:rPr>
              <a:t>- Integer: A whole number without decimals. Examples include port numbers (such as 22 for Secure Shell, 80 for </a:t>
            </a:r>
            <a:r>
              <a:rPr sz="1600" dirty="0" err="1">
                <a:solidFill>
                  <a:srgbClr val="FFFFFF"/>
                </a:solidFill>
              </a:rPr>
              <a:t>HyperText</a:t>
            </a:r>
            <a:r>
              <a:rPr sz="1600" dirty="0">
                <a:solidFill>
                  <a:srgbClr val="FFFFFF"/>
                </a:solidFill>
              </a:rPr>
              <a:t> Transfer Protocol, and 443 for </a:t>
            </a:r>
            <a:r>
              <a:rPr sz="1600" dirty="0" err="1">
                <a:solidFill>
                  <a:srgbClr val="FFFFFF"/>
                </a:solidFill>
              </a:rPr>
              <a:t>HyperText</a:t>
            </a:r>
            <a:r>
              <a:rPr sz="1600" dirty="0">
                <a:solidFill>
                  <a:srgbClr val="FFFFFF"/>
                </a:solidFill>
              </a:rPr>
              <a:t> Transfer Protocol Secure) and failed login attempt counters.</a:t>
            </a:r>
          </a:p>
          <a:p>
            <a:pPr>
              <a:lnSpc>
                <a:spcPct val="200000"/>
              </a:lnSpc>
              <a:spcAft>
                <a:spcPts val="100"/>
              </a:spcAft>
              <a:defRPr sz="1400">
                <a:solidFill>
                  <a:srgbClr val="1F2933"/>
                </a:solidFill>
              </a:defRPr>
            </a:pPr>
            <a:r>
              <a:rPr sz="1600" dirty="0">
                <a:solidFill>
                  <a:srgbClr val="FFFFFF"/>
                </a:solidFill>
              </a:rPr>
              <a:t>- Float: A number with a decimal point. Examples include success rates, response times, and risk scores.</a:t>
            </a:r>
          </a:p>
          <a:p>
            <a:pPr>
              <a:lnSpc>
                <a:spcPct val="200000"/>
              </a:lnSpc>
              <a:spcAft>
                <a:spcPts val="100"/>
              </a:spcAft>
              <a:defRPr sz="1400">
                <a:solidFill>
                  <a:srgbClr val="1F2933"/>
                </a:solidFill>
              </a:defRPr>
            </a:pPr>
            <a:r>
              <a:rPr sz="1600" dirty="0">
                <a:solidFill>
                  <a:srgbClr val="FFFFFF"/>
                </a:solidFill>
              </a:rPr>
              <a:t>- Boolean: A value that is either True or False. Examples include </a:t>
            </a:r>
            <a:r>
              <a:rPr sz="1600" dirty="0" err="1">
                <a:solidFill>
                  <a:srgbClr val="FFFFFF"/>
                </a:solidFill>
              </a:rPr>
              <a:t>access_granted</a:t>
            </a:r>
            <a:r>
              <a:rPr sz="1600" dirty="0">
                <a:solidFill>
                  <a:srgbClr val="FFFFFF"/>
                </a:solidFill>
              </a:rPr>
              <a:t>, </a:t>
            </a:r>
            <a:r>
              <a:rPr sz="1600" dirty="0" err="1">
                <a:solidFill>
                  <a:srgbClr val="FFFFFF"/>
                </a:solidFill>
              </a:rPr>
              <a:t>account_locked</a:t>
            </a:r>
            <a:r>
              <a:rPr sz="1600" dirty="0">
                <a:solidFill>
                  <a:srgbClr val="FFFFFF"/>
                </a:solidFill>
              </a:rPr>
              <a:t>, and </a:t>
            </a:r>
            <a:r>
              <a:rPr sz="1600" dirty="0" err="1">
                <a:solidFill>
                  <a:srgbClr val="FFFFFF"/>
                </a:solidFill>
              </a:rPr>
              <a:t>is_admin</a:t>
            </a:r>
            <a:r>
              <a:rPr sz="1600" dirty="0">
                <a:solidFill>
                  <a:srgbClr val="FFFFFF"/>
                </a:solidFill>
              </a:rPr>
              <a:t>.</a:t>
            </a:r>
          </a:p>
          <a:p>
            <a:pPr>
              <a:lnSpc>
                <a:spcPct val="200000"/>
              </a:lnSpc>
              <a:spcAft>
                <a:spcPts val="0"/>
              </a:spcAft>
              <a:defRPr sz="1400">
                <a:solidFill>
                  <a:srgbClr val="1F2933"/>
                </a:solidFill>
              </a:defRPr>
            </a:pPr>
            <a:r>
              <a:rPr sz="1600" dirty="0">
                <a:solidFill>
                  <a:srgbClr val="FFFFFF"/>
                </a:solidFill>
              </a:rPr>
              <a:t>- List (or Array): An ordered collection of values. Examples include a list of suspicious IP addresses or a list of blocked domains.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Variables in Action: Python Examples</a:t>
            </a:r>
          </a:p>
        </p:txBody>
      </p:sp>
      <p:sp>
        <p:nvSpPr>
          <p:cNvPr id="4" name="TextBox 3"/>
          <p:cNvSpPr txBox="1"/>
          <p:nvPr/>
        </p:nvSpPr>
        <p:spPr>
          <a:xfrm>
            <a:off x="365760" y="1005840"/>
            <a:ext cx="5669280" cy="4533357"/>
          </a:xfrm>
          <a:prstGeom prst="rect">
            <a:avLst/>
          </a:prstGeom>
          <a:noFill/>
        </p:spPr>
        <p:txBody>
          <a:bodyPr wrap="square" tIns="0" bIns="0">
            <a:spAutoFit/>
          </a:bodyPr>
          <a:lstStyle/>
          <a:p>
            <a:pPr>
              <a:lnSpc>
                <a:spcPct val="150000"/>
              </a:lnSpc>
              <a:spcAft>
                <a:spcPts val="100"/>
              </a:spcAft>
              <a:defRPr sz="1200">
                <a:solidFill>
                  <a:srgbClr val="1F2933"/>
                </a:solidFill>
              </a:defRPr>
            </a:pPr>
            <a:r>
              <a:rPr sz="1600" dirty="0">
                <a:solidFill>
                  <a:srgbClr val="FFFFFF"/>
                </a:solidFill>
              </a:rPr>
              <a:t># String variables</a:t>
            </a:r>
          </a:p>
          <a:p>
            <a:pPr>
              <a:lnSpc>
                <a:spcPct val="150000"/>
              </a:lnSpc>
              <a:spcAft>
                <a:spcPts val="100"/>
              </a:spcAft>
              <a:defRPr sz="1200">
                <a:solidFill>
                  <a:srgbClr val="1F2933"/>
                </a:solidFill>
              </a:defRPr>
            </a:pPr>
            <a:r>
              <a:rPr sz="1600" dirty="0" err="1">
                <a:solidFill>
                  <a:srgbClr val="FFFFFF"/>
                </a:solidFill>
              </a:rPr>
              <a:t>student_name</a:t>
            </a:r>
            <a:r>
              <a:rPr sz="1600" dirty="0">
                <a:solidFill>
                  <a:srgbClr val="FFFFFF"/>
                </a:solidFill>
              </a:rPr>
              <a:t> = 'Chanda Mwale'</a:t>
            </a:r>
          </a:p>
          <a:p>
            <a:pPr>
              <a:lnSpc>
                <a:spcPct val="150000"/>
              </a:lnSpc>
              <a:spcAft>
                <a:spcPts val="100"/>
              </a:spcAft>
              <a:defRPr sz="1200">
                <a:solidFill>
                  <a:srgbClr val="1F2933"/>
                </a:solidFill>
              </a:defRPr>
            </a:pPr>
            <a:r>
              <a:rPr sz="1600" dirty="0">
                <a:solidFill>
                  <a:srgbClr val="FFFFFF"/>
                </a:solidFill>
              </a:rPr>
              <a:t>password = 'Zambia@2026'</a:t>
            </a:r>
          </a:p>
          <a:p>
            <a:pPr>
              <a:lnSpc>
                <a:spcPct val="150000"/>
              </a:lnSpc>
              <a:spcAft>
                <a:spcPts val="100"/>
              </a:spcAft>
              <a:defRPr sz="1200">
                <a:solidFill>
                  <a:srgbClr val="1F2933"/>
                </a:solidFill>
              </a:defRPr>
            </a:pPr>
            <a:r>
              <a:rPr sz="1600" dirty="0" err="1">
                <a:solidFill>
                  <a:srgbClr val="FFFFFF"/>
                </a:solidFill>
              </a:rPr>
              <a:t>target_ip</a:t>
            </a:r>
            <a:r>
              <a:rPr sz="1600" dirty="0">
                <a:solidFill>
                  <a:srgbClr val="FFFFFF"/>
                </a:solidFill>
              </a:rPr>
              <a:t> = '192.168.1.50'</a:t>
            </a:r>
          </a:p>
          <a:p>
            <a:pPr>
              <a:lnSpc>
                <a:spcPct val="150000"/>
              </a:lnSpc>
              <a:spcAft>
                <a:spcPts val="100"/>
              </a:spcAft>
              <a:defRPr sz="1200">
                <a:solidFill>
                  <a:srgbClr val="1F2933"/>
                </a:solidFill>
              </a:defRPr>
            </a:pPr>
            <a:endParaRPr sz="1600" dirty="0">
              <a:solidFill>
                <a:srgbClr val="FFFFFF"/>
              </a:solidFill>
            </a:endParaRPr>
          </a:p>
          <a:p>
            <a:pPr>
              <a:lnSpc>
                <a:spcPct val="150000"/>
              </a:lnSpc>
              <a:spcAft>
                <a:spcPts val="100"/>
              </a:spcAft>
              <a:defRPr sz="1200">
                <a:solidFill>
                  <a:srgbClr val="1F2933"/>
                </a:solidFill>
              </a:defRPr>
            </a:pPr>
            <a:r>
              <a:rPr sz="1600" dirty="0">
                <a:solidFill>
                  <a:srgbClr val="FFFFFF"/>
                </a:solidFill>
              </a:rPr>
              <a:t># Integer variables</a:t>
            </a:r>
          </a:p>
          <a:p>
            <a:pPr>
              <a:lnSpc>
                <a:spcPct val="150000"/>
              </a:lnSpc>
              <a:spcAft>
                <a:spcPts val="100"/>
              </a:spcAft>
              <a:defRPr sz="1200">
                <a:solidFill>
                  <a:srgbClr val="1F2933"/>
                </a:solidFill>
              </a:defRPr>
            </a:pPr>
            <a:r>
              <a:rPr sz="1600" dirty="0" err="1">
                <a:solidFill>
                  <a:srgbClr val="FFFFFF"/>
                </a:solidFill>
              </a:rPr>
              <a:t>port_number</a:t>
            </a:r>
            <a:r>
              <a:rPr sz="1600" dirty="0">
                <a:solidFill>
                  <a:srgbClr val="FFFFFF"/>
                </a:solidFill>
              </a:rPr>
              <a:t> = 22</a:t>
            </a:r>
          </a:p>
          <a:p>
            <a:pPr>
              <a:lnSpc>
                <a:spcPct val="150000"/>
              </a:lnSpc>
              <a:spcAft>
                <a:spcPts val="100"/>
              </a:spcAft>
              <a:defRPr sz="1200">
                <a:solidFill>
                  <a:srgbClr val="1F2933"/>
                </a:solidFill>
              </a:defRPr>
            </a:pPr>
            <a:r>
              <a:rPr sz="1600" dirty="0" err="1">
                <a:solidFill>
                  <a:srgbClr val="FFFFFF"/>
                </a:solidFill>
              </a:rPr>
              <a:t>failed_attempts</a:t>
            </a:r>
            <a:r>
              <a:rPr sz="1600" dirty="0">
                <a:solidFill>
                  <a:srgbClr val="FFFFFF"/>
                </a:solidFill>
              </a:rPr>
              <a:t> = 0</a:t>
            </a:r>
          </a:p>
          <a:p>
            <a:pPr>
              <a:lnSpc>
                <a:spcPct val="150000"/>
              </a:lnSpc>
              <a:spcAft>
                <a:spcPts val="100"/>
              </a:spcAft>
              <a:defRPr sz="1200">
                <a:solidFill>
                  <a:srgbClr val="1F2933"/>
                </a:solidFill>
              </a:defRPr>
            </a:pPr>
            <a:r>
              <a:rPr sz="1600" dirty="0" err="1">
                <a:solidFill>
                  <a:srgbClr val="FFFFFF"/>
                </a:solidFill>
              </a:rPr>
              <a:t>max_attempts</a:t>
            </a:r>
            <a:r>
              <a:rPr sz="1600" dirty="0">
                <a:solidFill>
                  <a:srgbClr val="FFFFFF"/>
                </a:solidFill>
              </a:rPr>
              <a:t> = 3</a:t>
            </a:r>
          </a:p>
          <a:p>
            <a:pPr>
              <a:lnSpc>
                <a:spcPct val="150000"/>
              </a:lnSpc>
              <a:spcAft>
                <a:spcPts val="100"/>
              </a:spcAft>
              <a:defRPr sz="1200">
                <a:solidFill>
                  <a:srgbClr val="1F2933"/>
                </a:solidFill>
              </a:defRPr>
            </a:pPr>
            <a:endParaRPr sz="1600" dirty="0">
              <a:solidFill>
                <a:srgbClr val="FFFFFF"/>
              </a:solidFill>
            </a:endParaRPr>
          </a:p>
          <a:p>
            <a:pPr>
              <a:lnSpc>
                <a:spcPct val="150000"/>
              </a:lnSpc>
              <a:spcAft>
                <a:spcPts val="100"/>
              </a:spcAft>
              <a:defRPr sz="1200">
                <a:solidFill>
                  <a:srgbClr val="1F2933"/>
                </a:solidFill>
              </a:defRPr>
            </a:pPr>
            <a:r>
              <a:rPr sz="1600" dirty="0">
                <a:solidFill>
                  <a:srgbClr val="FFFFFF"/>
                </a:solidFill>
              </a:rPr>
              <a:t># Boolean variable</a:t>
            </a:r>
          </a:p>
          <a:p>
            <a:pPr>
              <a:lnSpc>
                <a:spcPct val="150000"/>
              </a:lnSpc>
              <a:spcAft>
                <a:spcPts val="0"/>
              </a:spcAft>
              <a:defRPr sz="1200">
                <a:solidFill>
                  <a:srgbClr val="1F2933"/>
                </a:solidFill>
              </a:defRPr>
            </a:pPr>
            <a:r>
              <a:rPr sz="1600" dirty="0" err="1">
                <a:solidFill>
                  <a:srgbClr val="FFFFFF"/>
                </a:solidFill>
              </a:rPr>
              <a:t>access_granted</a:t>
            </a:r>
            <a:r>
              <a:rPr sz="1600" dirty="0">
                <a:solidFill>
                  <a:srgbClr val="FFFFFF"/>
                </a:solidFill>
              </a:rPr>
              <a:t> = False</a:t>
            </a:r>
          </a:p>
        </p:txBody>
      </p:sp>
      <p:sp>
        <p:nvSpPr>
          <p:cNvPr id="5" name="TextBox 4"/>
          <p:cNvSpPr txBox="1"/>
          <p:nvPr/>
        </p:nvSpPr>
        <p:spPr>
          <a:xfrm>
            <a:off x="6217920" y="1005840"/>
            <a:ext cx="5669280" cy="4915513"/>
          </a:xfrm>
          <a:prstGeom prst="rect">
            <a:avLst/>
          </a:prstGeom>
          <a:noFill/>
        </p:spPr>
        <p:txBody>
          <a:bodyPr wrap="square" tIns="0" bIns="0">
            <a:spAutoFit/>
          </a:bodyPr>
          <a:lstStyle/>
          <a:p>
            <a:pPr>
              <a:lnSpc>
                <a:spcPct val="150000"/>
              </a:lnSpc>
              <a:spcAft>
                <a:spcPts val="100"/>
              </a:spcAft>
              <a:defRPr sz="1200">
                <a:solidFill>
                  <a:srgbClr val="1F2933"/>
                </a:solidFill>
              </a:defRPr>
            </a:pPr>
            <a:r>
              <a:rPr sz="1600" dirty="0">
                <a:solidFill>
                  <a:srgbClr val="FFFFFF"/>
                </a:solidFill>
              </a:rPr>
              <a:t># Float variable</a:t>
            </a:r>
          </a:p>
          <a:p>
            <a:pPr>
              <a:lnSpc>
                <a:spcPct val="150000"/>
              </a:lnSpc>
              <a:spcAft>
                <a:spcPts val="100"/>
              </a:spcAft>
              <a:defRPr sz="1200">
                <a:solidFill>
                  <a:srgbClr val="1F2933"/>
                </a:solidFill>
              </a:defRPr>
            </a:pPr>
            <a:r>
              <a:rPr sz="1600" dirty="0" err="1">
                <a:solidFill>
                  <a:srgbClr val="FFFFFF"/>
                </a:solidFill>
              </a:rPr>
              <a:t>risk_score</a:t>
            </a:r>
            <a:r>
              <a:rPr sz="1600" dirty="0">
                <a:solidFill>
                  <a:srgbClr val="FFFFFF"/>
                </a:solidFill>
              </a:rPr>
              <a:t> = 7.5</a:t>
            </a:r>
          </a:p>
          <a:p>
            <a:pPr>
              <a:lnSpc>
                <a:spcPct val="150000"/>
              </a:lnSpc>
              <a:spcAft>
                <a:spcPts val="100"/>
              </a:spcAft>
              <a:defRPr sz="1200">
                <a:solidFill>
                  <a:srgbClr val="1F2933"/>
                </a:solidFill>
              </a:defRPr>
            </a:pPr>
            <a:endParaRPr sz="1600" dirty="0">
              <a:solidFill>
                <a:srgbClr val="FFFFFF"/>
              </a:solidFill>
            </a:endParaRPr>
          </a:p>
          <a:p>
            <a:pPr>
              <a:lnSpc>
                <a:spcPct val="150000"/>
              </a:lnSpc>
              <a:spcAft>
                <a:spcPts val="100"/>
              </a:spcAft>
              <a:defRPr sz="1200">
                <a:solidFill>
                  <a:srgbClr val="1F2933"/>
                </a:solidFill>
              </a:defRPr>
            </a:pPr>
            <a:r>
              <a:rPr sz="1600" dirty="0">
                <a:solidFill>
                  <a:srgbClr val="FFFFFF"/>
                </a:solidFill>
              </a:rPr>
              <a:t># List variable</a:t>
            </a:r>
          </a:p>
          <a:p>
            <a:pPr>
              <a:lnSpc>
                <a:spcPct val="150000"/>
              </a:lnSpc>
              <a:spcAft>
                <a:spcPts val="100"/>
              </a:spcAft>
              <a:defRPr sz="1200">
                <a:solidFill>
                  <a:srgbClr val="1F2933"/>
                </a:solidFill>
              </a:defRPr>
            </a:pPr>
            <a:r>
              <a:rPr sz="1600" dirty="0" err="1">
                <a:solidFill>
                  <a:srgbClr val="FFFFFF"/>
                </a:solidFill>
              </a:rPr>
              <a:t>blocked_ips</a:t>
            </a:r>
            <a:r>
              <a:rPr sz="1600" dirty="0">
                <a:solidFill>
                  <a:srgbClr val="FFFFFF"/>
                </a:solidFill>
              </a:rPr>
              <a:t> = [</a:t>
            </a:r>
          </a:p>
          <a:p>
            <a:pPr>
              <a:lnSpc>
                <a:spcPct val="150000"/>
              </a:lnSpc>
              <a:spcAft>
                <a:spcPts val="100"/>
              </a:spcAft>
              <a:defRPr sz="1200">
                <a:solidFill>
                  <a:srgbClr val="1F2933"/>
                </a:solidFill>
              </a:defRPr>
            </a:pPr>
            <a:r>
              <a:rPr sz="1600" dirty="0">
                <a:solidFill>
                  <a:srgbClr val="FFFFFF"/>
                </a:solidFill>
              </a:rPr>
              <a:t>    '10.0.0.99',</a:t>
            </a:r>
          </a:p>
          <a:p>
            <a:pPr>
              <a:lnSpc>
                <a:spcPct val="150000"/>
              </a:lnSpc>
              <a:spcAft>
                <a:spcPts val="100"/>
              </a:spcAft>
              <a:defRPr sz="1200">
                <a:solidFill>
                  <a:srgbClr val="1F2933"/>
                </a:solidFill>
              </a:defRPr>
            </a:pPr>
            <a:r>
              <a:rPr sz="1600" dirty="0">
                <a:solidFill>
                  <a:srgbClr val="FFFFFF"/>
                </a:solidFill>
              </a:rPr>
              <a:t>    '192.168.1.200',</a:t>
            </a:r>
          </a:p>
          <a:p>
            <a:pPr>
              <a:lnSpc>
                <a:spcPct val="150000"/>
              </a:lnSpc>
              <a:spcAft>
                <a:spcPts val="100"/>
              </a:spcAft>
              <a:defRPr sz="1200">
                <a:solidFill>
                  <a:srgbClr val="1F2933"/>
                </a:solidFill>
              </a:defRPr>
            </a:pPr>
            <a:r>
              <a:rPr sz="1600" dirty="0">
                <a:solidFill>
                  <a:srgbClr val="FFFFFF"/>
                </a:solidFill>
              </a:rPr>
              <a:t>    '172.16.0.15'</a:t>
            </a:r>
          </a:p>
          <a:p>
            <a:pPr>
              <a:lnSpc>
                <a:spcPct val="150000"/>
              </a:lnSpc>
              <a:spcAft>
                <a:spcPts val="100"/>
              </a:spcAft>
              <a:defRPr sz="1200">
                <a:solidFill>
                  <a:srgbClr val="1F2933"/>
                </a:solidFill>
              </a:defRPr>
            </a:pPr>
            <a:r>
              <a:rPr sz="1600" dirty="0">
                <a:solidFill>
                  <a:srgbClr val="FFFFFF"/>
                </a:solidFill>
              </a:rPr>
              <a:t>]</a:t>
            </a:r>
          </a:p>
          <a:p>
            <a:pPr>
              <a:lnSpc>
                <a:spcPct val="150000"/>
              </a:lnSpc>
              <a:spcAft>
                <a:spcPts val="100"/>
              </a:spcAft>
              <a:defRPr sz="1200">
                <a:solidFill>
                  <a:srgbClr val="1F2933"/>
                </a:solidFill>
              </a:defRPr>
            </a:pPr>
            <a:endParaRPr sz="1600" dirty="0">
              <a:solidFill>
                <a:srgbClr val="FFFFFF"/>
              </a:solidFill>
            </a:endParaRPr>
          </a:p>
          <a:p>
            <a:pPr>
              <a:lnSpc>
                <a:spcPct val="150000"/>
              </a:lnSpc>
              <a:spcAft>
                <a:spcPts val="100"/>
              </a:spcAft>
              <a:defRPr sz="1200">
                <a:solidFill>
                  <a:srgbClr val="1F2933"/>
                </a:solidFill>
              </a:defRPr>
            </a:pPr>
            <a:r>
              <a:rPr sz="1600" dirty="0">
                <a:solidFill>
                  <a:srgbClr val="FFFFFF"/>
                </a:solidFill>
              </a:rPr>
              <a:t># Print a variable</a:t>
            </a:r>
          </a:p>
          <a:p>
            <a:pPr>
              <a:lnSpc>
                <a:spcPct val="150000"/>
              </a:lnSpc>
              <a:spcAft>
                <a:spcPts val="100"/>
              </a:spcAft>
              <a:defRPr sz="1200">
                <a:solidFill>
                  <a:srgbClr val="1F2933"/>
                </a:solidFill>
              </a:defRPr>
            </a:pPr>
            <a:r>
              <a:rPr sz="1600" dirty="0">
                <a:solidFill>
                  <a:srgbClr val="FFFFFF"/>
                </a:solidFill>
              </a:rPr>
              <a:t>print('Target:', </a:t>
            </a:r>
            <a:r>
              <a:rPr sz="1600" dirty="0" err="1">
                <a:solidFill>
                  <a:srgbClr val="FFFFFF"/>
                </a:solidFill>
              </a:rPr>
              <a:t>target_ip</a:t>
            </a:r>
            <a:r>
              <a:rPr sz="1600" dirty="0">
                <a:solidFill>
                  <a:srgbClr val="FFFFFF"/>
                </a:solidFill>
              </a:rPr>
              <a:t>)</a:t>
            </a:r>
          </a:p>
          <a:p>
            <a:pPr>
              <a:lnSpc>
                <a:spcPct val="150000"/>
              </a:lnSpc>
              <a:spcAft>
                <a:spcPts val="0"/>
              </a:spcAft>
              <a:defRPr sz="1200">
                <a:solidFill>
                  <a:srgbClr val="1F2933"/>
                </a:solidFill>
              </a:defRPr>
            </a:pPr>
            <a:r>
              <a:rPr sz="1600" dirty="0">
                <a:solidFill>
                  <a:srgbClr val="FFFFFF"/>
                </a:solidFill>
              </a:rPr>
              <a:t>print('Port:', </a:t>
            </a:r>
            <a:r>
              <a:rPr sz="1600" dirty="0" err="1">
                <a:solidFill>
                  <a:srgbClr val="FFFFFF"/>
                </a:solidFill>
              </a:rPr>
              <a:t>port_number</a:t>
            </a:r>
            <a:r>
              <a:rPr sz="1600" dirty="0">
                <a:solidFill>
                  <a:srgbClr val="FFFFFF"/>
                </a:solidFil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Control Structures: If/Else Statements</a:t>
            </a:r>
          </a:p>
        </p:txBody>
      </p:sp>
      <p:sp>
        <p:nvSpPr>
          <p:cNvPr id="4" name="TextBox 3"/>
          <p:cNvSpPr txBox="1"/>
          <p:nvPr/>
        </p:nvSpPr>
        <p:spPr>
          <a:xfrm>
            <a:off x="365760" y="1024128"/>
            <a:ext cx="11430000" cy="4507709"/>
          </a:xfrm>
          <a:prstGeom prst="rect">
            <a:avLst/>
          </a:prstGeom>
          <a:noFill/>
        </p:spPr>
        <p:txBody>
          <a:bodyPr wrap="square" tIns="0" bIns="0">
            <a:spAutoFit/>
          </a:bodyPr>
          <a:lstStyle/>
          <a:p>
            <a:pPr>
              <a:lnSpc>
                <a:spcPct val="150000"/>
              </a:lnSpc>
              <a:spcAft>
                <a:spcPts val="100"/>
              </a:spcAft>
              <a:defRPr sz="1400">
                <a:solidFill>
                  <a:srgbClr val="1F2933"/>
                </a:solidFill>
              </a:defRPr>
            </a:pPr>
            <a:r>
              <a:rPr sz="1600" dirty="0">
                <a:solidFill>
                  <a:srgbClr val="FFFFFF"/>
                </a:solidFill>
              </a:rPr>
              <a:t>- Programs need to make decisions based on conditions. The if/else statement is the most basic decision-making structure in programming.</a:t>
            </a:r>
          </a:p>
          <a:p>
            <a:pPr>
              <a:lnSpc>
                <a:spcPct val="150000"/>
              </a:lnSpc>
              <a:spcAft>
                <a:spcPts val="100"/>
              </a:spcAft>
              <a:defRPr sz="1400">
                <a:solidFill>
                  <a:srgbClr val="1F2933"/>
                </a:solidFill>
              </a:defRPr>
            </a:pPr>
            <a:r>
              <a:rPr sz="1600" dirty="0">
                <a:solidFill>
                  <a:srgbClr val="FFFFFF"/>
                </a:solidFill>
              </a:rPr>
              <a:t>- The program checks a condition. If the condition is true, it runs one block of code. If the condition is false, it runs a different block (or skips the action entirely).</a:t>
            </a:r>
          </a:p>
          <a:p>
            <a:pPr>
              <a:lnSpc>
                <a:spcPct val="150000"/>
              </a:lnSpc>
              <a:spcAft>
                <a:spcPts val="100"/>
              </a:spcAft>
              <a:defRPr sz="1400">
                <a:solidFill>
                  <a:srgbClr val="1F2933"/>
                </a:solidFill>
              </a:defRPr>
            </a:pPr>
            <a:r>
              <a:rPr sz="1600" dirty="0">
                <a:solidFill>
                  <a:srgbClr val="FFFFFF"/>
                </a:solidFill>
              </a:rPr>
              <a:t>- In cybersecurity, if/else logic is used everywhere: checking passwords, validating user input, enforcing access controls, and triggering alerts.</a:t>
            </a:r>
          </a:p>
          <a:p>
            <a:pPr>
              <a:lnSpc>
                <a:spcPct val="150000"/>
              </a:lnSpc>
              <a:spcAft>
                <a:spcPts val="100"/>
              </a:spcAft>
              <a:defRPr sz="1400">
                <a:solidFill>
                  <a:srgbClr val="1F2933"/>
                </a:solidFill>
              </a:defRPr>
            </a:pPr>
            <a:endParaRPr sz="1600" dirty="0">
              <a:solidFill>
                <a:srgbClr val="FFFFFF"/>
              </a:solidFill>
            </a:endParaRPr>
          </a:p>
          <a:p>
            <a:pPr>
              <a:lnSpc>
                <a:spcPct val="150000"/>
              </a:lnSpc>
              <a:spcAft>
                <a:spcPts val="100"/>
              </a:spcAft>
              <a:defRPr sz="1400">
                <a:solidFill>
                  <a:srgbClr val="1F2933"/>
                </a:solidFill>
              </a:defRPr>
            </a:pPr>
            <a:r>
              <a:rPr sz="1600" dirty="0">
                <a:solidFill>
                  <a:srgbClr val="FFFFFF"/>
                </a:solidFill>
              </a:rPr>
              <a:t>Example - Password Check:</a:t>
            </a:r>
          </a:p>
          <a:p>
            <a:pPr>
              <a:lnSpc>
                <a:spcPct val="150000"/>
              </a:lnSpc>
              <a:spcAft>
                <a:spcPts val="100"/>
              </a:spcAft>
              <a:defRPr sz="1400">
                <a:solidFill>
                  <a:srgbClr val="1F2933"/>
                </a:solidFill>
              </a:defRPr>
            </a:pPr>
            <a:r>
              <a:rPr sz="1600" dirty="0">
                <a:solidFill>
                  <a:srgbClr val="FFFFFF"/>
                </a:solidFill>
              </a:rPr>
              <a:t>  password = input('Enter password: ')</a:t>
            </a:r>
          </a:p>
          <a:p>
            <a:pPr>
              <a:lnSpc>
                <a:spcPct val="150000"/>
              </a:lnSpc>
              <a:spcAft>
                <a:spcPts val="100"/>
              </a:spcAft>
              <a:defRPr sz="1400">
                <a:solidFill>
                  <a:srgbClr val="1F2933"/>
                </a:solidFill>
              </a:defRPr>
            </a:pPr>
            <a:r>
              <a:rPr sz="1600" dirty="0">
                <a:solidFill>
                  <a:srgbClr val="FFFFFF"/>
                </a:solidFill>
              </a:rPr>
              <a:t>  if password == 'Secure@2026':</a:t>
            </a:r>
          </a:p>
          <a:p>
            <a:pPr>
              <a:lnSpc>
                <a:spcPct val="150000"/>
              </a:lnSpc>
              <a:spcAft>
                <a:spcPts val="100"/>
              </a:spcAft>
              <a:defRPr sz="1400">
                <a:solidFill>
                  <a:srgbClr val="1F2933"/>
                </a:solidFill>
              </a:defRPr>
            </a:pPr>
            <a:r>
              <a:rPr sz="1600" dirty="0">
                <a:solidFill>
                  <a:srgbClr val="FFFFFF"/>
                </a:solidFill>
              </a:rPr>
              <a:t>      print('Access granted')</a:t>
            </a:r>
          </a:p>
          <a:p>
            <a:pPr>
              <a:lnSpc>
                <a:spcPct val="150000"/>
              </a:lnSpc>
              <a:spcAft>
                <a:spcPts val="100"/>
              </a:spcAft>
              <a:defRPr sz="1400">
                <a:solidFill>
                  <a:srgbClr val="1F2933"/>
                </a:solidFill>
              </a:defRPr>
            </a:pPr>
            <a:r>
              <a:rPr sz="1600" dirty="0">
                <a:solidFill>
                  <a:srgbClr val="FFFFFF"/>
                </a:solidFill>
              </a:rPr>
              <a:t>  else:</a:t>
            </a:r>
          </a:p>
          <a:p>
            <a:pPr>
              <a:lnSpc>
                <a:spcPct val="150000"/>
              </a:lnSpc>
              <a:spcAft>
                <a:spcPts val="0"/>
              </a:spcAft>
              <a:defRPr sz="1400">
                <a:solidFill>
                  <a:srgbClr val="1F2933"/>
                </a:solidFill>
              </a:defRPr>
            </a:pPr>
            <a:r>
              <a:rPr sz="1600" dirty="0">
                <a:solidFill>
                  <a:srgbClr val="FFFFFF"/>
                </a:solidFill>
              </a:rPr>
              <a:t>      print('Access denied')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Control Structures: Loops</a:t>
            </a:r>
          </a:p>
        </p:txBody>
      </p:sp>
      <p:sp>
        <p:nvSpPr>
          <p:cNvPr id="4" name="TextBox 3"/>
          <p:cNvSpPr txBox="1"/>
          <p:nvPr/>
        </p:nvSpPr>
        <p:spPr>
          <a:xfrm>
            <a:off x="365760" y="1024128"/>
            <a:ext cx="11430000" cy="4119076"/>
          </a:xfrm>
          <a:prstGeom prst="rect">
            <a:avLst/>
          </a:prstGeom>
          <a:noFill/>
        </p:spPr>
        <p:txBody>
          <a:bodyPr wrap="square" tIns="0" bIns="0">
            <a:spAutoFit/>
          </a:bodyPr>
          <a:lstStyle/>
          <a:p>
            <a:pPr>
              <a:spcAft>
                <a:spcPts val="100"/>
              </a:spcAft>
              <a:defRPr sz="1400">
                <a:solidFill>
                  <a:srgbClr val="1F2933"/>
                </a:solidFill>
              </a:defRPr>
            </a:pPr>
            <a:r>
              <a:rPr sz="1600" dirty="0">
                <a:solidFill>
                  <a:srgbClr val="FFFFFF"/>
                </a:solidFill>
              </a:rPr>
              <a:t>- A loop allows a program to repeat a block of code multiple times. This is essential for tasks that involve repetition, such as checking multiple login attempts or scanning a list of network ports.</a:t>
            </a:r>
          </a:p>
          <a:p>
            <a:pPr>
              <a:spcAft>
                <a:spcPts val="100"/>
              </a:spcAft>
              <a:defRPr sz="1400">
                <a:solidFill>
                  <a:srgbClr val="1F2933"/>
                </a:solidFill>
              </a:defRPr>
            </a:pPr>
            <a:r>
              <a:rPr sz="1600" dirty="0">
                <a:solidFill>
                  <a:srgbClr val="FFFFFF"/>
                </a:solidFill>
              </a:rPr>
              <a:t>- A while loop continues running as long as a specified condition remains true.</a:t>
            </a:r>
          </a:p>
          <a:p>
            <a:pPr>
              <a:spcAft>
                <a:spcPts val="100"/>
              </a:spcAft>
              <a:defRPr sz="1400">
                <a:solidFill>
                  <a:srgbClr val="1F2933"/>
                </a:solidFill>
              </a:defRPr>
            </a:pPr>
            <a:endParaRPr sz="1600" dirty="0">
              <a:solidFill>
                <a:srgbClr val="FFFFFF"/>
              </a:solidFill>
            </a:endParaRPr>
          </a:p>
          <a:p>
            <a:pPr>
              <a:spcAft>
                <a:spcPts val="100"/>
              </a:spcAft>
              <a:defRPr sz="1400">
                <a:solidFill>
                  <a:srgbClr val="1F2933"/>
                </a:solidFill>
              </a:defRPr>
            </a:pPr>
            <a:r>
              <a:rPr sz="1600" dirty="0">
                <a:solidFill>
                  <a:srgbClr val="FFFFFF"/>
                </a:solidFill>
              </a:rPr>
              <a:t>Example - Account Lockout Policy:</a:t>
            </a:r>
          </a:p>
          <a:p>
            <a:pPr>
              <a:spcAft>
                <a:spcPts val="100"/>
              </a:spcAft>
              <a:defRPr sz="1400">
                <a:solidFill>
                  <a:srgbClr val="1F2933"/>
                </a:solidFill>
              </a:defRPr>
            </a:pPr>
            <a:r>
              <a:rPr sz="1600" dirty="0">
                <a:solidFill>
                  <a:srgbClr val="FFFFFF"/>
                </a:solidFill>
              </a:rPr>
              <a:t>  attempts = 0</a:t>
            </a:r>
          </a:p>
          <a:p>
            <a:pPr>
              <a:spcAft>
                <a:spcPts val="100"/>
              </a:spcAft>
              <a:defRPr sz="1400">
                <a:solidFill>
                  <a:srgbClr val="1F2933"/>
                </a:solidFill>
              </a:defRPr>
            </a:pPr>
            <a:r>
              <a:rPr sz="1600" dirty="0">
                <a:solidFill>
                  <a:srgbClr val="FFFFFF"/>
                </a:solidFill>
              </a:rPr>
              <a:t>  while attempts &lt; 3:</a:t>
            </a:r>
          </a:p>
          <a:p>
            <a:pPr>
              <a:spcAft>
                <a:spcPts val="100"/>
              </a:spcAft>
              <a:defRPr sz="1400">
                <a:solidFill>
                  <a:srgbClr val="1F2933"/>
                </a:solidFill>
              </a:defRPr>
            </a:pPr>
            <a:r>
              <a:rPr sz="1600" dirty="0">
                <a:solidFill>
                  <a:srgbClr val="FFFFFF"/>
                </a:solidFill>
              </a:rPr>
              <a:t>      password = input('Enter password: ')</a:t>
            </a:r>
          </a:p>
          <a:p>
            <a:pPr>
              <a:spcAft>
                <a:spcPts val="100"/>
              </a:spcAft>
              <a:defRPr sz="1400">
                <a:solidFill>
                  <a:srgbClr val="1F2933"/>
                </a:solidFill>
              </a:defRPr>
            </a:pPr>
            <a:r>
              <a:rPr sz="1600" dirty="0">
                <a:solidFill>
                  <a:srgbClr val="FFFFFF"/>
                </a:solidFill>
              </a:rPr>
              <a:t>      if password == 'Secure@2026':</a:t>
            </a:r>
          </a:p>
          <a:p>
            <a:pPr>
              <a:spcAft>
                <a:spcPts val="100"/>
              </a:spcAft>
              <a:defRPr sz="1400">
                <a:solidFill>
                  <a:srgbClr val="1F2933"/>
                </a:solidFill>
              </a:defRPr>
            </a:pPr>
            <a:r>
              <a:rPr sz="1600" dirty="0">
                <a:solidFill>
                  <a:srgbClr val="FFFFFF"/>
                </a:solidFill>
              </a:rPr>
              <a:t>          print('Access granted')</a:t>
            </a:r>
          </a:p>
          <a:p>
            <a:pPr>
              <a:spcAft>
                <a:spcPts val="100"/>
              </a:spcAft>
              <a:defRPr sz="1400">
                <a:solidFill>
                  <a:srgbClr val="1F2933"/>
                </a:solidFill>
              </a:defRPr>
            </a:pPr>
            <a:r>
              <a:rPr sz="1600" dirty="0">
                <a:solidFill>
                  <a:srgbClr val="FFFFFF"/>
                </a:solidFill>
              </a:rPr>
              <a:t>          break</a:t>
            </a:r>
          </a:p>
          <a:p>
            <a:pPr>
              <a:spcAft>
                <a:spcPts val="100"/>
              </a:spcAft>
              <a:defRPr sz="1400">
                <a:solidFill>
                  <a:srgbClr val="1F2933"/>
                </a:solidFill>
              </a:defRPr>
            </a:pPr>
            <a:r>
              <a:rPr sz="1600" dirty="0">
                <a:solidFill>
                  <a:srgbClr val="FFFFFF"/>
                </a:solidFill>
              </a:rPr>
              <a:t>      else:</a:t>
            </a:r>
          </a:p>
          <a:p>
            <a:pPr>
              <a:spcAft>
                <a:spcPts val="100"/>
              </a:spcAft>
              <a:defRPr sz="1400">
                <a:solidFill>
                  <a:srgbClr val="1F2933"/>
                </a:solidFill>
              </a:defRPr>
            </a:pPr>
            <a:r>
              <a:rPr sz="1600" dirty="0">
                <a:solidFill>
                  <a:srgbClr val="FFFFFF"/>
                </a:solidFill>
              </a:rPr>
              <a:t>          attempts = attempts + 1</a:t>
            </a:r>
          </a:p>
          <a:p>
            <a:pPr>
              <a:spcAft>
                <a:spcPts val="100"/>
              </a:spcAft>
              <a:defRPr sz="1400">
                <a:solidFill>
                  <a:srgbClr val="1F2933"/>
                </a:solidFill>
              </a:defRPr>
            </a:pPr>
            <a:r>
              <a:rPr sz="1600" dirty="0">
                <a:solidFill>
                  <a:srgbClr val="FFFFFF"/>
                </a:solidFill>
              </a:rPr>
              <a:t>          print('Wrong password. Attempt', attempts, 'of 3')</a:t>
            </a:r>
          </a:p>
          <a:p>
            <a:pPr>
              <a:spcAft>
                <a:spcPts val="100"/>
              </a:spcAft>
              <a:defRPr sz="1400">
                <a:solidFill>
                  <a:srgbClr val="1F2933"/>
                </a:solidFill>
              </a:defRPr>
            </a:pPr>
            <a:r>
              <a:rPr sz="1600" dirty="0">
                <a:solidFill>
                  <a:srgbClr val="FFFFFF"/>
                </a:solidFill>
              </a:rPr>
              <a:t>  if attempts == 3:</a:t>
            </a:r>
          </a:p>
          <a:p>
            <a:pPr>
              <a:spcAft>
                <a:spcPts val="0"/>
              </a:spcAft>
              <a:defRPr sz="1400">
                <a:solidFill>
                  <a:srgbClr val="1F2933"/>
                </a:solidFill>
              </a:defRPr>
            </a:pPr>
            <a:r>
              <a:rPr sz="1600" dirty="0">
                <a:solidFill>
                  <a:srgbClr val="FFFFFF"/>
                </a:solidFill>
              </a:rPr>
              <a:t>      print('Account locked. Too many failed attempts.')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Functions: Reusable Blocks of Code</a:t>
            </a:r>
          </a:p>
        </p:txBody>
      </p:sp>
      <p:sp>
        <p:nvSpPr>
          <p:cNvPr id="4" name="TextBox 3"/>
          <p:cNvSpPr txBox="1"/>
          <p:nvPr/>
        </p:nvSpPr>
        <p:spPr>
          <a:xfrm>
            <a:off x="365760" y="1024128"/>
            <a:ext cx="11430000" cy="4365298"/>
          </a:xfrm>
          <a:prstGeom prst="rect">
            <a:avLst/>
          </a:prstGeom>
          <a:noFill/>
        </p:spPr>
        <p:txBody>
          <a:bodyPr wrap="square" tIns="0" bIns="0">
            <a:spAutoFit/>
          </a:bodyPr>
          <a:lstStyle/>
          <a:p>
            <a:pPr>
              <a:spcAft>
                <a:spcPts val="100"/>
              </a:spcAft>
              <a:defRPr sz="1400">
                <a:solidFill>
                  <a:srgbClr val="1F2933"/>
                </a:solidFill>
              </a:defRPr>
            </a:pPr>
            <a:r>
              <a:rPr sz="1600" dirty="0">
                <a:solidFill>
                  <a:srgbClr val="FFFFFF"/>
                </a:solidFill>
              </a:rPr>
              <a:t>- A function is a named block of code that performs a specific task. Once defined, it can be called (used) multiple times without rewriting the code.</a:t>
            </a:r>
          </a:p>
          <a:p>
            <a:pPr>
              <a:spcAft>
                <a:spcPts val="100"/>
              </a:spcAft>
              <a:defRPr sz="1400">
                <a:solidFill>
                  <a:srgbClr val="1F2933"/>
                </a:solidFill>
              </a:defRPr>
            </a:pPr>
            <a:r>
              <a:rPr sz="1600" dirty="0">
                <a:solidFill>
                  <a:srgbClr val="FFFFFF"/>
                </a:solidFill>
              </a:rPr>
              <a:t>- Functions make programs easier to read, maintain, and debug.</a:t>
            </a:r>
          </a:p>
          <a:p>
            <a:pPr>
              <a:spcAft>
                <a:spcPts val="100"/>
              </a:spcAft>
              <a:defRPr sz="1400">
                <a:solidFill>
                  <a:srgbClr val="1F2933"/>
                </a:solidFill>
              </a:defRPr>
            </a:pPr>
            <a:r>
              <a:rPr sz="1600" dirty="0">
                <a:solidFill>
                  <a:srgbClr val="FFFFFF"/>
                </a:solidFill>
              </a:rPr>
              <a:t>- In cybersecurity, functions are used to create reusable security checks, such as validating passwords, formatting log entries, or calculating risk scores.</a:t>
            </a:r>
          </a:p>
          <a:p>
            <a:pPr>
              <a:spcAft>
                <a:spcPts val="100"/>
              </a:spcAft>
              <a:defRPr sz="1400">
                <a:solidFill>
                  <a:srgbClr val="1F2933"/>
                </a:solidFill>
              </a:defRPr>
            </a:pPr>
            <a:endParaRPr sz="1600" dirty="0">
              <a:solidFill>
                <a:srgbClr val="FFFFFF"/>
              </a:solidFill>
            </a:endParaRPr>
          </a:p>
          <a:p>
            <a:pPr>
              <a:spcAft>
                <a:spcPts val="100"/>
              </a:spcAft>
              <a:defRPr sz="1400">
                <a:solidFill>
                  <a:srgbClr val="1F2933"/>
                </a:solidFill>
              </a:defRPr>
            </a:pPr>
            <a:r>
              <a:rPr sz="1600" dirty="0">
                <a:solidFill>
                  <a:srgbClr val="FFFFFF"/>
                </a:solidFill>
              </a:rPr>
              <a:t>Example - Password Strength Checker:</a:t>
            </a:r>
          </a:p>
          <a:p>
            <a:pPr>
              <a:spcAft>
                <a:spcPts val="100"/>
              </a:spcAft>
              <a:defRPr sz="1400">
                <a:solidFill>
                  <a:srgbClr val="1F2933"/>
                </a:solidFill>
              </a:defRPr>
            </a:pPr>
            <a:r>
              <a:rPr sz="1600" dirty="0">
                <a:solidFill>
                  <a:srgbClr val="FFFFFF"/>
                </a:solidFill>
              </a:rPr>
              <a:t>  def </a:t>
            </a:r>
            <a:r>
              <a:rPr sz="1600" dirty="0" err="1">
                <a:solidFill>
                  <a:srgbClr val="FFFFFF"/>
                </a:solidFill>
              </a:rPr>
              <a:t>check_password_strength</a:t>
            </a:r>
            <a:r>
              <a:rPr sz="1600" dirty="0">
                <a:solidFill>
                  <a:srgbClr val="FFFFFF"/>
                </a:solidFill>
              </a:rPr>
              <a:t>(password):</a:t>
            </a:r>
          </a:p>
          <a:p>
            <a:pPr>
              <a:spcAft>
                <a:spcPts val="100"/>
              </a:spcAft>
              <a:defRPr sz="1400">
                <a:solidFill>
                  <a:srgbClr val="1F2933"/>
                </a:solidFill>
              </a:defRPr>
            </a:pPr>
            <a:r>
              <a:rPr sz="1600" dirty="0">
                <a:solidFill>
                  <a:srgbClr val="FFFFFF"/>
                </a:solidFill>
              </a:rPr>
              <a:t>      if </a:t>
            </a:r>
            <a:r>
              <a:rPr sz="1600" dirty="0" err="1">
                <a:solidFill>
                  <a:srgbClr val="FFFFFF"/>
                </a:solidFill>
              </a:rPr>
              <a:t>len</a:t>
            </a:r>
            <a:r>
              <a:rPr sz="1600" dirty="0">
                <a:solidFill>
                  <a:srgbClr val="FFFFFF"/>
                </a:solidFill>
              </a:rPr>
              <a:t>(password) &lt; 8:</a:t>
            </a:r>
          </a:p>
          <a:p>
            <a:pPr>
              <a:spcAft>
                <a:spcPts val="100"/>
              </a:spcAft>
              <a:defRPr sz="1400">
                <a:solidFill>
                  <a:srgbClr val="1F2933"/>
                </a:solidFill>
              </a:defRPr>
            </a:pPr>
            <a:r>
              <a:rPr sz="1600" dirty="0">
                <a:solidFill>
                  <a:srgbClr val="FFFFFF"/>
                </a:solidFill>
              </a:rPr>
              <a:t>          return 'Weak - too short'</a:t>
            </a:r>
          </a:p>
          <a:p>
            <a:pPr>
              <a:spcAft>
                <a:spcPts val="100"/>
              </a:spcAft>
              <a:defRPr sz="1400">
                <a:solidFill>
                  <a:srgbClr val="1F2933"/>
                </a:solidFill>
              </a:defRPr>
            </a:pPr>
            <a:r>
              <a:rPr sz="1600" dirty="0">
                <a:solidFill>
                  <a:srgbClr val="FFFFFF"/>
                </a:solidFill>
              </a:rPr>
              <a:t>      </a:t>
            </a:r>
            <a:r>
              <a:rPr sz="1600" dirty="0" err="1">
                <a:solidFill>
                  <a:srgbClr val="FFFFFF"/>
                </a:solidFill>
              </a:rPr>
              <a:t>elif</a:t>
            </a:r>
            <a:r>
              <a:rPr sz="1600" dirty="0">
                <a:solidFill>
                  <a:srgbClr val="FFFFFF"/>
                </a:solidFill>
              </a:rPr>
              <a:t> </a:t>
            </a:r>
            <a:r>
              <a:rPr sz="1600" dirty="0" err="1">
                <a:solidFill>
                  <a:srgbClr val="FFFFFF"/>
                </a:solidFill>
              </a:rPr>
              <a:t>password.isalpha</a:t>
            </a:r>
            <a:r>
              <a:rPr sz="1600" dirty="0">
                <a:solidFill>
                  <a:srgbClr val="FFFFFF"/>
                </a:solidFill>
              </a:rPr>
              <a:t>():</a:t>
            </a:r>
          </a:p>
          <a:p>
            <a:pPr>
              <a:spcAft>
                <a:spcPts val="100"/>
              </a:spcAft>
              <a:defRPr sz="1400">
                <a:solidFill>
                  <a:srgbClr val="1F2933"/>
                </a:solidFill>
              </a:defRPr>
            </a:pPr>
            <a:r>
              <a:rPr sz="1600" dirty="0">
                <a:solidFill>
                  <a:srgbClr val="FFFFFF"/>
                </a:solidFill>
              </a:rPr>
              <a:t>          return 'Weak - letters only'</a:t>
            </a:r>
          </a:p>
          <a:p>
            <a:pPr>
              <a:spcAft>
                <a:spcPts val="100"/>
              </a:spcAft>
              <a:defRPr sz="1400">
                <a:solidFill>
                  <a:srgbClr val="1F2933"/>
                </a:solidFill>
              </a:defRPr>
            </a:pPr>
            <a:r>
              <a:rPr sz="1600" dirty="0">
                <a:solidFill>
                  <a:srgbClr val="FFFFFF"/>
                </a:solidFill>
              </a:rPr>
              <a:t>      else:</a:t>
            </a:r>
          </a:p>
          <a:p>
            <a:pPr>
              <a:spcAft>
                <a:spcPts val="100"/>
              </a:spcAft>
              <a:defRPr sz="1400">
                <a:solidFill>
                  <a:srgbClr val="1F2933"/>
                </a:solidFill>
              </a:defRPr>
            </a:pPr>
            <a:r>
              <a:rPr sz="1600" dirty="0">
                <a:solidFill>
                  <a:srgbClr val="FFFFFF"/>
                </a:solidFill>
              </a:rPr>
              <a:t>          return 'Strong'</a:t>
            </a:r>
          </a:p>
          <a:p>
            <a:pPr>
              <a:spcAft>
                <a:spcPts val="100"/>
              </a:spcAft>
              <a:defRPr sz="1400">
                <a:solidFill>
                  <a:srgbClr val="1F2933"/>
                </a:solidFill>
              </a:defRPr>
            </a:pPr>
            <a:endParaRPr sz="1600" dirty="0">
              <a:solidFill>
                <a:srgbClr val="FFFFFF"/>
              </a:solidFill>
            </a:endParaRPr>
          </a:p>
          <a:p>
            <a:pPr>
              <a:spcAft>
                <a:spcPts val="100"/>
              </a:spcAft>
              <a:defRPr sz="1400">
                <a:solidFill>
                  <a:srgbClr val="1F2933"/>
                </a:solidFill>
              </a:defRPr>
            </a:pPr>
            <a:r>
              <a:rPr sz="1600" dirty="0">
                <a:solidFill>
                  <a:srgbClr val="FFFFFF"/>
                </a:solidFill>
              </a:rPr>
              <a:t>  result = </a:t>
            </a:r>
            <a:r>
              <a:rPr sz="1600" dirty="0" err="1">
                <a:solidFill>
                  <a:srgbClr val="FFFFFF"/>
                </a:solidFill>
              </a:rPr>
              <a:t>check_password_strength</a:t>
            </a:r>
            <a:r>
              <a:rPr sz="1600" dirty="0">
                <a:solidFill>
                  <a:srgbClr val="FFFFFF"/>
                </a:solidFill>
              </a:rPr>
              <a:t>('Zambia@2026')</a:t>
            </a:r>
          </a:p>
          <a:p>
            <a:pPr>
              <a:spcAft>
                <a:spcPts val="0"/>
              </a:spcAft>
              <a:defRPr sz="1400">
                <a:solidFill>
                  <a:srgbClr val="1F2933"/>
                </a:solidFill>
              </a:defRPr>
            </a:pPr>
            <a:r>
              <a:rPr sz="1600" dirty="0">
                <a:solidFill>
                  <a:srgbClr val="FFFFFF"/>
                </a:solidFill>
              </a:rPr>
              <a:t>  print(result)  # Output: Strong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Pseudocode: Planning Before Coding</a:t>
            </a:r>
          </a:p>
        </p:txBody>
      </p:sp>
      <p:sp>
        <p:nvSpPr>
          <p:cNvPr id="4" name="TextBox 3"/>
          <p:cNvSpPr txBox="1"/>
          <p:nvPr/>
        </p:nvSpPr>
        <p:spPr>
          <a:xfrm>
            <a:off x="365760" y="1024128"/>
            <a:ext cx="11430000" cy="5945217"/>
          </a:xfrm>
          <a:prstGeom prst="rect">
            <a:avLst/>
          </a:prstGeom>
          <a:noFill/>
        </p:spPr>
        <p:txBody>
          <a:bodyPr wrap="square" tIns="0" bIns="0">
            <a:spAutoFit/>
          </a:bodyPr>
          <a:lstStyle/>
          <a:p>
            <a:pPr>
              <a:lnSpc>
                <a:spcPct val="100000"/>
              </a:lnSpc>
              <a:spcAft>
                <a:spcPts val="100"/>
              </a:spcAft>
              <a:defRPr sz="1400">
                <a:solidFill>
                  <a:srgbClr val="1F2933"/>
                </a:solidFill>
              </a:defRPr>
            </a:pPr>
            <a:r>
              <a:rPr sz="1600" dirty="0">
                <a:solidFill>
                  <a:srgbClr val="FFFFFF"/>
                </a:solidFill>
              </a:rPr>
              <a:t>- Pseudocode is a plain-language description of the steps a program will take, written before any actual code.</a:t>
            </a:r>
          </a:p>
          <a:p>
            <a:pPr>
              <a:lnSpc>
                <a:spcPct val="100000"/>
              </a:lnSpc>
              <a:spcAft>
                <a:spcPts val="100"/>
              </a:spcAft>
              <a:defRPr sz="1400">
                <a:solidFill>
                  <a:srgbClr val="1F2933"/>
                </a:solidFill>
              </a:defRPr>
            </a:pPr>
            <a:r>
              <a:rPr sz="1600" dirty="0">
                <a:solidFill>
                  <a:srgbClr val="FFFFFF"/>
                </a:solidFill>
              </a:rPr>
              <a:t>- It helps programmers think through the logic without worrying about the exact syntax of a programming language.</a:t>
            </a:r>
          </a:p>
          <a:p>
            <a:pPr>
              <a:lnSpc>
                <a:spcPct val="100000"/>
              </a:lnSpc>
              <a:spcAft>
                <a:spcPts val="100"/>
              </a:spcAft>
              <a:defRPr sz="1400">
                <a:solidFill>
                  <a:srgbClr val="1F2933"/>
                </a:solidFill>
              </a:defRPr>
            </a:pPr>
            <a:r>
              <a:rPr sz="1600" dirty="0">
                <a:solidFill>
                  <a:srgbClr val="FFFFFF"/>
                </a:solidFill>
              </a:rPr>
              <a:t>- Pseudocode is widely used by security architects to design authentication flows, access control policies, and incident response playbooks.</a:t>
            </a:r>
          </a:p>
          <a:p>
            <a:pPr>
              <a:lnSpc>
                <a:spcPct val="100000"/>
              </a:lnSpc>
              <a:spcAft>
                <a:spcPts val="100"/>
              </a:spcAft>
              <a:defRPr sz="1400">
                <a:solidFill>
                  <a:srgbClr val="1F2933"/>
                </a:solidFill>
              </a:defRPr>
            </a:pPr>
            <a:endParaRPr sz="1600" dirty="0">
              <a:solidFill>
                <a:srgbClr val="FFFFFF"/>
              </a:solidFill>
            </a:endParaRPr>
          </a:p>
          <a:p>
            <a:pPr>
              <a:lnSpc>
                <a:spcPct val="100000"/>
              </a:lnSpc>
              <a:spcAft>
                <a:spcPts val="100"/>
              </a:spcAft>
              <a:defRPr sz="1400">
                <a:solidFill>
                  <a:srgbClr val="1F2933"/>
                </a:solidFill>
              </a:defRPr>
            </a:pPr>
            <a:r>
              <a:rPr sz="1600" dirty="0">
                <a:solidFill>
                  <a:srgbClr val="FFFFFF"/>
                </a:solidFill>
              </a:rPr>
              <a:t>Example - Login System with Account Lockout:</a:t>
            </a:r>
          </a:p>
          <a:p>
            <a:pPr>
              <a:lnSpc>
                <a:spcPct val="100000"/>
              </a:lnSpc>
              <a:spcAft>
                <a:spcPts val="100"/>
              </a:spcAft>
              <a:defRPr sz="1400">
                <a:solidFill>
                  <a:srgbClr val="1F2933"/>
                </a:solidFill>
              </a:defRPr>
            </a:pPr>
            <a:r>
              <a:rPr sz="1600" dirty="0">
                <a:solidFill>
                  <a:srgbClr val="FFFFFF"/>
                </a:solidFill>
              </a:rPr>
              <a:t>  START</a:t>
            </a:r>
          </a:p>
          <a:p>
            <a:pPr>
              <a:lnSpc>
                <a:spcPct val="100000"/>
              </a:lnSpc>
              <a:spcAft>
                <a:spcPts val="100"/>
              </a:spcAft>
              <a:defRPr sz="1400">
                <a:solidFill>
                  <a:srgbClr val="1F2933"/>
                </a:solidFill>
              </a:defRPr>
            </a:pPr>
            <a:r>
              <a:rPr sz="1600" dirty="0">
                <a:solidFill>
                  <a:srgbClr val="FFFFFF"/>
                </a:solidFill>
              </a:rPr>
              <a:t>    INPUT username</a:t>
            </a:r>
          </a:p>
          <a:p>
            <a:pPr>
              <a:lnSpc>
                <a:spcPct val="100000"/>
              </a:lnSpc>
              <a:spcAft>
                <a:spcPts val="100"/>
              </a:spcAft>
              <a:defRPr sz="1400">
                <a:solidFill>
                  <a:srgbClr val="1F2933"/>
                </a:solidFill>
              </a:defRPr>
            </a:pPr>
            <a:r>
              <a:rPr sz="1600" dirty="0">
                <a:solidFill>
                  <a:srgbClr val="FFFFFF"/>
                </a:solidFill>
              </a:rPr>
              <a:t>    INPUT password</a:t>
            </a:r>
          </a:p>
          <a:p>
            <a:pPr>
              <a:lnSpc>
                <a:spcPct val="100000"/>
              </a:lnSpc>
              <a:spcAft>
                <a:spcPts val="100"/>
              </a:spcAft>
              <a:defRPr sz="1400">
                <a:solidFill>
                  <a:srgbClr val="1F2933"/>
                </a:solidFill>
              </a:defRPr>
            </a:pPr>
            <a:r>
              <a:rPr sz="1600" dirty="0">
                <a:solidFill>
                  <a:srgbClr val="FFFFFF"/>
                </a:solidFill>
              </a:rPr>
              <a:t>    IF username exists in database THEN</a:t>
            </a:r>
          </a:p>
          <a:p>
            <a:pPr>
              <a:lnSpc>
                <a:spcPct val="100000"/>
              </a:lnSpc>
              <a:spcAft>
                <a:spcPts val="100"/>
              </a:spcAft>
              <a:defRPr sz="1400">
                <a:solidFill>
                  <a:srgbClr val="1F2933"/>
                </a:solidFill>
              </a:defRPr>
            </a:pPr>
            <a:r>
              <a:rPr sz="1600" dirty="0">
                <a:solidFill>
                  <a:srgbClr val="FFFFFF"/>
                </a:solidFill>
              </a:rPr>
              <a:t>        IF password matches stored hash THEN</a:t>
            </a:r>
          </a:p>
          <a:p>
            <a:pPr>
              <a:lnSpc>
                <a:spcPct val="100000"/>
              </a:lnSpc>
              <a:spcAft>
                <a:spcPts val="100"/>
              </a:spcAft>
              <a:defRPr sz="1400">
                <a:solidFill>
                  <a:srgbClr val="1F2933"/>
                </a:solidFill>
              </a:defRPr>
            </a:pPr>
            <a:r>
              <a:rPr sz="1600" dirty="0">
                <a:solidFill>
                  <a:srgbClr val="FFFFFF"/>
                </a:solidFill>
              </a:rPr>
              <a:t>            GRANT access</a:t>
            </a:r>
          </a:p>
          <a:p>
            <a:pPr>
              <a:lnSpc>
                <a:spcPct val="100000"/>
              </a:lnSpc>
              <a:spcAft>
                <a:spcPts val="100"/>
              </a:spcAft>
              <a:defRPr sz="1400">
                <a:solidFill>
                  <a:srgbClr val="1F2933"/>
                </a:solidFill>
              </a:defRPr>
            </a:pPr>
            <a:r>
              <a:rPr sz="1600" dirty="0">
                <a:solidFill>
                  <a:srgbClr val="FFFFFF"/>
                </a:solidFill>
              </a:rPr>
              <a:t>            LOG successful login</a:t>
            </a:r>
          </a:p>
          <a:p>
            <a:pPr>
              <a:lnSpc>
                <a:spcPct val="100000"/>
              </a:lnSpc>
              <a:spcAft>
                <a:spcPts val="100"/>
              </a:spcAft>
              <a:defRPr sz="1400">
                <a:solidFill>
                  <a:srgbClr val="1F2933"/>
                </a:solidFill>
              </a:defRPr>
            </a:pPr>
            <a:r>
              <a:rPr sz="1600" dirty="0">
                <a:solidFill>
                  <a:srgbClr val="FFFFFF"/>
                </a:solidFill>
              </a:rPr>
              <a:t>        ELSE</a:t>
            </a:r>
          </a:p>
          <a:p>
            <a:pPr>
              <a:lnSpc>
                <a:spcPct val="100000"/>
              </a:lnSpc>
              <a:spcAft>
                <a:spcPts val="100"/>
              </a:spcAft>
              <a:defRPr sz="1400">
                <a:solidFill>
                  <a:srgbClr val="1F2933"/>
                </a:solidFill>
              </a:defRPr>
            </a:pPr>
            <a:r>
              <a:rPr sz="1600" dirty="0">
                <a:solidFill>
                  <a:srgbClr val="FFFFFF"/>
                </a:solidFill>
              </a:rPr>
              <a:t>            INCREMENT </a:t>
            </a:r>
            <a:r>
              <a:rPr sz="1600" dirty="0" err="1">
                <a:solidFill>
                  <a:srgbClr val="FFFFFF"/>
                </a:solidFill>
              </a:rPr>
              <a:t>failed_attempts</a:t>
            </a:r>
            <a:endParaRPr sz="1600" dirty="0">
              <a:solidFill>
                <a:srgbClr val="FFFFFF"/>
              </a:solidFill>
            </a:endParaRPr>
          </a:p>
          <a:p>
            <a:pPr>
              <a:lnSpc>
                <a:spcPct val="100000"/>
              </a:lnSpc>
              <a:spcAft>
                <a:spcPts val="100"/>
              </a:spcAft>
              <a:defRPr sz="1400">
                <a:solidFill>
                  <a:srgbClr val="1F2933"/>
                </a:solidFill>
              </a:defRPr>
            </a:pPr>
            <a:r>
              <a:rPr sz="1600" dirty="0">
                <a:solidFill>
                  <a:srgbClr val="FFFFFF"/>
                </a:solidFill>
              </a:rPr>
              <a:t>            IF </a:t>
            </a:r>
            <a:r>
              <a:rPr sz="1600" dirty="0" err="1">
                <a:solidFill>
                  <a:srgbClr val="FFFFFF"/>
                </a:solidFill>
              </a:rPr>
              <a:t>failed_attempts</a:t>
            </a:r>
            <a:r>
              <a:rPr sz="1600" dirty="0">
                <a:solidFill>
                  <a:srgbClr val="FFFFFF"/>
                </a:solidFill>
              </a:rPr>
              <a:t> &gt;= 3 THEN</a:t>
            </a:r>
          </a:p>
          <a:p>
            <a:pPr>
              <a:lnSpc>
                <a:spcPct val="100000"/>
              </a:lnSpc>
              <a:spcAft>
                <a:spcPts val="100"/>
              </a:spcAft>
              <a:defRPr sz="1400">
                <a:solidFill>
                  <a:srgbClr val="1F2933"/>
                </a:solidFill>
              </a:defRPr>
            </a:pPr>
            <a:r>
              <a:rPr sz="1600" dirty="0">
                <a:solidFill>
                  <a:srgbClr val="FFFFFF"/>
                </a:solidFill>
              </a:rPr>
              <a:t>                LOCK account</a:t>
            </a:r>
          </a:p>
          <a:p>
            <a:pPr>
              <a:lnSpc>
                <a:spcPct val="100000"/>
              </a:lnSpc>
              <a:spcAft>
                <a:spcPts val="100"/>
              </a:spcAft>
              <a:defRPr sz="1400">
                <a:solidFill>
                  <a:srgbClr val="1F2933"/>
                </a:solidFill>
              </a:defRPr>
            </a:pPr>
            <a:r>
              <a:rPr sz="1600" dirty="0">
                <a:solidFill>
                  <a:srgbClr val="FFFFFF"/>
                </a:solidFill>
              </a:rPr>
              <a:t>                SEND alert to administrator</a:t>
            </a:r>
          </a:p>
          <a:p>
            <a:pPr>
              <a:lnSpc>
                <a:spcPct val="100000"/>
              </a:lnSpc>
              <a:spcAft>
                <a:spcPts val="100"/>
              </a:spcAft>
              <a:defRPr sz="1400">
                <a:solidFill>
                  <a:srgbClr val="1F2933"/>
                </a:solidFill>
              </a:defRPr>
            </a:pPr>
            <a:r>
              <a:rPr sz="1600" dirty="0">
                <a:solidFill>
                  <a:srgbClr val="FFFFFF"/>
                </a:solidFill>
              </a:rPr>
              <a:t>            END IF</a:t>
            </a:r>
          </a:p>
          <a:p>
            <a:pPr>
              <a:lnSpc>
                <a:spcPct val="100000"/>
              </a:lnSpc>
              <a:spcAft>
                <a:spcPts val="100"/>
              </a:spcAft>
              <a:defRPr sz="1400">
                <a:solidFill>
                  <a:srgbClr val="1F2933"/>
                </a:solidFill>
              </a:defRPr>
            </a:pPr>
            <a:r>
              <a:rPr sz="1600" dirty="0">
                <a:solidFill>
                  <a:srgbClr val="FFFFFF"/>
                </a:solidFill>
              </a:rPr>
              <a:t>        END IF</a:t>
            </a:r>
          </a:p>
          <a:p>
            <a:pPr>
              <a:lnSpc>
                <a:spcPct val="100000"/>
              </a:lnSpc>
              <a:spcAft>
                <a:spcPts val="100"/>
              </a:spcAft>
              <a:defRPr sz="1400">
                <a:solidFill>
                  <a:srgbClr val="1F2933"/>
                </a:solidFill>
              </a:defRPr>
            </a:pPr>
            <a:r>
              <a:rPr sz="1600" dirty="0">
                <a:solidFill>
                  <a:srgbClr val="FFFFFF"/>
                </a:solidFill>
              </a:rPr>
              <a:t>    ELSE</a:t>
            </a:r>
          </a:p>
          <a:p>
            <a:pPr>
              <a:lnSpc>
                <a:spcPct val="100000"/>
              </a:lnSpc>
              <a:spcAft>
                <a:spcPts val="100"/>
              </a:spcAft>
              <a:defRPr sz="1400">
                <a:solidFill>
                  <a:srgbClr val="1F2933"/>
                </a:solidFill>
              </a:defRPr>
            </a:pPr>
            <a:r>
              <a:rPr sz="1600" dirty="0">
                <a:solidFill>
                  <a:srgbClr val="FFFFFF"/>
                </a:solidFill>
              </a:rPr>
              <a:t>        DISPLAY 'Invalid credentials'</a:t>
            </a:r>
          </a:p>
          <a:p>
            <a:pPr>
              <a:lnSpc>
                <a:spcPct val="100000"/>
              </a:lnSpc>
              <a:spcAft>
                <a:spcPts val="100"/>
              </a:spcAft>
              <a:defRPr sz="1400">
                <a:solidFill>
                  <a:srgbClr val="1F2933"/>
                </a:solidFill>
              </a:defRPr>
            </a:pPr>
            <a:r>
              <a:rPr sz="1600" dirty="0">
                <a:solidFill>
                  <a:srgbClr val="FFFFFF"/>
                </a:solidFill>
              </a:rPr>
              <a:t>    END IF</a:t>
            </a:r>
          </a:p>
          <a:p>
            <a:pPr>
              <a:lnSpc>
                <a:spcPct val="100000"/>
              </a:lnSpc>
              <a:spcAft>
                <a:spcPts val="0"/>
              </a:spcAft>
              <a:defRPr sz="1400">
                <a:solidFill>
                  <a:srgbClr val="1F2933"/>
                </a:solidFill>
              </a:defRPr>
            </a:pPr>
            <a:r>
              <a:rPr sz="1600" dirty="0">
                <a:solidFill>
                  <a:srgbClr val="FFFFFF"/>
                </a:solidFill>
              </a:rPr>
              <a:t>  END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Bash Scripting: Automating Security Tasks</a:t>
            </a:r>
          </a:p>
        </p:txBody>
      </p:sp>
      <p:sp>
        <p:nvSpPr>
          <p:cNvPr id="4" name="TextBox 3"/>
          <p:cNvSpPr txBox="1"/>
          <p:nvPr/>
        </p:nvSpPr>
        <p:spPr>
          <a:xfrm>
            <a:off x="365760" y="1024128"/>
            <a:ext cx="11430000" cy="5297669"/>
          </a:xfrm>
          <a:prstGeom prst="rect">
            <a:avLst/>
          </a:prstGeom>
          <a:noFill/>
        </p:spPr>
        <p:txBody>
          <a:bodyPr wrap="square" tIns="0" bIns="0">
            <a:spAutoFit/>
          </a:bodyPr>
          <a:lstStyle/>
          <a:p>
            <a:pPr>
              <a:lnSpc>
                <a:spcPct val="150000"/>
              </a:lnSpc>
              <a:spcAft>
                <a:spcPts val="100"/>
              </a:spcAft>
              <a:defRPr sz="1400">
                <a:solidFill>
                  <a:srgbClr val="1F2933"/>
                </a:solidFill>
              </a:defRPr>
            </a:pPr>
            <a:r>
              <a:rPr sz="1600" dirty="0">
                <a:solidFill>
                  <a:srgbClr val="FFFFFF"/>
                </a:solidFill>
              </a:rPr>
              <a:t>- Bash (Bourne Again Shell) is the default command interpreter on most Linux systems.</a:t>
            </a:r>
          </a:p>
          <a:p>
            <a:pPr>
              <a:lnSpc>
                <a:spcPct val="150000"/>
              </a:lnSpc>
              <a:spcAft>
                <a:spcPts val="100"/>
              </a:spcAft>
              <a:defRPr sz="1400">
                <a:solidFill>
                  <a:srgbClr val="1F2933"/>
                </a:solidFill>
              </a:defRPr>
            </a:pPr>
            <a:r>
              <a:rPr sz="1600" dirty="0">
                <a:solidFill>
                  <a:srgbClr val="FFFFFF"/>
                </a:solidFill>
              </a:rPr>
              <a:t>- A Bash script is a text file containing multiple commands that can be executed together.</a:t>
            </a:r>
          </a:p>
          <a:p>
            <a:pPr>
              <a:lnSpc>
                <a:spcPct val="150000"/>
              </a:lnSpc>
              <a:spcAft>
                <a:spcPts val="100"/>
              </a:spcAft>
              <a:defRPr sz="1400">
                <a:solidFill>
                  <a:srgbClr val="1F2933"/>
                </a:solidFill>
              </a:defRPr>
            </a:pPr>
            <a:r>
              <a:rPr sz="1600" dirty="0">
                <a:solidFill>
                  <a:srgbClr val="FFFFFF"/>
                </a:solidFill>
              </a:rPr>
              <a:t>- Bash scripting is essential for automating repetitive tasks such as system health checks, log analysis, and backup routines.</a:t>
            </a:r>
          </a:p>
          <a:p>
            <a:pPr>
              <a:lnSpc>
                <a:spcPct val="150000"/>
              </a:lnSpc>
              <a:spcAft>
                <a:spcPts val="100"/>
              </a:spcAft>
              <a:defRPr sz="1400">
                <a:solidFill>
                  <a:srgbClr val="1F2933"/>
                </a:solidFill>
              </a:defRPr>
            </a:pPr>
            <a:endParaRPr sz="1600" dirty="0">
              <a:solidFill>
                <a:srgbClr val="FFFFFF"/>
              </a:solidFill>
            </a:endParaRPr>
          </a:p>
          <a:p>
            <a:pPr>
              <a:lnSpc>
                <a:spcPct val="150000"/>
              </a:lnSpc>
              <a:spcAft>
                <a:spcPts val="100"/>
              </a:spcAft>
              <a:defRPr sz="1400">
                <a:solidFill>
                  <a:srgbClr val="1F2933"/>
                </a:solidFill>
              </a:defRPr>
            </a:pPr>
            <a:r>
              <a:rPr sz="1600" dirty="0">
                <a:solidFill>
                  <a:srgbClr val="FFFFFF"/>
                </a:solidFill>
              </a:rPr>
              <a:t>Example - Simple Network Health Check Script:</a:t>
            </a:r>
          </a:p>
          <a:p>
            <a:pPr>
              <a:lnSpc>
                <a:spcPct val="150000"/>
              </a:lnSpc>
              <a:spcAft>
                <a:spcPts val="100"/>
              </a:spcAft>
              <a:defRPr sz="1400">
                <a:solidFill>
                  <a:srgbClr val="1F2933"/>
                </a:solidFill>
              </a:defRPr>
            </a:pPr>
            <a:r>
              <a:rPr sz="1600" dirty="0">
                <a:solidFill>
                  <a:srgbClr val="FFFFFF"/>
                </a:solidFill>
              </a:rPr>
              <a:t>  #!/bin/bash</a:t>
            </a:r>
          </a:p>
          <a:p>
            <a:pPr>
              <a:lnSpc>
                <a:spcPct val="150000"/>
              </a:lnSpc>
              <a:spcAft>
                <a:spcPts val="100"/>
              </a:spcAft>
              <a:defRPr sz="1400">
                <a:solidFill>
                  <a:srgbClr val="1F2933"/>
                </a:solidFill>
              </a:defRPr>
            </a:pPr>
            <a:r>
              <a:rPr sz="1600" dirty="0">
                <a:solidFill>
                  <a:srgbClr val="FFFFFF"/>
                </a:solidFill>
              </a:rPr>
              <a:t>  echo 'Checking network connectivity...'</a:t>
            </a:r>
          </a:p>
          <a:p>
            <a:pPr>
              <a:lnSpc>
                <a:spcPct val="150000"/>
              </a:lnSpc>
              <a:spcAft>
                <a:spcPts val="100"/>
              </a:spcAft>
              <a:defRPr sz="1400">
                <a:solidFill>
                  <a:srgbClr val="1F2933"/>
                </a:solidFill>
              </a:defRPr>
            </a:pPr>
            <a:r>
              <a:rPr sz="1600" dirty="0">
                <a:solidFill>
                  <a:srgbClr val="FFFFFF"/>
                </a:solidFill>
              </a:rPr>
              <a:t>  ping -c 4 8.8.8.8</a:t>
            </a:r>
          </a:p>
          <a:p>
            <a:pPr>
              <a:lnSpc>
                <a:spcPct val="150000"/>
              </a:lnSpc>
              <a:spcAft>
                <a:spcPts val="100"/>
              </a:spcAft>
              <a:defRPr sz="1400">
                <a:solidFill>
                  <a:srgbClr val="1F2933"/>
                </a:solidFill>
              </a:defRPr>
            </a:pPr>
            <a:r>
              <a:rPr sz="1600" dirty="0">
                <a:solidFill>
                  <a:srgbClr val="FFFFFF"/>
                </a:solidFill>
              </a:rPr>
              <a:t>  echo ''</a:t>
            </a:r>
          </a:p>
          <a:p>
            <a:pPr>
              <a:lnSpc>
                <a:spcPct val="150000"/>
              </a:lnSpc>
              <a:spcAft>
                <a:spcPts val="100"/>
              </a:spcAft>
              <a:defRPr sz="1400">
                <a:solidFill>
                  <a:srgbClr val="1F2933"/>
                </a:solidFill>
              </a:defRPr>
            </a:pPr>
            <a:r>
              <a:rPr sz="1600" dirty="0">
                <a:solidFill>
                  <a:srgbClr val="FFFFFF"/>
                </a:solidFill>
              </a:rPr>
              <a:t>  echo 'Your IP address:'</a:t>
            </a:r>
          </a:p>
          <a:p>
            <a:pPr>
              <a:lnSpc>
                <a:spcPct val="150000"/>
              </a:lnSpc>
              <a:spcAft>
                <a:spcPts val="100"/>
              </a:spcAft>
              <a:defRPr sz="1400">
                <a:solidFill>
                  <a:srgbClr val="1F2933"/>
                </a:solidFill>
              </a:defRPr>
            </a:pPr>
            <a:r>
              <a:rPr sz="1600" dirty="0">
                <a:solidFill>
                  <a:srgbClr val="FFFFFF"/>
                </a:solidFill>
              </a:rPr>
              <a:t>  </a:t>
            </a:r>
            <a:r>
              <a:rPr sz="1600" dirty="0" err="1">
                <a:solidFill>
                  <a:srgbClr val="FFFFFF"/>
                </a:solidFill>
              </a:rPr>
              <a:t>ip</a:t>
            </a:r>
            <a:r>
              <a:rPr sz="1600" dirty="0">
                <a:solidFill>
                  <a:srgbClr val="FFFFFF"/>
                </a:solidFill>
              </a:rPr>
              <a:t> </a:t>
            </a:r>
            <a:r>
              <a:rPr sz="1600" dirty="0" err="1">
                <a:solidFill>
                  <a:srgbClr val="FFFFFF"/>
                </a:solidFill>
              </a:rPr>
              <a:t>addr</a:t>
            </a:r>
            <a:r>
              <a:rPr sz="1600" dirty="0">
                <a:solidFill>
                  <a:srgbClr val="FFFFFF"/>
                </a:solidFill>
              </a:rPr>
              <a:t> | grep '</a:t>
            </a:r>
            <a:r>
              <a:rPr sz="1600" dirty="0" err="1">
                <a:solidFill>
                  <a:srgbClr val="FFFFFF"/>
                </a:solidFill>
              </a:rPr>
              <a:t>inet</a:t>
            </a:r>
            <a:r>
              <a:rPr sz="1600" dirty="0">
                <a:solidFill>
                  <a:srgbClr val="FFFFFF"/>
                </a:solidFill>
              </a:rPr>
              <a:t> ' | grep -v '127.0.0.1'</a:t>
            </a:r>
          </a:p>
          <a:p>
            <a:pPr>
              <a:lnSpc>
                <a:spcPct val="150000"/>
              </a:lnSpc>
              <a:spcAft>
                <a:spcPts val="100"/>
              </a:spcAft>
              <a:defRPr sz="1400">
                <a:solidFill>
                  <a:srgbClr val="1F2933"/>
                </a:solidFill>
              </a:defRPr>
            </a:pPr>
            <a:r>
              <a:rPr sz="1600" dirty="0">
                <a:solidFill>
                  <a:srgbClr val="FFFFFF"/>
                </a:solidFill>
              </a:rPr>
              <a:t>  echo ''</a:t>
            </a:r>
          </a:p>
          <a:p>
            <a:pPr>
              <a:lnSpc>
                <a:spcPct val="150000"/>
              </a:lnSpc>
              <a:spcAft>
                <a:spcPts val="100"/>
              </a:spcAft>
              <a:defRPr sz="1400">
                <a:solidFill>
                  <a:srgbClr val="1F2933"/>
                </a:solidFill>
              </a:defRPr>
            </a:pPr>
            <a:r>
              <a:rPr sz="1600" dirty="0">
                <a:solidFill>
                  <a:srgbClr val="FFFFFF"/>
                </a:solidFill>
              </a:rPr>
              <a:t>  echo 'Open network connections:'</a:t>
            </a:r>
          </a:p>
          <a:p>
            <a:pPr>
              <a:lnSpc>
                <a:spcPct val="150000"/>
              </a:lnSpc>
              <a:spcAft>
                <a:spcPts val="0"/>
              </a:spcAft>
              <a:defRPr sz="1400">
                <a:solidFill>
                  <a:srgbClr val="1F2933"/>
                </a:solidFill>
              </a:defRPr>
            </a:pPr>
            <a:r>
              <a:rPr sz="1600" dirty="0">
                <a:solidFill>
                  <a:srgbClr val="FFFFFF"/>
                </a:solidFill>
              </a:rPr>
              <a:t>  netstat -</a:t>
            </a:r>
            <a:r>
              <a:rPr sz="1600" dirty="0" err="1">
                <a:solidFill>
                  <a:srgbClr val="FFFFFF"/>
                </a:solidFill>
              </a:rPr>
              <a:t>tuln</a:t>
            </a:r>
            <a:endParaRPr sz="1600" dirty="0">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Topic 3 Summary: Key Takeaways</a:t>
            </a:r>
          </a:p>
        </p:txBody>
      </p:sp>
      <p:sp>
        <p:nvSpPr>
          <p:cNvPr id="4" name="TextBox 3"/>
          <p:cNvSpPr txBox="1"/>
          <p:nvPr/>
        </p:nvSpPr>
        <p:spPr>
          <a:xfrm>
            <a:off x="365760" y="1024128"/>
            <a:ext cx="11430000" cy="3946017"/>
          </a:xfrm>
          <a:prstGeom prst="rect">
            <a:avLst/>
          </a:prstGeom>
          <a:noFill/>
        </p:spPr>
        <p:txBody>
          <a:bodyPr wrap="square" tIns="0" bIns="0">
            <a:spAutoFit/>
          </a:bodyPr>
          <a:lstStyle/>
          <a:p>
            <a:pPr>
              <a:lnSpc>
                <a:spcPct val="200000"/>
              </a:lnSpc>
              <a:spcAft>
                <a:spcPts val="100"/>
              </a:spcAft>
              <a:defRPr sz="1400">
                <a:solidFill>
                  <a:srgbClr val="1F2933"/>
                </a:solidFill>
              </a:defRPr>
            </a:pPr>
            <a:r>
              <a:rPr sz="1600" dirty="0">
                <a:solidFill>
                  <a:srgbClr val="FFFFFF"/>
                </a:solidFill>
              </a:rPr>
              <a:t>- Programming logic enables cybersecurity professionals to automate tasks, analyze malware, spot vulnerabilities, and develop tools.</a:t>
            </a:r>
          </a:p>
          <a:p>
            <a:pPr>
              <a:lnSpc>
                <a:spcPct val="200000"/>
              </a:lnSpc>
              <a:spcAft>
                <a:spcPts val="100"/>
              </a:spcAft>
              <a:defRPr sz="1400">
                <a:solidFill>
                  <a:srgbClr val="1F2933"/>
                </a:solidFill>
              </a:defRPr>
            </a:pPr>
            <a:r>
              <a:rPr sz="1600" dirty="0">
                <a:solidFill>
                  <a:srgbClr val="FFFFFF"/>
                </a:solidFill>
              </a:rPr>
              <a:t>- Variables store data. Common types include strings (text), integers (whole numbers), floats (decimals), </a:t>
            </a:r>
            <a:r>
              <a:rPr sz="1600" dirty="0" err="1">
                <a:solidFill>
                  <a:srgbClr val="FFFFFF"/>
                </a:solidFill>
              </a:rPr>
              <a:t>booleans</a:t>
            </a:r>
            <a:r>
              <a:rPr sz="1600" dirty="0">
                <a:solidFill>
                  <a:srgbClr val="FFFFFF"/>
                </a:solidFill>
              </a:rPr>
              <a:t> (True/False), and lists (collections).</a:t>
            </a:r>
          </a:p>
          <a:p>
            <a:pPr>
              <a:lnSpc>
                <a:spcPct val="200000"/>
              </a:lnSpc>
              <a:spcAft>
                <a:spcPts val="100"/>
              </a:spcAft>
              <a:defRPr sz="1400">
                <a:solidFill>
                  <a:srgbClr val="1F2933"/>
                </a:solidFill>
              </a:defRPr>
            </a:pPr>
            <a:r>
              <a:rPr sz="1600" dirty="0">
                <a:solidFill>
                  <a:srgbClr val="FFFFFF"/>
                </a:solidFill>
              </a:rPr>
              <a:t>- If/else statements allow programs to make decisions based on conditions. They are the foundation of access control and input validation.</a:t>
            </a:r>
          </a:p>
          <a:p>
            <a:pPr>
              <a:lnSpc>
                <a:spcPct val="200000"/>
              </a:lnSpc>
              <a:spcAft>
                <a:spcPts val="100"/>
              </a:spcAft>
              <a:defRPr sz="1400">
                <a:solidFill>
                  <a:srgbClr val="1F2933"/>
                </a:solidFill>
              </a:defRPr>
            </a:pPr>
            <a:r>
              <a:rPr sz="1600" dirty="0">
                <a:solidFill>
                  <a:srgbClr val="FFFFFF"/>
                </a:solidFill>
              </a:rPr>
              <a:t>- Loops allow programs to repeat actions. They are essential for tasks like scanning ports, trying password lists, and processing logs.</a:t>
            </a:r>
          </a:p>
          <a:p>
            <a:pPr>
              <a:lnSpc>
                <a:spcPct val="200000"/>
              </a:lnSpc>
              <a:spcAft>
                <a:spcPts val="100"/>
              </a:spcAft>
              <a:defRPr sz="1400">
                <a:solidFill>
                  <a:srgbClr val="1F2933"/>
                </a:solidFill>
              </a:defRPr>
            </a:pPr>
            <a:r>
              <a:rPr sz="1600" dirty="0">
                <a:solidFill>
                  <a:srgbClr val="FFFFFF"/>
                </a:solidFill>
              </a:rPr>
              <a:t>- Functions create reusable blocks of code, making programs easier to maintain and security checks easier to apply consistently.</a:t>
            </a:r>
          </a:p>
          <a:p>
            <a:pPr>
              <a:lnSpc>
                <a:spcPct val="200000"/>
              </a:lnSpc>
              <a:spcAft>
                <a:spcPts val="100"/>
              </a:spcAft>
              <a:defRPr sz="1400">
                <a:solidFill>
                  <a:srgbClr val="1F2933"/>
                </a:solidFill>
              </a:defRPr>
            </a:pPr>
            <a:r>
              <a:rPr sz="1600" dirty="0">
                <a:solidFill>
                  <a:srgbClr val="FFFFFF"/>
                </a:solidFill>
              </a:rPr>
              <a:t>- Pseudocode is a planning tool that describes program logic in plain language before writing actual code.</a:t>
            </a:r>
          </a:p>
          <a:p>
            <a:pPr>
              <a:lnSpc>
                <a:spcPct val="200000"/>
              </a:lnSpc>
              <a:spcAft>
                <a:spcPts val="0"/>
              </a:spcAft>
              <a:defRPr sz="1400">
                <a:solidFill>
                  <a:srgbClr val="1F2933"/>
                </a:solidFill>
              </a:defRPr>
            </a:pPr>
            <a:r>
              <a:rPr sz="1600" dirty="0">
                <a:solidFill>
                  <a:srgbClr val="FFFFFF"/>
                </a:solidFill>
              </a:rPr>
              <a:t>- Bash scripting automates Linux tasks. Always validate inputs to prevent command injection attacks.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76</TotalTime>
  <Words>5453</Words>
  <Application>Microsoft Macintosh PowerPoint</Application>
  <PresentationFormat>Widescreen</PresentationFormat>
  <Paragraphs>307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siame</cp:lastModifiedBy>
  <cp:revision>2</cp:revision>
  <dcterms:created xsi:type="dcterms:W3CDTF">2013-01-27T09:14:16Z</dcterms:created>
  <dcterms:modified xsi:type="dcterms:W3CDTF">2026-04-05T23:07:48Z</dcterms:modified>
  <cp:category/>
</cp:coreProperties>
</file>