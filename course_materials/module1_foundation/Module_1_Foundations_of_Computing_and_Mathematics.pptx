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snapToObjects="1">
      <p:cViewPr>
        <p:scale>
          <a:sx n="120" d="100"/>
          <a:sy n="120" d="100"/>
        </p:scale>
        <p:origin x="176"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8817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Module 1: Foundations of Computing and Mathematics. This module is the bedrock of the entire Cybersecurity Certificate Program. Every advanced concept in cybersecurity depends on understanding how computers process data, how operating systems manage resources, how logical thinking enables automation, how number systems underpin cryptography, and how networks enable both communication and attack vectors. As instructors, emphasize that this is NOT a basic computing class. Every topic here has direct security implications.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Open with a compelling example: In 2021, the Colonial Pipeline ransomware attack shut down fuel distribution across the US East Coast. The attackers gained access through a compromised VPN account — exploiting basic networking and OS weaknesses. In Zambia, MTN and Airtel mobile money systems, Zanaco banking infrastructure, and ZESCO systems all depend on the exact fundamentals we cover here. Tell students: 'Attackers know these basics better than many defenders. Our job is to out-learn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transition: 1. Computer Fundamentals. Use this moment to reset student attention and preview what security relevance is coming.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The IPOS model maps directly to attack surfaces. Input stage: Keyloggers capture keystrokes. Processing stage: Spectre and Meltdown exploit CPU speculative execution, leaking sensitive data. Output stage: Shoulder surfing in Lusaka internet cafes targets the output phase. Storage stage: Unencrypted USB drives are a massive data loss vector. In 2022, the UK government fined organizations millions for lost USB drives containing personal data. Zambian banks and ZESCO handle customer data on local servers. Understanding where data lives at each IPOS stage is essential for proper data classification and protection.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CPU: Modern processors include security extensions like Intel SGX and AMD SEV. However, Spectre (2018) and Meltdown (2018) showed speculative execution could leak passwords and encryption keys. Over 90% of processors worldwide were affected. RAM: Fileless malware is one of the fastest-growing threat categories. By never writing to disk, it evades traditional antivirus. Tools like PowerShell Empire and Cobalt Strike operate primarily in memory. Storage: Full Disk Encryption using BitLocker (Windows) or LUKS (Linux) ensures stolen laptops remain unreadable. In 2023, the average cost of a data breach involving lost devices was $4.45 million globally. NIC: MAC addresses are theoretically unique, but tools like macchanger allow attackers to spoof them to bypass network access controls.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The transition from 32-bit to 64-bit is fundamentally about security. 64-bit operating systems implement stronger Address Space Layout Randomization (ASLR), randomizing where programs load in memory, making exploits harder. Data Execution Prevention (DEP) also works more effectively on 64-bit systems. The Von Neumann architecture stores both data and instructions in the same memory space. This design decision is the root cause of buffer overflow attacks. When a program receives more input than expected, the excess can overwrite adjacent memory containing executable instructions. Modern defenses like NX bit and stack canaries were invented to mitigate this. Example: The 2017 WannaCry ransomware exploited a buffer overflow in Windows SMB protocol (EternalBlue).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Different computer types require different security strategies. PCs need antivirus, EDR, patch management, and user awareness. Servers are the crown jewels — the 2017 Equifax breach (147 million records) happened because of an unpatched Apache Struts server. In Zambia, servers at mobile network operators and financial institutions run predominantly Linux. Embedded systems and IoT represent the fastest-growing attack surface. The 2016 Mirai botnet infected 600,000+ IoT devices with default passwords and launched record-breaking DDoS attacks. In Zambia, smart meters and cheap CCTV cameras often ship with default credentials like admin/admin.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transition: 2. Operating Systems. Use this moment to reset student attention and preview what security relevance is coming.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The OS is the ultimate security gatekeeper. Every application runs WITHIN the OS. If the OS is compromised, nothing running on it can be trusted. This is why rooting (Android) or jailbreaking (iOS) disables critical security protections. Process management: Attackers name malware to mimic legitimate processes (e.g., svch0st.exe). Memory management: Modern OSs implement DEP/NX bits, ASLR, and stack canaries. File system security: The 2020 Twitter hack happened because of poorly configured access controls. Device management: The 2021 PrintNightmare vulnerability was a Windows driver flaw allowing remote code execution.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Windows dominates the desktop market globally and in Zambia. Incident responders spend significant portions of their careers investigating Windows systems. C:\Windows\System32 contains critical DLLs and executables. Malware frequently injects malicious DLLs here (DLL hijacking). The 2020 SolarWinds supply-chain attack compromised Orion software components in system directories. AppData is the #1 location for malware persistence. Ransomware like Ryuk and TrickBot store configuration files here. Temp directories: Malware often extracts from %TEMP%. Command: dir /o-d %TEMP% shows most recent files first. Practical tip: Teach students to enable 'Show hidden items' and navigate these directories.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The Windows Command Prompt and PowerShell are primary tools for incident response. ipconfig /all reveals MAC addresses, DNS servers, and DHCP lease info. Unexpected DNS servers might indicate DNS hijacking. netstat -an lists all active connections. Seeing a connection to an unusual foreign IP on port 4444 (Metasploit) may indicate compromise. tasklist shows running processes — malware often injects into svchost.exe. systeminfo outputs OS version and hotfixes. The 'Hotfix(s)' line is critical — unpatched systems are vulnerable. net user lists local accounts; attackers often create hidden backdoor accounts.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Linux is the dominant OS in cybersecurity and server infrastructure. Over 80% of web servers run Linux. In Zambia, MTN and Airtel core network infrastructure, banking servers, and government systems heavily rely on Linux. /etc/ contains system-wide configs: /etc/passwd (user accounts), /etc/shadow (hashed passwords), /etc/hosts (can be poisoned by attackers), /etc/crontab (persistence). /var/log/ is the security goldmine: auth.log shows failed logins, apache2/access.log shows web requests. /tmp/ is world-writable and a favorite malware drop location. Zambian context: ZICTA and major banks run Linux-based infrastructure. Linux skills are directly employable.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Linux command-line proficiency is non-negotiable. ls -la reveals hidden files (those starting with a dot). Attackers hide config files and SSH keys as hidden files. .bashrc modifications can establish persistence. grep is one of the most powerful tools for log analysis: grep 'Failed password' /var/log/auth.log | wc -l counts failed login attempts. File permissions: chmod 600 ~/.ssh/id_rsa is critical — SSH private keys should NEVER be readable by others. If it's 644, anyone can steal it. Privilege escalation often starts with misconfigured permissions. find / -perm -4000 2&gt;/dev/null discovers all SUID files — a common privilege escalation step.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transition: 3. Introduction to Programming Logic. Use this moment to reset student attention and preview what security relevance is coming.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Programming is the closest thing to a superpower in cybersecurity. It allows automation of repetitive tasks and deep understanding of software. SOC analysts write Python scripts to parse 100,000 firewall logs. Penetration testers write Bash scripts to run Nmap against target lists. Malware analysts use Python to unpack suspicious files. Understanding malware: At its core, malware is just software. Ransomware uses loops to iterate through files, conditionals to check extensions, and file system APIs to encrypt data. Vulnerability analysis: Many vulnerabilities are logic errors. A missing input validation check leads to SQL injection. Industry data: Python is the most requested programming skill in cybersecurity job surveys.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Variables are the building blocks of every program, including every piece of malware and security tool. String security: Passwords stored as plain strings in memory can be recovered using memory dumps. IP addresses in strings are parsed in log analysis using regex. Integer security: Port numbers are integers 0-65535. Well-known ports (0-1023) require admin privileges. Integer overflow is serious — when an integer exceeds its max value, it wraps around. The 2014 Heartbleed vulnerability involved integer-related flaws. Boolean security: Authentication systems use booleans like is_authenticated, is_admin. Logic flaws where booleans are improperly checked lead to unauthorized access. List security: Lists of IPs are used in firewall rules. Iterating over user inputs without validation can lead to injection attacks.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Control structures are where security logic lives. Every access control decision, rate limit, and account lockout policy uses conditionals and loops. If/Else: Authentication if (password_hash == stored_hash) is the core of every login system. Authorization if (user.role == 'admin') determines access. Input validation if (input_length &gt; 1000) prevents buffer overflow. A real bug: In 2019, Apple FaceTime had a logic flaw where calls connected before the callee answered. Loops: Port scanners like Nmap use loops: for port in range(1, 65536): scan(port). Password crackers use loops over wordlists. Loop security bugs: Infinite loops can cause Denial of Service if attackers trigger them.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Functions allow security checks to be defined once and reused everywhere. The password strength function mirrors real password policy enforcement. NIST recommends 8+ characters. Modern guidance emphasizes LENGTH over complexity because users reuse complex passwords. A passphrase like 'Correct-Horse-Battery-Staple!' is more secure than 'P@ssw0rd1'. Pseudocode is invaluable for security planning. Before writing code, architects pseudocode authentication flows and incident response playbooks. Bash scripting: Automated backups ensure logs are preserved. Network monitoring scripts ping critical infrastructure. Important Bash security note: Always validate inputs. A script that passes user input directly to a command without sanitization is vulnerable to command injection — an OWASP Top 10 vulnerability.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transition: 4. Mathematics for Cybersecurity. Use this moment to reset student attention and preview what security relevance is coming.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Number systems are the language of computers and cybersecurity professionals. Every IP address, MAC address, cryptographic hash, and memory pointer uses these systems. Binary is essential for IP subnetting. Subnet masks like 255.255.255.0 are /24 in CIDR notation (24 binary 1s). Boolean logic operates on individual bits. Hexadecimal is the 'shorthand' for binary — each hex digit represents exactly 4 bits. Cybersecurity applications: MAC addresses (00:1A:2B:3C:4D:5E) are 6 bytes in hex. Cryptographic hashes like SHA-256 are displayed in hex. Memory addresses in debuggers are shown in hex. A SHA-256 hash looks like e3b0c44298fc1c149afbf4c8996fb924... — 64 hex characters representing 256 bits.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Binary conversion is a practical skill used constantly in network engineering and forensics. Each octet in an IPv4 address is an 8-bit binary number. Example: 192.168.1.1 = 11000000.10101000.00000001.00000001. Subnetting application: To determine if two IPs are on the same network, perform a bitwise AND between each IP and the subnet mask. Forensics application: File signatures (magic numbers) are examined in hex/binary to identify files even when extensions are changed. Example: A PNG file starts with hex 89 50 4E 47. Teaching tip: Use a whiteboard to manually work through conversions. Have students practice with numbers relevant to them.</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The binary-to-hex 'group into 4 bits' method is the most important conversion technique for cybersecurity professionals. Why hex is everywhere: MAC addresses are 48-bit addresses displayed as 6 pairs of hex digits. The first 3 bytes identify the manufacturer. Attackers use MAC vendor prefixes to identify device types on networks. Cryptographic hashes: SHA-256 hashes are long hex strings. If even one bit changes in a file, the hash changes completely — this is file integrity checking. Memory forensics: Memory dumps display addresses in hex. Malware analysis might show MOV EAX, 0x00401234. Practical exercise: Convert web colors from hex to binary. Royal blue #4169E1 breaks down as 41=01000001, 69=01101001, E1=11100001. This demonstrates hex is just compact binary.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Boolean logic is the mathematical foundation of digital computing. Every CPU instruction, firewall rule, and access control decision uses Boolean operations. AND in security: Multi-factor authentication is essentially AND: access_granted = password_correct AND otp_valid. Both must be true. OR in security: Role-based access control uses OR: can_view_report = (role == 'admin') OR (role == 'analyst'). NOT in security: Deny lists use NOT: allow_access = NOT(ip_in_blocklist). Logic gates in hardware: CPUs are built from billions of transistors arranged as logic gates. Set theory connection: Finding the intersection between two threat feeds is an AND operation. Combining feeds is a union (OR).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XOR (Exclusive OR) is arguably the single most important Boolean operation in cryptography. The reversible property: A XOR B = C, and C XOR B = A. Real-world applications: 1. One-Time Pad (OTP): The only encryption proven unconditionally secure. Cold War spies used OTPs. 2. Stream Ciphers: ChaCha20 in TLS/HTTPS uses XOR to combine a keystream with plaintext. 3. Block Ciphers: AES uses XOR extensively in its rounds to mix data with round keys. AES protects everything from WhatsApp to government classified documents. 4. Hash Functions: SHA-256 uses XOR-like operations to create avalanche effects. Malware obfuscation: Attackers also use XOR! Simple malware XORs payloads with one-byte keys to evade antivirus. Security analysts brute-force XOR keys to decode hidden strings.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transition: 5. Networking Essentials. Use this moment to reset student attention and preview what security relevance is coming.</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Networking is the backbone of cybersecurity. Every attack, defense mechanism, and investigation relies on how devices communicate. LAN Security: A flat LAN allows malware to spread rapidly. WannaCry spread laterally across LANs using SMB vulnerabilities. Network segmentation contains outbreaks. WAN Security: Because traffic traverses third-party infrastructure, encryption is mandatory. In Zambia, the ZAMTEL national backbone connects cities. WLAN Security: Wireless networks broadcast over radio waves, making them easy to intercept. Public WiFi in Lusaka cafes is risky — attackers set up rogue access points. VPN Security: The 2021 Colonial Pipeline attack began through a compromised VPN account with no MFA.</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The OSI model is the conceptual framework every cybersecurity professional must internalize. Layer 7 — Application: SQL injection, XSS, phishing, malware downloads. Layer 6 — Presentation: TLS/SSL encryption, certificate spoofing. Layer 5 — Session: Session hijacking steals valid session tokens. Layer 4 — Transport: SYN flood attacks exhaust server resources. Port scanning targets this layer. Layer 3 — Network: IP spoofing, DDoS amplification, route hijacking. Layer 2 — Data Link: ARP spoofing and MAC flooding. Layer 1 — Physical: Physical security and signal interception. Teaching analogy: Use the Zampost letter analogy. Application = what you write. Presentation = language. Session = ongoing correspondence. Transport = registered mail vs flyer. Network = routing Lusaka to Kitwe. Data Link = truck route. Physical = roads.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This slide connects abstract theory to real attacks. Effective defense requires protection at multiple layers — Defense in Depth. Real-world examples: L7 — SQL Injection: The 2017 Equifax breach (147 million records) was partly due to unpatched web app vulnerabilities. L4 — SYN Flood: The 2000 attack on Yahoo! and eBay used SYN floods. L3 — DDoS Amplification: The 2016 Dyn attack used IoT botnets and DNS amplification to take down Twitter, Netflix, and Reddit. L2 — ARP Spoofing: On local networks, attackers send fake ARP messages to become the man-in-the-middle. Defense: Dynamic ARP Inspection. L1 — Physical attacks: The 2013 Target breach involved physical access to POS terminals. In Zambia, server rooms need biometric access and CCTV.</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While the OSI model is excellent for learning, the TCP/IP model is what routers, operating systems, firewalls, and Wireshark actually implement. Application Layer (TCP/IP): HTTP (port 80) — never use for sensitive data. HTTPS (port 443) — encrypted with TLS, required for banking. DNS (port 53) — vulnerable to poisoning, hijacking, tunneling. SSH (port 22) — encrypted remote administration. FTP (port 21) — no encryption, use SFTP instead. Transport Layer: Determines reliable (TCP) vs fast/unreliable (UDP). Firewalls make most decisions here. Internet Layer: IP addresses, routing, ICMP (ping). VPNs like IPsec operate here. Network Access Layer: Ethernet frames, MAC addresses, WiFi signals. Critical for local network attacks. Tool context: Wireshark shows the TCP/IP model in action — Ethernet header, IP header, TCP/UDP header, and application payload.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Understanding TCP vs UDP is fundamental for network security. TCP: Connection-oriented with a three-way handshake (SYN → SYN-ACK → ACK). Reliable with sequence numbers and retransmissions. Used for web browsing, email, file transfer, remote access. Security risk: SYN flood attacks exploit the handshake by sending thousands of SYN packets without completing them. Mitigation: SYN cookies, rate limiting. UDP: Connectionless — no handshake. No guarantee of delivery. Used for DNS, video streaming, VoIP, online gaming. Security risk: UDP amplification attacks. Attackers send small spoofed requests to servers (DNS/NTP), which respond with larger packets to the victim. The 2016 Dyn attack used this. Analogy: TCP = registered mail with return receipt. UDP = dropping a flyer through a door.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IP addressing is the addressing system of the internet. IPv4 is still dominant in most networks. 32-bit address space provides ~4.3 billion unique addresses. Private IP ranges (RFC 1918) are reserved for internal networks: 10.0.0.0/8, 172.16.0.0/12, 192.168.0.0/16. When you connect to MTN or Airtel in Zambia, your phone typically gets a private IP (192.168.x.x) while a public IP faces the internet. Subnetting and security: Subnetting divides networks into smaller segments. From a security perspective, this is network segmentation — one of the most effective security controls. If finance is on 192.168.10.0/24 and engineering on 192.168.20.0/24, a router/firewall between them restricts access. If ransomware infects one subnet, segmentation prevents spread. CIDR notation: /24 means the first 24 bits are the network portion, equivalent to 255.255.255.0.</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DNS is the 'phonebook of the internet.' Security threats: DNS Spoofing/Poisoning corrupts DNS cache to redirect users to malicious sites. DNS Tunneling: Malware uses DNS queries to secretly exfiltrate data because DNS is usually allowed through firewalls. DNS Hijacking: Attackers modify DNS settings to point to malicious servers. Defenses: DNSSEC adds cryptographic verification. DNS filtering blocks known malicious domains. DHCP automatically assigns IP addresses. Rogue DHCP Server: An attacker sets up a malicious DHCP server, giving devices attacker-controlled configurations — typically a rogue gateway intercepting all traffic. DHCP Starvation floods the DHCP server with requests, exhausting the IP pool. HTTP vs HTTPS: HTTP sends data in plaintext. Anyone on the same network can use Wireshark to read passwords. HTTPS encrypts with TLS. The padlock icon indicates HTTPS. Never enter passwords on HTTP sites. SSH provides encrypted remote command-line access, replacing insecure Telnet. Brute force attacks target SSH on port 22. Best practices: use key-based auth, disable password auth, implement fail2ban.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Port numbers are the 'doors' through which network services communicate. Port 22 (SSH): The most attacked port. Automated bots constantly brute-force SSH. Defense: disable root login, use keys, implement fail2ban. Port 23 (Telnet): Ancient plaintext protocol. Absolutely no reason to use it in 2026. Critical finding if open. Port 25 (SMTP): Misconfigured SMTP servers can be exploited as open relays for spam. Port 53 (DNS): Critical but vulnerable to poisoning and tunneling. Port 80 (HTTP): Unencrypted web traffic. Port 443 (HTTPS): Standard for secure web. When students use Airtel Money or Zanaco Internet Banking, data travels over port 443. Port 445 (SMB): Target of EternalBlue exploit used by WannaCry and NotPetya. Microsoft strongly recommends disabling SMBv1. Port 3389 (RDP): Major ransomware entry point. FBI reported RDP as the most common ransomware entry in 2019. Never expose RDP directly to the internet. Port 3306 (MySQL): Database ports should never be internet-facing.</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transition: Module 1 Review &amp; What's Next. Use this moment to reset student attention and preview what security relevance is coming.</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This revision summarizes foundational knowledge needed before Module 2. Connect the topics: A SOC analyst investigating Windows malware uses OS knowledge to find malware in AppData. They use programming logic to understand persistence mechanisms. They use networking knowledge to trace C2 connections over TCP port 443. They use binary/hex knowledge to analyze file signatures. They use Linux skills to run analysis tools on Kali Linux. All these skills work together. Module 1 provides the vocabulary and mental models. Module 2 applies them to actual attacks and defenses. Assessment reminder: Practical labs (OS installation and configuration) and a quiz covering number systems and networking fundamentals.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Cybersecurity Connection:</a:t>
            </a:r>
          </a:p>
          <a:p>
            <a:r>
              <a:t>Final hook for Module 2. Key message: 'You now understand the machinery. In Module 2, we start looking at how that machinery gets attacked — and how to defend it.' Make explicit connections: 'Remember the OSI model? In Module 2, you'll learn where firewalls (Layer 3-4), IDS/IPS (Layer 4-7), and WAFs (Layer 7) fit.' 'Remember binary and XOR? In Module 2, you'll see how AES and SHA-256 use these concepts.' 'Remember Windows user accounts? In Module 2, you'll learn about Active Directory, RBAC, and MFA.' 'Remember TCP ports? In Module 2, you'll configure firewall rules.' Motivational closing: The cybersecurity industry in Zambia and globally is growing. MTN Zambia, Airtel, Zanaco, ZESCO, ZICTA, NGOs, and international organizations all need skilled cybersecurity professionals. The foundation built in Module 1 is the first step toward an in-demand, well-paying career.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843677"/>
            <a:ext cx="10972800" cy="2585323"/>
          </a:xfrm>
          <a:prstGeom prst="rect">
            <a:avLst/>
          </a:prstGeom>
          <a:noFill/>
        </p:spPr>
        <p:txBody>
          <a:bodyPr wrap="square">
            <a:spAutoFit/>
          </a:bodyPr>
          <a:lstStyle/>
          <a:p>
            <a:pPr algn="ctr">
              <a:defRPr sz="5400" b="1">
                <a:solidFill>
                  <a:srgbClr val="FFFFFF"/>
                </a:solidFill>
              </a:defRPr>
            </a:pPr>
            <a:r>
              <a:rPr lang="en-US" dirty="0"/>
              <a:t>Module 1: Foundations of Computing and Mathematics</a:t>
            </a:r>
          </a:p>
          <a:p>
            <a:pPr algn="ctr">
              <a:defRPr sz="5400" b="1">
                <a:solidFill>
                  <a:srgbClr val="FFFFFF"/>
                </a:solidFill>
              </a:defRPr>
            </a:pPr>
            <a:endParaRPr dirty="0"/>
          </a:p>
        </p:txBody>
      </p:sp>
      <p:sp>
        <p:nvSpPr>
          <p:cNvPr id="4" name="TextBox 3"/>
          <p:cNvSpPr txBox="1"/>
          <p:nvPr/>
        </p:nvSpPr>
        <p:spPr>
          <a:xfrm>
            <a:off x="457200" y="3657600"/>
            <a:ext cx="11277295" cy="914400"/>
          </a:xfrm>
          <a:prstGeom prst="rect">
            <a:avLst/>
          </a:prstGeom>
          <a:noFill/>
        </p:spPr>
        <p:txBody>
          <a:bodyPr wrap="none">
            <a:spAutoFit/>
          </a:bodyPr>
          <a:lstStyle/>
          <a:p>
            <a:pPr algn="ctr">
              <a:defRPr sz="2800">
                <a:solidFill>
                  <a:srgbClr val="FFB74D"/>
                </a:solidFill>
              </a:defRPr>
            </a:pPr>
            <a:r>
              <a:t>Cybersecurity Certificate Program | EduTrack LMS | Zambia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Why Foundations Matter in Cybersecurity</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 You cannot secure what you do not understand.</a:t>
            </a:r>
          </a:p>
          <a:p>
            <a:pPr>
              <a:spcAft>
                <a:spcPts val="1000"/>
              </a:spcAft>
              <a:defRPr sz="2200">
                <a:solidFill>
                  <a:srgbClr val="1F2933"/>
                </a:solidFill>
              </a:defRPr>
            </a:pPr>
            <a:r>
              <a:t>• Every cyberattack exploits how computers, OSs, networks, and code work.</a:t>
            </a:r>
          </a:p>
          <a:p>
            <a:pPr>
              <a:spcAft>
                <a:spcPts val="1000"/>
              </a:spcAft>
              <a:defRPr sz="2200">
                <a:solidFill>
                  <a:srgbClr val="1F2933"/>
                </a:solidFill>
              </a:defRPr>
            </a:pPr>
            <a:r>
              <a:t>• Module 1 builds the mental models needed for threat detection, incident response, and defense.</a:t>
            </a:r>
          </a:p>
          <a:p>
            <a:pPr>
              <a:spcAft>
                <a:spcPts val="1000"/>
              </a:spcAft>
              <a:defRPr sz="2200">
                <a:solidFill>
                  <a:srgbClr val="1F2933"/>
                </a:solidFill>
              </a:defRPr>
            </a:pPr>
            <a:r>
              <a:t>• From Zambia's banks to mobile money platforms — all run on these same fundamentals.</a:t>
            </a:r>
          </a:p>
          <a:p>
            <a:pPr>
              <a:spcAft>
                <a:spcPts val="1000"/>
              </a:spcAft>
              <a:defRPr sz="2200">
                <a:solidFill>
                  <a:srgbClr val="1F2933"/>
                </a:solidFill>
              </a:defRPr>
            </a:pPr>
            <a:r>
              <a:t>• Direct career path: SOC Analyst, Network Security Technician, Junior Security Analyst.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4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0"/>
            <a:ext cx="11277295" cy="1371600"/>
          </a:xfrm>
          <a:prstGeom prst="rect">
            <a:avLst/>
          </a:prstGeom>
          <a:noFill/>
        </p:spPr>
        <p:txBody>
          <a:bodyPr wrap="none">
            <a:spAutoFit/>
          </a:bodyPr>
          <a:lstStyle/>
          <a:p>
            <a:pPr algn="ctr">
              <a:defRPr sz="4800" b="1">
                <a:solidFill>
                  <a:srgbClr val="FFFFFF"/>
                </a:solidFill>
              </a:defRPr>
            </a:pPr>
            <a:r>
              <a:t>1. Computer Fundamentals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What is a Computer? The IPOS Model</a:t>
            </a:r>
          </a:p>
        </p:txBody>
      </p:sp>
      <p:sp>
        <p:nvSpPr>
          <p:cNvPr id="4" name="TextBox 3"/>
          <p:cNvSpPr txBox="1"/>
          <p:nvPr/>
        </p:nvSpPr>
        <p:spPr>
          <a:xfrm>
            <a:off x="457200" y="1371600"/>
            <a:ext cx="6035040" cy="5303520"/>
          </a:xfrm>
          <a:prstGeom prst="rect">
            <a:avLst/>
          </a:prstGeom>
          <a:noFill/>
        </p:spPr>
        <p:txBody>
          <a:bodyPr wrap="square">
            <a:spAutoFit/>
          </a:bodyPr>
          <a:lstStyle/>
          <a:p>
            <a:pPr>
              <a:spcAft>
                <a:spcPts val="1000"/>
              </a:spcAft>
              <a:defRPr sz="2000">
                <a:solidFill>
                  <a:srgbClr val="1F2933"/>
                </a:solidFill>
              </a:defRPr>
            </a:pPr>
            <a:r>
              <a:t>• Input:    Keyboard, mouse, biometric scanner, card reader</a:t>
            </a:r>
          </a:p>
          <a:p>
            <a:pPr>
              <a:spcAft>
                <a:spcPts val="1000"/>
              </a:spcAft>
              <a:defRPr sz="2000">
                <a:solidFill>
                  <a:srgbClr val="1F2933"/>
                </a:solidFill>
              </a:defRPr>
            </a:pPr>
            <a:r>
              <a:t>• Processing: CPU executes instructions (the 'brain')</a:t>
            </a:r>
          </a:p>
          <a:p>
            <a:pPr>
              <a:spcAft>
                <a:spcPts val="1000"/>
              </a:spcAft>
              <a:defRPr sz="2000">
                <a:solidFill>
                  <a:srgbClr val="1F2933"/>
                </a:solidFill>
              </a:defRPr>
            </a:pPr>
            <a:r>
              <a:t>• Output:   Monitor, printer, speakers</a:t>
            </a:r>
          </a:p>
          <a:p>
            <a:pPr>
              <a:spcAft>
                <a:spcPts val="1000"/>
              </a:spcAft>
              <a:defRPr sz="2000">
                <a:solidFill>
                  <a:srgbClr val="1F2933"/>
                </a:solidFill>
              </a:defRPr>
            </a:pPr>
            <a:r>
              <a:t>• Storage:  HDD, SSD, USB — permanent data retention</a:t>
            </a:r>
          </a:p>
          <a:p>
            <a:pPr>
              <a:spcAft>
                <a:spcPts val="1000"/>
              </a:spcAft>
              <a:defRPr sz="2000">
                <a:solidFill>
                  <a:srgbClr val="1F2933"/>
                </a:solidFill>
              </a:defRPr>
            </a:pPr>
            <a:endParaRPr/>
          </a:p>
          <a:p>
            <a:pPr>
              <a:spcAft>
                <a:spcPts val="1000"/>
              </a:spcAft>
              <a:defRPr sz="2000">
                <a:solidFill>
                  <a:srgbClr val="1F2933"/>
                </a:solidFill>
              </a:defRPr>
            </a:pPr>
            <a:r>
              <a:t>Cybersecurity angle: Every stage is an attack surface.</a:t>
            </a:r>
          </a:p>
          <a:p>
            <a:pPr>
              <a:spcAft>
                <a:spcPts val="1000"/>
              </a:spcAft>
              <a:defRPr sz="2000">
                <a:solidFill>
                  <a:srgbClr val="1F2933"/>
                </a:solidFill>
              </a:defRPr>
            </a:pPr>
            <a:r>
              <a:t>• Keyloggers target Input</a:t>
            </a:r>
          </a:p>
          <a:p>
            <a:pPr>
              <a:spcAft>
                <a:spcPts val="1000"/>
              </a:spcAft>
              <a:defRPr sz="2000">
                <a:solidFill>
                  <a:srgbClr val="1F2933"/>
                </a:solidFill>
              </a:defRPr>
            </a:pPr>
            <a:r>
              <a:t>• Side-channel attacks exploit Processing</a:t>
            </a:r>
          </a:p>
          <a:p>
            <a:pPr>
              <a:spcAft>
                <a:spcPts val="1000"/>
              </a:spcAft>
              <a:defRPr sz="2000">
                <a:solidFill>
                  <a:srgbClr val="1F2933"/>
                </a:solidFill>
              </a:defRPr>
            </a:pPr>
            <a:r>
              <a:t>• Shoulder surfing attacks Output</a:t>
            </a:r>
          </a:p>
          <a:p>
            <a:pPr>
              <a:spcAft>
                <a:spcPts val="1000"/>
              </a:spcAft>
              <a:defRPr sz="2000">
                <a:solidFill>
                  <a:srgbClr val="1F2933"/>
                </a:solidFill>
              </a:defRPr>
            </a:pPr>
            <a:r>
              <a:t>• Unencrypted USB drives risk Storage</a:t>
            </a:r>
          </a:p>
        </p:txBody>
      </p:sp>
      <p:pic>
        <p:nvPicPr>
          <p:cNvPr id="5" name="Picture 4" descr="ipos_cycle.png"/>
          <p:cNvPicPr>
            <a:picLocks noChangeAspect="1"/>
          </p:cNvPicPr>
          <p:nvPr/>
        </p:nvPicPr>
        <p:blipFill>
          <a:blip r:embed="rId3"/>
          <a:stretch>
            <a:fillRect/>
          </a:stretch>
        </p:blipFill>
        <p:spPr>
          <a:xfrm>
            <a:off x="6400800" y="1288627"/>
            <a:ext cx="5486400" cy="3086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Hardware Components &amp; Security Relevance</a:t>
            </a:r>
          </a:p>
        </p:txBody>
      </p:sp>
      <p:sp>
        <p:nvSpPr>
          <p:cNvPr id="4" name="TextBox 3"/>
          <p:cNvSpPr txBox="1"/>
          <p:nvPr/>
        </p:nvSpPr>
        <p:spPr>
          <a:xfrm>
            <a:off x="457200" y="1371600"/>
            <a:ext cx="6035040" cy="5196294"/>
          </a:xfrm>
          <a:prstGeom prst="rect">
            <a:avLst/>
          </a:prstGeom>
          <a:noFill/>
        </p:spPr>
        <p:txBody>
          <a:bodyPr wrap="square">
            <a:spAutoFit/>
          </a:bodyPr>
          <a:lstStyle/>
          <a:p>
            <a:pPr>
              <a:spcAft>
                <a:spcPts val="1000"/>
              </a:spcAft>
              <a:defRPr sz="2000">
                <a:solidFill>
                  <a:srgbClr val="1F2933"/>
                </a:solidFill>
              </a:defRPr>
            </a:pPr>
            <a:r>
              <a:rPr dirty="0"/>
              <a:t>• CPU (Central Processing Unit)</a:t>
            </a:r>
          </a:p>
          <a:p>
            <a:pPr>
              <a:spcAft>
                <a:spcPts val="1000"/>
              </a:spcAft>
              <a:defRPr sz="2000">
                <a:solidFill>
                  <a:srgbClr val="1F2933"/>
                </a:solidFill>
              </a:defRPr>
            </a:pPr>
            <a:r>
              <a:rPr dirty="0"/>
              <a:t>   - Executes instructions; speed in GHz</a:t>
            </a:r>
          </a:p>
          <a:p>
            <a:pPr>
              <a:spcAft>
                <a:spcPts val="1000"/>
              </a:spcAft>
              <a:defRPr sz="2000">
                <a:solidFill>
                  <a:srgbClr val="1F2933"/>
                </a:solidFill>
              </a:defRPr>
            </a:pPr>
            <a:r>
              <a:rPr dirty="0"/>
              <a:t>   - Security: Cryptographic ops, side-channel attacks</a:t>
            </a:r>
          </a:p>
          <a:p>
            <a:pPr>
              <a:spcAft>
                <a:spcPts val="1000"/>
              </a:spcAft>
              <a:defRPr sz="2000">
                <a:solidFill>
                  <a:srgbClr val="1F2933"/>
                </a:solidFill>
              </a:defRPr>
            </a:pPr>
            <a:r>
              <a:rPr dirty="0"/>
              <a:t>• RAM (Random Access Memory)</a:t>
            </a:r>
          </a:p>
          <a:p>
            <a:pPr>
              <a:spcAft>
                <a:spcPts val="1000"/>
              </a:spcAft>
              <a:defRPr sz="2000">
                <a:solidFill>
                  <a:srgbClr val="1F2933"/>
                </a:solidFill>
              </a:defRPr>
            </a:pPr>
            <a:r>
              <a:rPr dirty="0"/>
              <a:t>   - Temporary, volatile storage</a:t>
            </a:r>
          </a:p>
          <a:p>
            <a:pPr>
              <a:spcAft>
                <a:spcPts val="1000"/>
              </a:spcAft>
              <a:defRPr sz="2000">
                <a:solidFill>
                  <a:srgbClr val="1F2933"/>
                </a:solidFill>
              </a:defRPr>
            </a:pPr>
            <a:r>
              <a:rPr dirty="0"/>
              <a:t>   - Security: Fileless malware lives ONLY in RAM</a:t>
            </a:r>
          </a:p>
          <a:p>
            <a:pPr>
              <a:spcAft>
                <a:spcPts val="1000"/>
              </a:spcAft>
              <a:defRPr sz="2000">
                <a:solidFill>
                  <a:srgbClr val="1F2933"/>
                </a:solidFill>
              </a:defRPr>
            </a:pPr>
            <a:r>
              <a:rPr dirty="0"/>
              <a:t>• Storage (HDD / SSD / USB)</a:t>
            </a:r>
          </a:p>
          <a:p>
            <a:pPr>
              <a:spcAft>
                <a:spcPts val="1000"/>
              </a:spcAft>
              <a:defRPr sz="2000">
                <a:solidFill>
                  <a:srgbClr val="1F2933"/>
                </a:solidFill>
              </a:defRPr>
            </a:pPr>
            <a:r>
              <a:rPr dirty="0"/>
              <a:t>   - Permanent retention of data</a:t>
            </a:r>
          </a:p>
          <a:p>
            <a:pPr>
              <a:spcAft>
                <a:spcPts val="1000"/>
              </a:spcAft>
              <a:defRPr sz="2000">
                <a:solidFill>
                  <a:srgbClr val="1F2933"/>
                </a:solidFill>
              </a:defRPr>
            </a:pPr>
            <a:r>
              <a:rPr dirty="0"/>
              <a:t>   - Security: Encryption at rest protects stolen devices</a:t>
            </a:r>
          </a:p>
          <a:p>
            <a:pPr>
              <a:spcAft>
                <a:spcPts val="1000"/>
              </a:spcAft>
              <a:defRPr sz="2000">
                <a:solidFill>
                  <a:srgbClr val="1F2933"/>
                </a:solidFill>
              </a:defRPr>
            </a:pPr>
            <a:r>
              <a:rPr dirty="0"/>
              <a:t>• NIC (Network Interface Card)</a:t>
            </a:r>
          </a:p>
          <a:p>
            <a:pPr>
              <a:spcAft>
                <a:spcPts val="1000"/>
              </a:spcAft>
              <a:defRPr sz="2000">
                <a:solidFill>
                  <a:srgbClr val="1F2933"/>
                </a:solidFill>
              </a:defRPr>
            </a:pPr>
            <a:r>
              <a:rPr dirty="0"/>
              <a:t>   - Every NIC has a unique MAC address</a:t>
            </a:r>
          </a:p>
          <a:p>
            <a:pPr>
              <a:spcAft>
                <a:spcPts val="1000"/>
              </a:spcAft>
              <a:defRPr sz="2000">
                <a:solidFill>
                  <a:srgbClr val="1F2933"/>
                </a:solidFill>
              </a:defRPr>
            </a:pPr>
            <a:r>
              <a:rPr dirty="0"/>
              <a:t>   - Security: MAC spoofing, device identification</a:t>
            </a:r>
          </a:p>
        </p:txBody>
      </p:sp>
      <p:pic>
        <p:nvPicPr>
          <p:cNvPr id="5" name="Picture 4" descr="hardware_components.png"/>
          <p:cNvPicPr>
            <a:picLocks noChangeAspect="1"/>
          </p:cNvPicPr>
          <p:nvPr/>
        </p:nvPicPr>
        <p:blipFill>
          <a:blip r:embed="rId3"/>
          <a:stretch>
            <a:fillRect/>
          </a:stretch>
        </p:blipFill>
        <p:spPr>
          <a:xfrm>
            <a:off x="6400800" y="1280160"/>
            <a:ext cx="5486400" cy="3086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System Architecture: 32-bit vs 64-bit &amp; Von Neumann</a:t>
            </a:r>
          </a:p>
        </p:txBody>
      </p:sp>
      <p:sp>
        <p:nvSpPr>
          <p:cNvPr id="4" name="TextBox 3"/>
          <p:cNvSpPr txBox="1"/>
          <p:nvPr/>
        </p:nvSpPr>
        <p:spPr>
          <a:xfrm>
            <a:off x="457200" y="1371600"/>
            <a:ext cx="6035040" cy="5068054"/>
          </a:xfrm>
          <a:prstGeom prst="rect">
            <a:avLst/>
          </a:prstGeom>
          <a:noFill/>
        </p:spPr>
        <p:txBody>
          <a:bodyPr wrap="square">
            <a:spAutoFit/>
          </a:bodyPr>
          <a:lstStyle/>
          <a:p>
            <a:pPr>
              <a:spcAft>
                <a:spcPts val="1000"/>
              </a:spcAft>
              <a:defRPr sz="2000">
                <a:solidFill>
                  <a:srgbClr val="1F2933"/>
                </a:solidFill>
              </a:defRPr>
            </a:pPr>
            <a:r>
              <a:rPr dirty="0"/>
              <a:t>• 32-bit Systems:</a:t>
            </a:r>
          </a:p>
          <a:p>
            <a:pPr>
              <a:spcAft>
                <a:spcPts val="1000"/>
              </a:spcAft>
              <a:defRPr sz="2000">
                <a:solidFill>
                  <a:srgbClr val="1F2933"/>
                </a:solidFill>
              </a:defRPr>
            </a:pPr>
            <a:r>
              <a:rPr dirty="0"/>
              <a:t>   - Can address up to 4GB of RAM</a:t>
            </a:r>
          </a:p>
          <a:p>
            <a:pPr>
              <a:spcAft>
                <a:spcPts val="1000"/>
              </a:spcAft>
              <a:defRPr sz="2000">
                <a:solidFill>
                  <a:srgbClr val="1F2933"/>
                </a:solidFill>
              </a:defRPr>
            </a:pPr>
            <a:r>
              <a:rPr dirty="0"/>
              <a:t>   - Limited security features, being phased out</a:t>
            </a:r>
          </a:p>
          <a:p>
            <a:pPr>
              <a:spcAft>
                <a:spcPts val="1000"/>
              </a:spcAft>
              <a:defRPr sz="2000">
                <a:solidFill>
                  <a:srgbClr val="1F2933"/>
                </a:solidFill>
              </a:defRPr>
            </a:pPr>
            <a:r>
              <a:rPr dirty="0"/>
              <a:t>• 64-bit Systems:</a:t>
            </a:r>
          </a:p>
          <a:p>
            <a:pPr>
              <a:spcAft>
                <a:spcPts val="1000"/>
              </a:spcAft>
              <a:defRPr sz="2000">
                <a:solidFill>
                  <a:srgbClr val="1F2933"/>
                </a:solidFill>
              </a:defRPr>
            </a:pPr>
            <a:r>
              <a:rPr dirty="0"/>
              <a:t>   - Can address up to 16 exabytes theoretically</a:t>
            </a:r>
          </a:p>
          <a:p>
            <a:pPr>
              <a:spcAft>
                <a:spcPts val="1000"/>
              </a:spcAft>
              <a:defRPr sz="2000">
                <a:solidFill>
                  <a:srgbClr val="1F2933"/>
                </a:solidFill>
              </a:defRPr>
            </a:pPr>
            <a:r>
              <a:rPr dirty="0"/>
              <a:t>   - Required for modern security tools (ASLR, DEP)</a:t>
            </a:r>
          </a:p>
          <a:p>
            <a:pPr>
              <a:spcAft>
                <a:spcPts val="1000"/>
              </a:spcAft>
              <a:defRPr sz="2000">
                <a:solidFill>
                  <a:srgbClr val="1F2933"/>
                </a:solidFill>
              </a:defRPr>
            </a:pPr>
            <a:r>
              <a:rPr dirty="0"/>
              <a:t>• Von Neumann Architecture:</a:t>
            </a:r>
          </a:p>
          <a:p>
            <a:pPr>
              <a:spcAft>
                <a:spcPts val="1000"/>
              </a:spcAft>
              <a:defRPr sz="2000">
                <a:solidFill>
                  <a:srgbClr val="1F2933"/>
                </a:solidFill>
              </a:defRPr>
            </a:pPr>
            <a:r>
              <a:rPr dirty="0"/>
              <a:t>   - Input → [CPU ↔ RAM] → Output</a:t>
            </a:r>
          </a:p>
          <a:p>
            <a:pPr>
              <a:spcAft>
                <a:spcPts val="1000"/>
              </a:spcAft>
              <a:defRPr sz="2000">
                <a:solidFill>
                  <a:srgbClr val="1F2933"/>
                </a:solidFill>
              </a:defRPr>
            </a:pPr>
            <a:r>
              <a:rPr dirty="0"/>
              <a:t>            ↕</a:t>
            </a:r>
          </a:p>
          <a:p>
            <a:pPr>
              <a:spcAft>
                <a:spcPts val="1000"/>
              </a:spcAft>
              <a:defRPr sz="2000">
                <a:solidFill>
                  <a:srgbClr val="1F2933"/>
                </a:solidFill>
              </a:defRPr>
            </a:pPr>
            <a:r>
              <a:rPr dirty="0"/>
              <a:t>         [Storage]</a:t>
            </a:r>
          </a:p>
          <a:p>
            <a:pPr>
              <a:spcAft>
                <a:spcPts val="1000"/>
              </a:spcAft>
              <a:defRPr sz="2000">
                <a:solidFill>
                  <a:srgbClr val="1F2933"/>
                </a:solidFill>
              </a:defRPr>
            </a:pPr>
            <a:r>
              <a:rPr dirty="0"/>
              <a:t>Security implication: Data and instructions share memory → buffer overflow attacks.</a:t>
            </a:r>
          </a:p>
        </p:txBody>
      </p:sp>
      <p:pic>
        <p:nvPicPr>
          <p:cNvPr id="5" name="Picture 4" descr="von_neumann.png"/>
          <p:cNvPicPr>
            <a:picLocks noChangeAspect="1"/>
          </p:cNvPicPr>
          <p:nvPr/>
        </p:nvPicPr>
        <p:blipFill>
          <a:blip r:embed="rId3"/>
          <a:stretch>
            <a:fillRect/>
          </a:stretch>
        </p:blipFill>
        <p:spPr>
          <a:xfrm>
            <a:off x="6400800" y="1280160"/>
            <a:ext cx="5486400" cy="30861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Types of Computers &amp; Their Security Posture</a:t>
            </a:r>
          </a:p>
        </p:txBody>
      </p:sp>
      <p:sp>
        <p:nvSpPr>
          <p:cNvPr id="4" name="TextBox 3"/>
          <p:cNvSpPr txBox="1"/>
          <p:nvPr/>
        </p:nvSpPr>
        <p:spPr>
          <a:xfrm>
            <a:off x="457200" y="1371600"/>
            <a:ext cx="11277295" cy="5098832"/>
          </a:xfrm>
          <a:prstGeom prst="rect">
            <a:avLst/>
          </a:prstGeom>
          <a:noFill/>
        </p:spPr>
        <p:txBody>
          <a:bodyPr wrap="square">
            <a:spAutoFit/>
          </a:bodyPr>
          <a:lstStyle/>
          <a:p>
            <a:pPr>
              <a:spcAft>
                <a:spcPts val="1000"/>
              </a:spcAft>
              <a:defRPr sz="2200">
                <a:solidFill>
                  <a:srgbClr val="1F2933"/>
                </a:solidFill>
              </a:defRPr>
            </a:pPr>
            <a:r>
              <a:rPr dirty="0"/>
              <a:t>• Personal Computer (PC)</a:t>
            </a:r>
          </a:p>
          <a:p>
            <a:pPr>
              <a:spcAft>
                <a:spcPts val="1000"/>
              </a:spcAft>
              <a:defRPr sz="2200">
                <a:solidFill>
                  <a:srgbClr val="1F2933"/>
                </a:solidFill>
              </a:defRPr>
            </a:pPr>
            <a:r>
              <a:rPr dirty="0"/>
              <a:t>   - Desktops, laptops — endpoint security focus</a:t>
            </a:r>
          </a:p>
          <a:p>
            <a:pPr>
              <a:spcAft>
                <a:spcPts val="1000"/>
              </a:spcAft>
              <a:defRPr sz="2200">
                <a:solidFill>
                  <a:srgbClr val="1F2933"/>
                </a:solidFill>
              </a:defRPr>
            </a:pPr>
            <a:r>
              <a:rPr dirty="0"/>
              <a:t>• Server</a:t>
            </a:r>
          </a:p>
          <a:p>
            <a:pPr>
              <a:spcAft>
                <a:spcPts val="1000"/>
              </a:spcAft>
              <a:defRPr sz="2200">
                <a:solidFill>
                  <a:srgbClr val="1F2933"/>
                </a:solidFill>
              </a:defRPr>
            </a:pPr>
            <a:r>
              <a:rPr dirty="0"/>
              <a:t>   - High-value targets; powers websites, databases</a:t>
            </a:r>
          </a:p>
          <a:p>
            <a:pPr>
              <a:spcAft>
                <a:spcPts val="1000"/>
              </a:spcAft>
              <a:defRPr sz="2200">
                <a:solidFill>
                  <a:srgbClr val="1F2933"/>
                </a:solidFill>
              </a:defRPr>
            </a:pPr>
            <a:r>
              <a:rPr dirty="0"/>
              <a:t>   - Often runs Linux; needs hardening</a:t>
            </a:r>
          </a:p>
          <a:p>
            <a:pPr>
              <a:spcAft>
                <a:spcPts val="1000"/>
              </a:spcAft>
              <a:defRPr sz="2200">
                <a:solidFill>
                  <a:srgbClr val="1F2933"/>
                </a:solidFill>
              </a:defRPr>
            </a:pPr>
            <a:r>
              <a:rPr dirty="0"/>
              <a:t>• Embedded Systems</a:t>
            </a:r>
          </a:p>
          <a:p>
            <a:pPr>
              <a:spcAft>
                <a:spcPts val="1000"/>
              </a:spcAft>
              <a:defRPr sz="2200">
                <a:solidFill>
                  <a:srgbClr val="1F2933"/>
                </a:solidFill>
              </a:defRPr>
            </a:pPr>
            <a:r>
              <a:rPr dirty="0"/>
              <a:t>   - ATMs, traffic lights, medical devices</a:t>
            </a:r>
          </a:p>
          <a:p>
            <a:pPr>
              <a:spcAft>
                <a:spcPts val="1000"/>
              </a:spcAft>
              <a:defRPr sz="2200">
                <a:solidFill>
                  <a:srgbClr val="1F2933"/>
                </a:solidFill>
              </a:defRPr>
            </a:pPr>
            <a:r>
              <a:rPr dirty="0"/>
              <a:t>   - Often outdated and </a:t>
            </a:r>
            <a:r>
              <a:rPr dirty="0" err="1"/>
              <a:t>unpatchable</a:t>
            </a:r>
            <a:endParaRPr dirty="0"/>
          </a:p>
          <a:p>
            <a:pPr>
              <a:spcAft>
                <a:spcPts val="1000"/>
              </a:spcAft>
              <a:defRPr sz="2200">
                <a:solidFill>
                  <a:srgbClr val="1F2933"/>
                </a:solidFill>
              </a:defRPr>
            </a:pPr>
            <a:r>
              <a:rPr dirty="0"/>
              <a:t>• Mobile &amp; IoT Devices</a:t>
            </a:r>
          </a:p>
          <a:p>
            <a:pPr>
              <a:spcAft>
                <a:spcPts val="1000"/>
              </a:spcAft>
              <a:defRPr sz="2200">
                <a:solidFill>
                  <a:srgbClr val="1F2933"/>
                </a:solidFill>
              </a:defRPr>
            </a:pPr>
            <a:r>
              <a:rPr dirty="0"/>
              <a:t>   - Smartphones, smart meters, cameras</a:t>
            </a:r>
          </a:p>
          <a:p>
            <a:pPr>
              <a:spcAft>
                <a:spcPts val="1000"/>
              </a:spcAft>
              <a:defRPr sz="2200">
                <a:solidFill>
                  <a:srgbClr val="1F2933"/>
                </a:solidFill>
              </a:defRPr>
            </a:pPr>
            <a:r>
              <a:rPr dirty="0"/>
              <a:t>   - Massive attack surface; default passwords common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4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0"/>
            <a:ext cx="11277295" cy="1371600"/>
          </a:xfrm>
          <a:prstGeom prst="rect">
            <a:avLst/>
          </a:prstGeom>
          <a:noFill/>
        </p:spPr>
        <p:txBody>
          <a:bodyPr wrap="none">
            <a:spAutoFit/>
          </a:bodyPr>
          <a:lstStyle/>
          <a:p>
            <a:pPr algn="ctr">
              <a:defRPr sz="4800" b="1">
                <a:solidFill>
                  <a:srgbClr val="FFFFFF"/>
                </a:solidFill>
              </a:defRPr>
            </a:pPr>
            <a:r>
              <a:t>2. Operating Systems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What is an OS? The Security Layer</a:t>
            </a:r>
          </a:p>
        </p:txBody>
      </p:sp>
      <p:sp>
        <p:nvSpPr>
          <p:cNvPr id="4" name="TextBox 3"/>
          <p:cNvSpPr txBox="1"/>
          <p:nvPr/>
        </p:nvSpPr>
        <p:spPr>
          <a:xfrm>
            <a:off x="442112" y="1188720"/>
            <a:ext cx="11277295" cy="6032421"/>
          </a:xfrm>
          <a:prstGeom prst="rect">
            <a:avLst/>
          </a:prstGeom>
          <a:noFill/>
        </p:spPr>
        <p:txBody>
          <a:bodyPr wrap="square">
            <a:spAutoFit/>
          </a:bodyPr>
          <a:lstStyle/>
          <a:p>
            <a:pPr>
              <a:spcAft>
                <a:spcPts val="1000"/>
              </a:spcAft>
              <a:defRPr sz="2200">
                <a:solidFill>
                  <a:srgbClr val="1F2933"/>
                </a:solidFill>
              </a:defRPr>
            </a:pPr>
            <a:r>
              <a:rPr dirty="0"/>
              <a:t>User</a:t>
            </a:r>
          </a:p>
          <a:p>
            <a:pPr>
              <a:spcAft>
                <a:spcPts val="1000"/>
              </a:spcAft>
              <a:defRPr sz="2200">
                <a:solidFill>
                  <a:srgbClr val="1F2933"/>
                </a:solidFill>
              </a:defRPr>
            </a:pPr>
            <a:r>
              <a:rPr dirty="0"/>
              <a:t>  ↓</a:t>
            </a:r>
          </a:p>
          <a:p>
            <a:pPr>
              <a:spcAft>
                <a:spcPts val="1000"/>
              </a:spcAft>
              <a:defRPr sz="2200">
                <a:solidFill>
                  <a:srgbClr val="1F2933"/>
                </a:solidFill>
              </a:defRPr>
            </a:pPr>
            <a:r>
              <a:rPr dirty="0"/>
              <a:t>Applications (Browser, Wireshark)</a:t>
            </a:r>
          </a:p>
          <a:p>
            <a:pPr>
              <a:spcAft>
                <a:spcPts val="1000"/>
              </a:spcAft>
              <a:defRPr sz="2200">
                <a:solidFill>
                  <a:srgbClr val="1F2933"/>
                </a:solidFill>
              </a:defRPr>
            </a:pPr>
            <a:r>
              <a:rPr dirty="0"/>
              <a:t>  ↓</a:t>
            </a:r>
          </a:p>
          <a:p>
            <a:pPr>
              <a:spcAft>
                <a:spcPts val="1000"/>
              </a:spcAft>
              <a:defRPr sz="2200">
                <a:solidFill>
                  <a:srgbClr val="1F2933"/>
                </a:solidFill>
              </a:defRPr>
            </a:pPr>
            <a:r>
              <a:rPr dirty="0"/>
              <a:t>Operating System (Windows, Linux, macOS)</a:t>
            </a:r>
          </a:p>
          <a:p>
            <a:pPr>
              <a:spcAft>
                <a:spcPts val="1000"/>
              </a:spcAft>
              <a:defRPr sz="2200">
                <a:solidFill>
                  <a:srgbClr val="1F2933"/>
                </a:solidFill>
              </a:defRPr>
            </a:pPr>
            <a:r>
              <a:rPr dirty="0"/>
              <a:t>  ↓</a:t>
            </a:r>
          </a:p>
          <a:p>
            <a:pPr>
              <a:spcAft>
                <a:spcPts val="1000"/>
              </a:spcAft>
              <a:defRPr sz="2200">
                <a:solidFill>
                  <a:srgbClr val="1F2933"/>
                </a:solidFill>
              </a:defRPr>
            </a:pPr>
            <a:r>
              <a:rPr dirty="0"/>
              <a:t>Hardware (CPU, RAM, Disk, Network)</a:t>
            </a:r>
          </a:p>
          <a:p>
            <a:pPr>
              <a:spcAft>
                <a:spcPts val="1000"/>
              </a:spcAft>
              <a:defRPr sz="2200">
                <a:solidFill>
                  <a:srgbClr val="1F2933"/>
                </a:solidFill>
              </a:defRPr>
            </a:pPr>
            <a:r>
              <a:rPr dirty="0"/>
              <a:t>Key OS functions with security impact:</a:t>
            </a:r>
          </a:p>
          <a:p>
            <a:pPr>
              <a:spcAft>
                <a:spcPts val="1000"/>
              </a:spcAft>
              <a:defRPr sz="2200">
                <a:solidFill>
                  <a:srgbClr val="1F2933"/>
                </a:solidFill>
              </a:defRPr>
            </a:pPr>
            <a:r>
              <a:rPr dirty="0"/>
              <a:t>• Process management → Malware hides as legit processes</a:t>
            </a:r>
          </a:p>
          <a:p>
            <a:pPr>
              <a:spcAft>
                <a:spcPts val="1000"/>
              </a:spcAft>
              <a:defRPr sz="2200">
                <a:solidFill>
                  <a:srgbClr val="1F2933"/>
                </a:solidFill>
              </a:defRPr>
            </a:pPr>
            <a:r>
              <a:rPr dirty="0"/>
              <a:t>• Memory management → Buffer overflow protection</a:t>
            </a:r>
          </a:p>
          <a:p>
            <a:pPr>
              <a:spcAft>
                <a:spcPts val="1000"/>
              </a:spcAft>
              <a:defRPr sz="2200">
                <a:solidFill>
                  <a:srgbClr val="1F2933"/>
                </a:solidFill>
              </a:defRPr>
            </a:pPr>
            <a:r>
              <a:rPr dirty="0"/>
              <a:t>• File system → Permissions and access control</a:t>
            </a:r>
          </a:p>
          <a:p>
            <a:pPr>
              <a:spcAft>
                <a:spcPts val="1000"/>
              </a:spcAft>
              <a:defRPr sz="2200">
                <a:solidFill>
                  <a:srgbClr val="1F2933"/>
                </a:solidFill>
              </a:defRPr>
            </a:pPr>
            <a:r>
              <a:rPr dirty="0"/>
              <a:t>• Security &amp; access → Authentication</a:t>
            </a:r>
          </a:p>
          <a:p>
            <a:pPr>
              <a:spcAft>
                <a:spcPts val="1000"/>
              </a:spcAft>
              <a:defRPr sz="2200">
                <a:solidFill>
                  <a:srgbClr val="1F2933"/>
                </a:solidFill>
              </a:defRPr>
            </a:pPr>
            <a:r>
              <a:rPr dirty="0"/>
              <a:t>• Device management → Driver vulnerabilities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Windows File System: Where Threats Hide</a:t>
            </a:r>
          </a:p>
        </p:txBody>
      </p:sp>
      <p:sp>
        <p:nvSpPr>
          <p:cNvPr id="4" name="TextBox 3"/>
          <p:cNvSpPr txBox="1"/>
          <p:nvPr/>
        </p:nvSpPr>
        <p:spPr>
          <a:xfrm>
            <a:off x="457200" y="1371600"/>
            <a:ext cx="6035040" cy="4503797"/>
          </a:xfrm>
          <a:prstGeom prst="rect">
            <a:avLst/>
          </a:prstGeom>
          <a:noFill/>
        </p:spPr>
        <p:txBody>
          <a:bodyPr wrap="square">
            <a:spAutoFit/>
          </a:bodyPr>
          <a:lstStyle/>
          <a:p>
            <a:pPr>
              <a:spcAft>
                <a:spcPts val="1000"/>
              </a:spcAft>
              <a:defRPr sz="2000">
                <a:solidFill>
                  <a:srgbClr val="1F2933"/>
                </a:solidFill>
              </a:defRPr>
            </a:pPr>
            <a:r>
              <a:rPr dirty="0"/>
              <a:t>Security-critical directories:</a:t>
            </a:r>
          </a:p>
          <a:p>
            <a:pPr>
              <a:spcAft>
                <a:spcPts val="1000"/>
              </a:spcAft>
              <a:defRPr sz="2000">
                <a:solidFill>
                  <a:srgbClr val="1F2933"/>
                </a:solidFill>
              </a:defRPr>
            </a:pPr>
            <a:r>
              <a:rPr dirty="0"/>
              <a:t>• C:\Windows\System32</a:t>
            </a:r>
          </a:p>
          <a:p>
            <a:pPr>
              <a:spcAft>
                <a:spcPts val="1000"/>
              </a:spcAft>
              <a:defRPr sz="2000">
                <a:solidFill>
                  <a:srgbClr val="1F2933"/>
                </a:solidFill>
              </a:defRPr>
            </a:pPr>
            <a:r>
              <a:rPr dirty="0"/>
              <a:t>   → Core OS files; common malware target</a:t>
            </a:r>
          </a:p>
          <a:p>
            <a:pPr>
              <a:spcAft>
                <a:spcPts val="1000"/>
              </a:spcAft>
              <a:defRPr sz="2000">
                <a:solidFill>
                  <a:srgbClr val="1F2933"/>
                </a:solidFill>
              </a:defRPr>
            </a:pPr>
            <a:r>
              <a:rPr dirty="0"/>
              <a:t>• C:\Users\[name]\</a:t>
            </a:r>
            <a:r>
              <a:rPr dirty="0" err="1"/>
              <a:t>AppData</a:t>
            </a:r>
            <a:endParaRPr dirty="0"/>
          </a:p>
          <a:p>
            <a:pPr>
              <a:spcAft>
                <a:spcPts val="1000"/>
              </a:spcAft>
              <a:defRPr sz="2000">
                <a:solidFill>
                  <a:srgbClr val="1F2933"/>
                </a:solidFill>
              </a:defRPr>
            </a:pPr>
            <a:r>
              <a:rPr dirty="0"/>
              <a:t>   → Hidden app data; persistence location</a:t>
            </a:r>
          </a:p>
          <a:p>
            <a:pPr>
              <a:spcAft>
                <a:spcPts val="1000"/>
              </a:spcAft>
              <a:defRPr sz="2000">
                <a:solidFill>
                  <a:srgbClr val="1F2933"/>
                </a:solidFill>
              </a:defRPr>
            </a:pPr>
            <a:r>
              <a:rPr dirty="0"/>
              <a:t>• C:\Temp</a:t>
            </a:r>
          </a:p>
          <a:p>
            <a:pPr>
              <a:spcAft>
                <a:spcPts val="1000"/>
              </a:spcAft>
              <a:defRPr sz="2000">
                <a:solidFill>
                  <a:srgbClr val="1F2933"/>
                </a:solidFill>
              </a:defRPr>
            </a:pPr>
            <a:r>
              <a:rPr dirty="0"/>
              <a:t>   → Temporary files; check during investigations</a:t>
            </a:r>
          </a:p>
          <a:p>
            <a:pPr>
              <a:spcAft>
                <a:spcPts val="1000"/>
              </a:spcAft>
              <a:defRPr sz="2000">
                <a:solidFill>
                  <a:srgbClr val="1F2933"/>
                </a:solidFill>
              </a:defRPr>
            </a:pPr>
            <a:endParaRPr dirty="0"/>
          </a:p>
          <a:p>
            <a:pPr>
              <a:spcAft>
                <a:spcPts val="1000"/>
              </a:spcAft>
              <a:defRPr sz="2000">
                <a:solidFill>
                  <a:srgbClr val="1F2933"/>
                </a:solidFill>
              </a:defRPr>
            </a:pPr>
            <a:r>
              <a:rPr dirty="0"/>
              <a:t>Malware frequently drops payloads in </a:t>
            </a:r>
            <a:r>
              <a:rPr dirty="0" err="1"/>
              <a:t>AppData</a:t>
            </a:r>
            <a:r>
              <a:rPr dirty="0"/>
              <a:t> and Temp because these locations are writable by standard users and often excluded from antivirus scanning.</a:t>
            </a:r>
          </a:p>
        </p:txBody>
      </p:sp>
      <p:pic>
        <p:nvPicPr>
          <p:cNvPr id="5" name="Picture 4" descr="windows_fs.png"/>
          <p:cNvPicPr>
            <a:picLocks noChangeAspect="1"/>
          </p:cNvPicPr>
          <p:nvPr/>
        </p:nvPicPr>
        <p:blipFill>
          <a:blip r:embed="rId3"/>
          <a:stretch>
            <a:fillRect/>
          </a:stretch>
        </p:blipFill>
        <p:spPr>
          <a:xfrm>
            <a:off x="6400800" y="1280160"/>
            <a:ext cx="5486400" cy="30861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Windows Command Prompt: Essential Security Commands</a:t>
            </a:r>
          </a:p>
        </p:txBody>
      </p:sp>
      <p:sp>
        <p:nvSpPr>
          <p:cNvPr id="4" name="TextBox 3"/>
          <p:cNvSpPr txBox="1"/>
          <p:nvPr/>
        </p:nvSpPr>
        <p:spPr>
          <a:xfrm>
            <a:off x="457200" y="1371600"/>
            <a:ext cx="11277295" cy="5565626"/>
          </a:xfrm>
          <a:prstGeom prst="rect">
            <a:avLst/>
          </a:prstGeom>
          <a:noFill/>
        </p:spPr>
        <p:txBody>
          <a:bodyPr wrap="square">
            <a:spAutoFit/>
          </a:bodyPr>
          <a:lstStyle/>
          <a:p>
            <a:pPr>
              <a:spcAft>
                <a:spcPts val="1000"/>
              </a:spcAft>
              <a:defRPr sz="2200">
                <a:solidFill>
                  <a:srgbClr val="1F2933"/>
                </a:solidFill>
              </a:defRPr>
            </a:pPr>
            <a:r>
              <a:rPr dirty="0"/>
              <a:t>Command        Purpose</a:t>
            </a:r>
          </a:p>
          <a:p>
            <a:pPr>
              <a:spcAft>
                <a:spcPts val="1000"/>
              </a:spcAft>
              <a:defRPr sz="2200">
                <a:solidFill>
                  <a:srgbClr val="1F2933"/>
                </a:solidFill>
              </a:defRPr>
            </a:pPr>
            <a:r>
              <a:rPr dirty="0"/>
              <a:t>─────────      ─────────────────────────────</a:t>
            </a:r>
          </a:p>
          <a:p>
            <a:pPr>
              <a:spcAft>
                <a:spcPts val="1000"/>
              </a:spcAft>
              <a:defRPr sz="2200">
                <a:solidFill>
                  <a:srgbClr val="1F2933"/>
                </a:solidFill>
              </a:defRPr>
            </a:pPr>
            <a:r>
              <a:rPr dirty="0"/>
              <a:t>ipconfig       Show IP config</a:t>
            </a:r>
          </a:p>
          <a:p>
            <a:pPr>
              <a:spcAft>
                <a:spcPts val="1000"/>
              </a:spcAft>
              <a:defRPr sz="2200">
                <a:solidFill>
                  <a:srgbClr val="1F2933"/>
                </a:solidFill>
              </a:defRPr>
            </a:pPr>
            <a:r>
              <a:rPr dirty="0"/>
              <a:t>netstat -an    Show active connections</a:t>
            </a:r>
          </a:p>
          <a:p>
            <a:pPr>
              <a:spcAft>
                <a:spcPts val="1000"/>
              </a:spcAft>
              <a:defRPr sz="2200">
                <a:solidFill>
                  <a:srgbClr val="1F2933"/>
                </a:solidFill>
              </a:defRPr>
            </a:pPr>
            <a:r>
              <a:rPr dirty="0" err="1"/>
              <a:t>tasklist</a:t>
            </a:r>
            <a:r>
              <a:rPr dirty="0"/>
              <a:t>       List running processes</a:t>
            </a:r>
          </a:p>
          <a:p>
            <a:pPr>
              <a:spcAft>
                <a:spcPts val="1000"/>
              </a:spcAft>
              <a:defRPr sz="2200">
                <a:solidFill>
                  <a:srgbClr val="1F2933"/>
                </a:solidFill>
              </a:defRPr>
            </a:pPr>
            <a:r>
              <a:rPr dirty="0" err="1"/>
              <a:t>systeminfo</a:t>
            </a:r>
            <a:r>
              <a:rPr dirty="0"/>
              <a:t>     System details &amp; patches</a:t>
            </a:r>
          </a:p>
          <a:p>
            <a:pPr>
              <a:spcAft>
                <a:spcPts val="1000"/>
              </a:spcAft>
              <a:defRPr sz="2200">
                <a:solidFill>
                  <a:srgbClr val="1F2933"/>
                </a:solidFill>
              </a:defRPr>
            </a:pPr>
            <a:r>
              <a:rPr dirty="0"/>
              <a:t>net user       Manage user accounts</a:t>
            </a:r>
          </a:p>
          <a:p>
            <a:pPr>
              <a:spcAft>
                <a:spcPts val="1000"/>
              </a:spcAft>
              <a:defRPr sz="2200">
                <a:solidFill>
                  <a:srgbClr val="1F2933"/>
                </a:solidFill>
              </a:defRPr>
            </a:pPr>
            <a:r>
              <a:rPr dirty="0" err="1"/>
              <a:t>dir</a:t>
            </a:r>
            <a:r>
              <a:rPr dirty="0"/>
              <a:t> /a         List hidden files</a:t>
            </a:r>
          </a:p>
          <a:p>
            <a:pPr>
              <a:spcAft>
                <a:spcPts val="1000"/>
              </a:spcAft>
              <a:defRPr sz="2200">
                <a:solidFill>
                  <a:srgbClr val="1F2933"/>
                </a:solidFill>
              </a:defRPr>
            </a:pPr>
            <a:r>
              <a:rPr dirty="0"/>
              <a:t>Principle of Least Privilege:</a:t>
            </a:r>
          </a:p>
          <a:p>
            <a:pPr>
              <a:spcAft>
                <a:spcPts val="1000"/>
              </a:spcAft>
              <a:defRPr sz="2200">
                <a:solidFill>
                  <a:srgbClr val="1F2933"/>
                </a:solidFill>
              </a:defRPr>
            </a:pPr>
            <a:r>
              <a:rPr dirty="0"/>
              <a:t>• Administrator = Full access (use sparingly!)</a:t>
            </a:r>
          </a:p>
          <a:p>
            <a:pPr>
              <a:spcAft>
                <a:spcPts val="1000"/>
              </a:spcAft>
              <a:defRPr sz="2200">
                <a:solidFill>
                  <a:srgbClr val="1F2933"/>
                </a:solidFill>
              </a:defRPr>
            </a:pPr>
            <a:r>
              <a:rPr dirty="0"/>
              <a:t>• Standard User = Limited access (safer)</a:t>
            </a:r>
          </a:p>
          <a:p>
            <a:pPr>
              <a:spcAft>
                <a:spcPts val="1000"/>
              </a:spcAft>
              <a:defRPr sz="2200">
                <a:solidFill>
                  <a:srgbClr val="1F2933"/>
                </a:solidFill>
              </a:defRPr>
            </a:pPr>
            <a:r>
              <a:rPr dirty="0"/>
              <a:t>• Guest = Very limited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Linux File System: The Security Professional's OS</a:t>
            </a:r>
          </a:p>
        </p:txBody>
      </p:sp>
      <p:sp>
        <p:nvSpPr>
          <p:cNvPr id="4" name="TextBox 3"/>
          <p:cNvSpPr txBox="1"/>
          <p:nvPr/>
        </p:nvSpPr>
        <p:spPr>
          <a:xfrm>
            <a:off x="457200" y="1371600"/>
            <a:ext cx="6035040" cy="5303520"/>
          </a:xfrm>
          <a:prstGeom prst="rect">
            <a:avLst/>
          </a:prstGeom>
          <a:noFill/>
        </p:spPr>
        <p:txBody>
          <a:bodyPr wrap="square">
            <a:spAutoFit/>
          </a:bodyPr>
          <a:lstStyle/>
          <a:p>
            <a:pPr>
              <a:spcAft>
                <a:spcPts val="1000"/>
              </a:spcAft>
              <a:defRPr sz="2000">
                <a:solidFill>
                  <a:srgbClr val="1F2933"/>
                </a:solidFill>
              </a:defRPr>
            </a:pPr>
            <a:r>
              <a:t>Why Linux for cybersecurity?</a:t>
            </a:r>
          </a:p>
          <a:p>
            <a:pPr>
              <a:spcAft>
                <a:spcPts val="1000"/>
              </a:spcAft>
              <a:defRPr sz="2000">
                <a:solidFill>
                  <a:srgbClr val="1F2933"/>
                </a:solidFill>
              </a:defRPr>
            </a:pPr>
            <a:r>
              <a:t>• Free, open-source, highly configurable</a:t>
            </a:r>
          </a:p>
          <a:p>
            <a:pPr>
              <a:spcAft>
                <a:spcPts val="1000"/>
              </a:spcAft>
              <a:defRPr sz="2000">
                <a:solidFill>
                  <a:srgbClr val="1F2933"/>
                </a:solidFill>
              </a:defRPr>
            </a:pPr>
            <a:r>
              <a:t>• 95%+ of cybersecurity tools are Linux-first</a:t>
            </a:r>
          </a:p>
          <a:p>
            <a:pPr>
              <a:spcAft>
                <a:spcPts val="1000"/>
              </a:spcAft>
              <a:defRPr sz="2000">
                <a:solidFill>
                  <a:srgbClr val="1F2933"/>
                </a:solidFill>
              </a:defRPr>
            </a:pPr>
            <a:r>
              <a:t>• Powers most web servers and cloud platforms</a:t>
            </a:r>
          </a:p>
          <a:p>
            <a:pPr>
              <a:spcAft>
                <a:spcPts val="1000"/>
              </a:spcAft>
              <a:defRPr sz="2000">
                <a:solidFill>
                  <a:srgbClr val="1F2933"/>
                </a:solidFill>
              </a:defRPr>
            </a:pPr>
            <a:r>
              <a:t>• Kali Linux is the standard for penetration testing</a:t>
            </a:r>
          </a:p>
          <a:p>
            <a:pPr>
              <a:spcAft>
                <a:spcPts val="1000"/>
              </a:spcAft>
              <a:defRPr sz="2000">
                <a:solidFill>
                  <a:srgbClr val="1F2933"/>
                </a:solidFill>
              </a:defRPr>
            </a:pPr>
            <a:endParaRPr/>
          </a:p>
          <a:p>
            <a:pPr>
              <a:spcAft>
                <a:spcPts val="1000"/>
              </a:spcAft>
              <a:defRPr sz="2000">
                <a:solidFill>
                  <a:srgbClr val="1F2933"/>
                </a:solidFill>
              </a:defRPr>
            </a:pPr>
            <a:r>
              <a:t>Security-critical directories:</a:t>
            </a:r>
          </a:p>
          <a:p>
            <a:pPr>
              <a:spcAft>
                <a:spcPts val="1000"/>
              </a:spcAft>
              <a:defRPr sz="2000">
                <a:solidFill>
                  <a:srgbClr val="1F2933"/>
                </a:solidFill>
              </a:defRPr>
            </a:pPr>
            <a:r>
              <a:t>• /etc/      → Config files &amp; passwords</a:t>
            </a:r>
          </a:p>
          <a:p>
            <a:pPr>
              <a:spcAft>
                <a:spcPts val="1000"/>
              </a:spcAft>
              <a:defRPr sz="2000">
                <a:solidFill>
                  <a:srgbClr val="1F2933"/>
                </a:solidFill>
              </a:defRPr>
            </a:pPr>
            <a:r>
              <a:t>• /var/log/  → System logs (security goldmine)</a:t>
            </a:r>
          </a:p>
          <a:p>
            <a:pPr>
              <a:spcAft>
                <a:spcPts val="1000"/>
              </a:spcAft>
              <a:defRPr sz="2000">
                <a:solidFill>
                  <a:srgbClr val="1F2933"/>
                </a:solidFill>
              </a:defRPr>
            </a:pPr>
            <a:r>
              <a:t>• /tmp/      → Temporary files (malware favorite)</a:t>
            </a:r>
          </a:p>
          <a:p>
            <a:pPr>
              <a:spcAft>
                <a:spcPts val="1000"/>
              </a:spcAft>
              <a:defRPr sz="2000">
                <a:solidFill>
                  <a:srgbClr val="1F2933"/>
                </a:solidFill>
              </a:defRPr>
            </a:pPr>
            <a:r>
              <a:t>• /root/     → Root admin home</a:t>
            </a:r>
          </a:p>
        </p:txBody>
      </p:sp>
      <p:pic>
        <p:nvPicPr>
          <p:cNvPr id="5" name="Picture 4" descr="linux_fs.png"/>
          <p:cNvPicPr>
            <a:picLocks noChangeAspect="1"/>
          </p:cNvPicPr>
          <p:nvPr/>
        </p:nvPicPr>
        <p:blipFill>
          <a:blip r:embed="rId3"/>
          <a:stretch>
            <a:fillRect/>
          </a:stretch>
        </p:blipFill>
        <p:spPr>
          <a:xfrm>
            <a:off x="6400800" y="1280160"/>
            <a:ext cx="5486400" cy="3086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Linux Commands &amp; File Permissions</a:t>
            </a:r>
          </a:p>
        </p:txBody>
      </p:sp>
      <p:sp>
        <p:nvSpPr>
          <p:cNvPr id="4" name="TextBox 3"/>
          <p:cNvSpPr txBox="1"/>
          <p:nvPr/>
        </p:nvSpPr>
        <p:spPr>
          <a:xfrm>
            <a:off x="457200" y="1371600"/>
            <a:ext cx="6035040" cy="5303520"/>
          </a:xfrm>
          <a:prstGeom prst="rect">
            <a:avLst/>
          </a:prstGeom>
          <a:noFill/>
        </p:spPr>
        <p:txBody>
          <a:bodyPr wrap="square">
            <a:spAutoFit/>
          </a:bodyPr>
          <a:lstStyle/>
          <a:p>
            <a:pPr>
              <a:spcAft>
                <a:spcPts val="1000"/>
              </a:spcAft>
              <a:defRPr sz="2000">
                <a:solidFill>
                  <a:srgbClr val="1F2933"/>
                </a:solidFill>
              </a:defRPr>
            </a:pPr>
            <a:r>
              <a:rPr dirty="0"/>
              <a:t>Essential Linux Commands:</a:t>
            </a:r>
          </a:p>
          <a:p>
            <a:pPr>
              <a:spcAft>
                <a:spcPts val="1000"/>
              </a:spcAft>
              <a:defRPr sz="2000">
                <a:solidFill>
                  <a:srgbClr val="1F2933"/>
                </a:solidFill>
              </a:defRPr>
            </a:pPr>
            <a:r>
              <a:rPr dirty="0"/>
              <a:t>• ls -la /</a:t>
            </a:r>
            <a:r>
              <a:rPr dirty="0" err="1"/>
              <a:t>etc</a:t>
            </a:r>
            <a:r>
              <a:rPr dirty="0"/>
              <a:t>       → List files with details</a:t>
            </a:r>
          </a:p>
          <a:p>
            <a:pPr>
              <a:spcAft>
                <a:spcPts val="1000"/>
              </a:spcAft>
              <a:defRPr sz="2000">
                <a:solidFill>
                  <a:srgbClr val="1F2933"/>
                </a:solidFill>
              </a:defRPr>
            </a:pPr>
            <a:r>
              <a:rPr dirty="0"/>
              <a:t>• cat /</a:t>
            </a:r>
            <a:r>
              <a:rPr dirty="0" err="1"/>
              <a:t>etc</a:t>
            </a:r>
            <a:r>
              <a:rPr dirty="0"/>
              <a:t>/passwd   → View file contents</a:t>
            </a:r>
          </a:p>
          <a:p>
            <a:pPr>
              <a:spcAft>
                <a:spcPts val="1000"/>
              </a:spcAft>
              <a:defRPr sz="2000">
                <a:solidFill>
                  <a:srgbClr val="1F2933"/>
                </a:solidFill>
              </a:defRPr>
            </a:pPr>
            <a:r>
              <a:rPr dirty="0"/>
              <a:t>• grep 'Failed' /var/log/</a:t>
            </a:r>
            <a:r>
              <a:rPr dirty="0" err="1"/>
              <a:t>auth.log</a:t>
            </a:r>
            <a:endParaRPr dirty="0"/>
          </a:p>
          <a:p>
            <a:pPr>
              <a:spcAft>
                <a:spcPts val="1000"/>
              </a:spcAft>
              <a:defRPr sz="2000">
                <a:solidFill>
                  <a:srgbClr val="1F2933"/>
                </a:solidFill>
              </a:defRPr>
            </a:pPr>
            <a:r>
              <a:rPr dirty="0"/>
              <a:t>• </a:t>
            </a:r>
            <a:r>
              <a:rPr dirty="0" err="1"/>
              <a:t>ps</a:t>
            </a:r>
            <a:r>
              <a:rPr dirty="0"/>
              <a:t> aux            → Show all running processes</a:t>
            </a:r>
          </a:p>
          <a:p>
            <a:pPr>
              <a:spcAft>
                <a:spcPts val="1000"/>
              </a:spcAft>
              <a:defRPr sz="2000">
                <a:solidFill>
                  <a:srgbClr val="1F2933"/>
                </a:solidFill>
              </a:defRPr>
            </a:pPr>
            <a:r>
              <a:rPr dirty="0"/>
              <a:t>• </a:t>
            </a:r>
            <a:r>
              <a:rPr dirty="0" err="1"/>
              <a:t>sudo</a:t>
            </a:r>
            <a:r>
              <a:rPr dirty="0"/>
              <a:t> </a:t>
            </a:r>
            <a:r>
              <a:rPr dirty="0" err="1"/>
              <a:t>chmod</a:t>
            </a:r>
            <a:r>
              <a:rPr dirty="0"/>
              <a:t> 600 </a:t>
            </a:r>
            <a:r>
              <a:rPr dirty="0" err="1"/>
              <a:t>file.txt</a:t>
            </a:r>
            <a:endParaRPr dirty="0"/>
          </a:p>
          <a:p>
            <a:pPr>
              <a:spcAft>
                <a:spcPts val="1000"/>
              </a:spcAft>
              <a:defRPr sz="2000">
                <a:solidFill>
                  <a:srgbClr val="1F2933"/>
                </a:solidFill>
              </a:defRPr>
            </a:pPr>
            <a:r>
              <a:rPr dirty="0"/>
              <a:t>Permission Breakdown:  -</a:t>
            </a:r>
            <a:r>
              <a:rPr dirty="0" err="1"/>
              <a:t>rwxr-xr</a:t>
            </a:r>
            <a:r>
              <a:rPr dirty="0"/>
              <a:t>--</a:t>
            </a:r>
          </a:p>
          <a:p>
            <a:pPr>
              <a:spcAft>
                <a:spcPts val="1000"/>
              </a:spcAft>
              <a:defRPr sz="2000">
                <a:solidFill>
                  <a:srgbClr val="1F2933"/>
                </a:solidFill>
              </a:defRPr>
            </a:pPr>
            <a:r>
              <a:rPr dirty="0"/>
              <a:t>• - = file type</a:t>
            </a:r>
          </a:p>
          <a:p>
            <a:pPr>
              <a:spcAft>
                <a:spcPts val="1000"/>
              </a:spcAft>
              <a:defRPr sz="2000">
                <a:solidFill>
                  <a:srgbClr val="1F2933"/>
                </a:solidFill>
              </a:defRPr>
            </a:pPr>
            <a:r>
              <a:rPr dirty="0"/>
              <a:t>• </a:t>
            </a:r>
            <a:r>
              <a:rPr dirty="0" err="1"/>
              <a:t>rwx</a:t>
            </a:r>
            <a:r>
              <a:rPr dirty="0"/>
              <a:t> = Owner (read/write/execute)</a:t>
            </a:r>
          </a:p>
          <a:p>
            <a:pPr>
              <a:spcAft>
                <a:spcPts val="1000"/>
              </a:spcAft>
              <a:defRPr sz="2000">
                <a:solidFill>
                  <a:srgbClr val="1F2933"/>
                </a:solidFill>
              </a:defRPr>
            </a:pPr>
            <a:r>
              <a:rPr dirty="0"/>
              <a:t>• r-x = Group        r-- = Others</a:t>
            </a:r>
          </a:p>
          <a:p>
            <a:pPr>
              <a:spcAft>
                <a:spcPts val="1000"/>
              </a:spcAft>
              <a:defRPr sz="2000">
                <a:solidFill>
                  <a:srgbClr val="1F2933"/>
                </a:solidFill>
              </a:defRPr>
            </a:pPr>
            <a:endParaRPr dirty="0"/>
          </a:p>
          <a:p>
            <a:pPr>
              <a:spcAft>
                <a:spcPts val="1000"/>
              </a:spcAft>
              <a:defRPr sz="2000">
                <a:solidFill>
                  <a:srgbClr val="1F2933"/>
                </a:solidFill>
              </a:defRPr>
            </a:pPr>
            <a:r>
              <a:rPr dirty="0"/>
              <a:t>Numeric: r=4, w=2, x=1</a:t>
            </a:r>
          </a:p>
        </p:txBody>
      </p:sp>
      <p:pic>
        <p:nvPicPr>
          <p:cNvPr id="5" name="Picture 4" descr="linux_permissions.png"/>
          <p:cNvPicPr>
            <a:picLocks noChangeAspect="1"/>
          </p:cNvPicPr>
          <p:nvPr/>
        </p:nvPicPr>
        <p:blipFill>
          <a:blip r:embed="rId3"/>
          <a:stretch>
            <a:fillRect/>
          </a:stretch>
        </p:blipFill>
        <p:spPr>
          <a:xfrm>
            <a:off x="6217920" y="1280160"/>
            <a:ext cx="5669280" cy="31889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4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0"/>
            <a:ext cx="11277295" cy="1371600"/>
          </a:xfrm>
          <a:prstGeom prst="rect">
            <a:avLst/>
          </a:prstGeom>
          <a:noFill/>
        </p:spPr>
        <p:txBody>
          <a:bodyPr wrap="none">
            <a:spAutoFit/>
          </a:bodyPr>
          <a:lstStyle/>
          <a:p>
            <a:pPr algn="ctr">
              <a:defRPr sz="4800" b="1">
                <a:solidFill>
                  <a:srgbClr val="FFFFFF"/>
                </a:solidFill>
              </a:defRPr>
            </a:pPr>
            <a:r>
              <a:t>3. Introduction to Programming Logic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Why Programming Logic Matters in Cybersecurity</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Logic skills enable you to:</a:t>
            </a:r>
          </a:p>
          <a:p>
            <a:pPr>
              <a:spcAft>
                <a:spcPts val="1000"/>
              </a:spcAft>
              <a:defRPr sz="2200">
                <a:solidFill>
                  <a:srgbClr val="1F2933"/>
                </a:solidFill>
              </a:defRPr>
            </a:pPr>
            <a:endParaRPr/>
          </a:p>
          <a:p>
            <a:pPr>
              <a:spcAft>
                <a:spcPts val="1000"/>
              </a:spcAft>
              <a:defRPr sz="2200">
                <a:solidFill>
                  <a:srgbClr val="1F2933"/>
                </a:solidFill>
              </a:defRPr>
            </a:pPr>
            <a:r>
              <a:t>• Read and write basic scripts for automation</a:t>
            </a:r>
          </a:p>
          <a:p>
            <a:pPr>
              <a:spcAft>
                <a:spcPts val="1000"/>
              </a:spcAft>
              <a:defRPr sz="2200">
                <a:solidFill>
                  <a:srgbClr val="1F2933"/>
                </a:solidFill>
              </a:defRPr>
            </a:pPr>
            <a:r>
              <a:t>   → Automate log parsing, network scans</a:t>
            </a:r>
          </a:p>
          <a:p>
            <a:pPr>
              <a:spcAft>
                <a:spcPts val="1000"/>
              </a:spcAft>
              <a:defRPr sz="2200">
                <a:solidFill>
                  <a:srgbClr val="1F2933"/>
                </a:solidFill>
              </a:defRPr>
            </a:pPr>
            <a:endParaRPr/>
          </a:p>
          <a:p>
            <a:pPr>
              <a:spcAft>
                <a:spcPts val="1000"/>
              </a:spcAft>
              <a:defRPr sz="2200">
                <a:solidFill>
                  <a:srgbClr val="1F2933"/>
                </a:solidFill>
              </a:defRPr>
            </a:pPr>
            <a:r>
              <a:t>• Understand how malware and exploits work</a:t>
            </a:r>
          </a:p>
          <a:p>
            <a:pPr>
              <a:spcAft>
                <a:spcPts val="1000"/>
              </a:spcAft>
              <a:defRPr sz="2200">
                <a:solidFill>
                  <a:srgbClr val="1F2933"/>
                </a:solidFill>
              </a:defRPr>
            </a:pPr>
            <a:r>
              <a:t>   → Malware is code written with malicious intent</a:t>
            </a:r>
          </a:p>
          <a:p>
            <a:pPr>
              <a:spcAft>
                <a:spcPts val="1000"/>
              </a:spcAft>
              <a:defRPr sz="2200">
                <a:solidFill>
                  <a:srgbClr val="1F2933"/>
                </a:solidFill>
              </a:defRPr>
            </a:pPr>
            <a:endParaRPr/>
          </a:p>
          <a:p>
            <a:pPr>
              <a:spcAft>
                <a:spcPts val="1000"/>
              </a:spcAft>
              <a:defRPr sz="2200">
                <a:solidFill>
                  <a:srgbClr val="1F2933"/>
                </a:solidFill>
              </a:defRPr>
            </a:pPr>
            <a:r>
              <a:t>• Analyze code for vulnerabilities</a:t>
            </a:r>
          </a:p>
          <a:p>
            <a:pPr>
              <a:spcAft>
                <a:spcPts val="1000"/>
              </a:spcAft>
              <a:defRPr sz="2200">
                <a:solidFill>
                  <a:srgbClr val="1F2933"/>
                </a:solidFill>
              </a:defRPr>
            </a:pPr>
            <a:r>
              <a:t>   → Spot SQL injection, buffer overflow</a:t>
            </a:r>
          </a:p>
          <a:p>
            <a:pPr>
              <a:spcAft>
                <a:spcPts val="1000"/>
              </a:spcAft>
              <a:defRPr sz="2200">
                <a:solidFill>
                  <a:srgbClr val="1F2933"/>
                </a:solidFill>
              </a:defRPr>
            </a:pPr>
            <a:endParaRPr/>
          </a:p>
          <a:p>
            <a:pPr>
              <a:spcAft>
                <a:spcPts val="1000"/>
              </a:spcAft>
              <a:defRPr sz="2200">
                <a:solidFill>
                  <a:srgbClr val="1F2933"/>
                </a:solidFill>
              </a:defRPr>
            </a:pPr>
            <a:r>
              <a:t>• Write simple security tools</a:t>
            </a:r>
          </a:p>
          <a:p>
            <a:pPr>
              <a:spcAft>
                <a:spcPts val="1000"/>
              </a:spcAft>
              <a:defRPr sz="2200">
                <a:solidFill>
                  <a:srgbClr val="1F2933"/>
                </a:solidFill>
              </a:defRPr>
            </a:pPr>
            <a:r>
              <a:t>   → Python is the #1 language in cybersecurity</a:t>
            </a:r>
          </a:p>
          <a:p>
            <a:pPr>
              <a:spcAft>
                <a:spcPts val="1000"/>
              </a:spcAft>
              <a:defRPr sz="2200">
                <a:solidFill>
                  <a:srgbClr val="1F2933"/>
                </a:solidFill>
              </a:defRPr>
            </a:pPr>
            <a:endParaRPr/>
          </a:p>
          <a:p>
            <a:pPr>
              <a:spcAft>
                <a:spcPts val="1000"/>
              </a:spcAft>
              <a:defRPr sz="2200">
                <a:solidFill>
                  <a:srgbClr val="1F2933"/>
                </a:solidFill>
              </a:defRPr>
            </a:pPr>
            <a:r>
              <a:t>• Over 90% of tools in Kali Linux are Python or Bash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Variables, Data Types &amp; Security Examples</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A variable is a named container that stores a value.</a:t>
            </a:r>
          </a:p>
          <a:p>
            <a:pPr>
              <a:spcAft>
                <a:spcPts val="1000"/>
              </a:spcAft>
              <a:defRPr sz="2200">
                <a:solidFill>
                  <a:srgbClr val="1F2933"/>
                </a:solidFill>
              </a:defRPr>
            </a:pPr>
            <a:endParaRPr/>
          </a:p>
          <a:p>
            <a:pPr>
              <a:spcAft>
                <a:spcPts val="1000"/>
              </a:spcAft>
              <a:defRPr sz="2200">
                <a:solidFill>
                  <a:srgbClr val="1F2933"/>
                </a:solidFill>
              </a:defRPr>
            </a:pPr>
            <a:r>
              <a:t>  student_name = 'Chanda Mwale'  # String</a:t>
            </a:r>
          </a:p>
          <a:p>
            <a:pPr>
              <a:spcAft>
                <a:spcPts val="1000"/>
              </a:spcAft>
              <a:defRPr sz="2200">
                <a:solidFill>
                  <a:srgbClr val="1F2933"/>
                </a:solidFill>
              </a:defRPr>
            </a:pPr>
            <a:r>
              <a:t>  age = 22                        # Integer</a:t>
            </a:r>
          </a:p>
          <a:p>
            <a:pPr>
              <a:spcAft>
                <a:spcPts val="1000"/>
              </a:spcAft>
              <a:defRPr sz="2200">
                <a:solidFill>
                  <a:srgbClr val="1F2933"/>
                </a:solidFill>
              </a:defRPr>
            </a:pPr>
            <a:r>
              <a:t>  gpa = 3.5                       # Float</a:t>
            </a:r>
          </a:p>
          <a:p>
            <a:pPr>
              <a:spcAft>
                <a:spcPts val="1000"/>
              </a:spcAft>
              <a:defRPr sz="2200">
                <a:solidFill>
                  <a:srgbClr val="1F2933"/>
                </a:solidFill>
              </a:defRPr>
            </a:pPr>
            <a:r>
              <a:t>  is_enrolled = True              # Boolean</a:t>
            </a:r>
          </a:p>
          <a:p>
            <a:pPr>
              <a:spcAft>
                <a:spcPts val="1000"/>
              </a:spcAft>
              <a:defRPr sz="2200">
                <a:solidFill>
                  <a:srgbClr val="1F2933"/>
                </a:solidFill>
              </a:defRPr>
            </a:pPr>
            <a:endParaRPr/>
          </a:p>
          <a:p>
            <a:pPr>
              <a:spcAft>
                <a:spcPts val="1000"/>
              </a:spcAft>
              <a:defRPr sz="2200">
                <a:solidFill>
                  <a:srgbClr val="1F2933"/>
                </a:solidFill>
              </a:defRPr>
            </a:pPr>
            <a:r>
              <a:t>Security-relevant data types:</a:t>
            </a:r>
          </a:p>
          <a:p>
            <a:pPr>
              <a:spcAft>
                <a:spcPts val="1000"/>
              </a:spcAft>
              <a:defRPr sz="2200">
                <a:solidFill>
                  <a:srgbClr val="1F2933"/>
                </a:solidFill>
              </a:defRPr>
            </a:pPr>
            <a:r>
              <a:t>• String  → usernames, passwords, IPs, domains</a:t>
            </a:r>
          </a:p>
          <a:p>
            <a:pPr>
              <a:spcAft>
                <a:spcPts val="1000"/>
              </a:spcAft>
              <a:defRPr sz="2200">
                <a:solidFill>
                  <a:srgbClr val="1F2933"/>
                </a:solidFill>
              </a:defRPr>
            </a:pPr>
            <a:r>
              <a:t>• Integer → port numbers (22, 80, 443)</a:t>
            </a:r>
          </a:p>
          <a:p>
            <a:pPr>
              <a:spcAft>
                <a:spcPts val="1000"/>
              </a:spcAft>
              <a:defRPr sz="2200">
                <a:solidFill>
                  <a:srgbClr val="1F2933"/>
                </a:solidFill>
              </a:defRPr>
            </a:pPr>
            <a:r>
              <a:t>• Boolean → access_granted, is_admin</a:t>
            </a:r>
          </a:p>
          <a:p>
            <a:pPr>
              <a:spcAft>
                <a:spcPts val="1000"/>
              </a:spcAft>
              <a:defRPr sz="2200">
                <a:solidFill>
                  <a:srgbClr val="1F2933"/>
                </a:solidFill>
              </a:defRPr>
            </a:pPr>
            <a:r>
              <a:t>• List    → ['192.168.1.1', '10.0.0.1']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Control Structures: If/Else &amp; Loops in Security</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If/Else — Decision Making:</a:t>
            </a:r>
          </a:p>
          <a:p>
            <a:pPr>
              <a:spcAft>
                <a:spcPts val="1000"/>
              </a:spcAft>
              <a:defRPr sz="2200">
                <a:solidFill>
                  <a:srgbClr val="1F2933"/>
                </a:solidFill>
              </a:defRPr>
            </a:pPr>
            <a:r>
              <a:t>  if password == 'Secure@2026':</a:t>
            </a:r>
          </a:p>
          <a:p>
            <a:pPr>
              <a:spcAft>
                <a:spcPts val="1000"/>
              </a:spcAft>
              <a:defRPr sz="2200">
                <a:solidFill>
                  <a:srgbClr val="1F2933"/>
                </a:solidFill>
              </a:defRPr>
            </a:pPr>
            <a:r>
              <a:t>      print('Access granted')</a:t>
            </a:r>
          </a:p>
          <a:p>
            <a:pPr>
              <a:spcAft>
                <a:spcPts val="1000"/>
              </a:spcAft>
              <a:defRPr sz="2200">
                <a:solidFill>
                  <a:srgbClr val="1F2933"/>
                </a:solidFill>
              </a:defRPr>
            </a:pPr>
            <a:r>
              <a:t>  else:</a:t>
            </a:r>
          </a:p>
          <a:p>
            <a:pPr>
              <a:spcAft>
                <a:spcPts val="1000"/>
              </a:spcAft>
              <a:defRPr sz="2200">
                <a:solidFill>
                  <a:srgbClr val="1F2933"/>
                </a:solidFill>
              </a:defRPr>
            </a:pPr>
            <a:r>
              <a:t>      print('Access denied')</a:t>
            </a:r>
          </a:p>
          <a:p>
            <a:pPr>
              <a:spcAft>
                <a:spcPts val="1000"/>
              </a:spcAft>
              <a:defRPr sz="2200">
                <a:solidFill>
                  <a:srgbClr val="1F2933"/>
                </a:solidFill>
              </a:defRPr>
            </a:pPr>
            <a:endParaRPr/>
          </a:p>
          <a:p>
            <a:pPr>
              <a:spcAft>
                <a:spcPts val="1000"/>
              </a:spcAft>
              <a:defRPr sz="2200">
                <a:solidFill>
                  <a:srgbClr val="1F2933"/>
                </a:solidFill>
              </a:defRPr>
            </a:pPr>
            <a:r>
              <a:t>While Loop — Account Lockout:</a:t>
            </a:r>
          </a:p>
          <a:p>
            <a:pPr>
              <a:spcAft>
                <a:spcPts val="1000"/>
              </a:spcAft>
              <a:defRPr sz="2200">
                <a:solidFill>
                  <a:srgbClr val="1F2933"/>
                </a:solidFill>
              </a:defRPr>
            </a:pPr>
            <a:r>
              <a:t>  attempts = 0</a:t>
            </a:r>
          </a:p>
          <a:p>
            <a:pPr>
              <a:spcAft>
                <a:spcPts val="1000"/>
              </a:spcAft>
              <a:defRPr sz="2200">
                <a:solidFill>
                  <a:srgbClr val="1F2933"/>
                </a:solidFill>
              </a:defRPr>
            </a:pPr>
            <a:r>
              <a:t>  while attempts &lt; 3:</a:t>
            </a:r>
          </a:p>
          <a:p>
            <a:pPr>
              <a:spcAft>
                <a:spcPts val="1000"/>
              </a:spcAft>
              <a:defRPr sz="2200">
                <a:solidFill>
                  <a:srgbClr val="1F2933"/>
                </a:solidFill>
              </a:defRPr>
            </a:pPr>
            <a:r>
              <a:t>      password = input('Enter password: ')</a:t>
            </a:r>
          </a:p>
          <a:p>
            <a:pPr>
              <a:spcAft>
                <a:spcPts val="1000"/>
              </a:spcAft>
              <a:defRPr sz="2200">
                <a:solidFill>
                  <a:srgbClr val="1F2933"/>
                </a:solidFill>
              </a:defRPr>
            </a:pPr>
            <a:r>
              <a:t>      if password == 'Secure@2026':</a:t>
            </a:r>
          </a:p>
          <a:p>
            <a:pPr>
              <a:spcAft>
                <a:spcPts val="1000"/>
              </a:spcAft>
              <a:defRPr sz="2200">
                <a:solidFill>
                  <a:srgbClr val="1F2933"/>
                </a:solidFill>
              </a:defRPr>
            </a:pPr>
            <a:r>
              <a:t>          print('Access granted'); break</a:t>
            </a:r>
          </a:p>
          <a:p>
            <a:pPr>
              <a:spcAft>
                <a:spcPts val="1000"/>
              </a:spcAft>
              <a:defRPr sz="2200">
                <a:solidFill>
                  <a:srgbClr val="1F2933"/>
                </a:solidFill>
              </a:defRPr>
            </a:pPr>
            <a:r>
              <a:t>      else:</a:t>
            </a:r>
          </a:p>
          <a:p>
            <a:pPr>
              <a:spcAft>
                <a:spcPts val="1000"/>
              </a:spcAft>
              <a:defRPr sz="2200">
                <a:solidFill>
                  <a:srgbClr val="1F2933"/>
                </a:solidFill>
              </a:defRPr>
            </a:pPr>
            <a:r>
              <a:t>          attempts += 1</a:t>
            </a:r>
          </a:p>
          <a:p>
            <a:pPr>
              <a:spcAft>
                <a:spcPts val="1000"/>
              </a:spcAft>
              <a:defRPr sz="2200">
                <a:solidFill>
                  <a:srgbClr val="1F2933"/>
                </a:solidFill>
              </a:defRPr>
            </a:pPr>
            <a:r>
              <a:t>  if attempts == 3:</a:t>
            </a:r>
          </a:p>
          <a:p>
            <a:pPr>
              <a:spcAft>
                <a:spcPts val="1000"/>
              </a:spcAft>
              <a:defRPr sz="2200">
                <a:solidFill>
                  <a:srgbClr val="1F2933"/>
                </a:solidFill>
              </a:defRPr>
            </a:pPr>
            <a:r>
              <a:t>      print('Account locked.')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Functions, Pseudocode &amp; Bash Scripting</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Function — Reusable security check:</a:t>
            </a:r>
          </a:p>
          <a:p>
            <a:pPr>
              <a:spcAft>
                <a:spcPts val="1000"/>
              </a:spcAft>
              <a:defRPr sz="2200">
                <a:solidFill>
                  <a:srgbClr val="1F2933"/>
                </a:solidFill>
              </a:defRPr>
            </a:pPr>
            <a:r>
              <a:t>  def check_password_strength(pw):</a:t>
            </a:r>
          </a:p>
          <a:p>
            <a:pPr>
              <a:spcAft>
                <a:spcPts val="1000"/>
              </a:spcAft>
              <a:defRPr sz="2200">
                <a:solidFill>
                  <a:srgbClr val="1F2933"/>
                </a:solidFill>
              </a:defRPr>
            </a:pPr>
            <a:r>
              <a:t>      if len(pw) &lt; 8: return 'Weak'</a:t>
            </a:r>
          </a:p>
          <a:p>
            <a:pPr>
              <a:spcAft>
                <a:spcPts val="1000"/>
              </a:spcAft>
              <a:defRPr sz="2200">
                <a:solidFill>
                  <a:srgbClr val="1F2933"/>
                </a:solidFill>
              </a:defRPr>
            </a:pPr>
            <a:r>
              <a:t>      elif pw.isalpha(): return 'Weak'</a:t>
            </a:r>
          </a:p>
          <a:p>
            <a:pPr>
              <a:spcAft>
                <a:spcPts val="1000"/>
              </a:spcAft>
              <a:defRPr sz="2200">
                <a:solidFill>
                  <a:srgbClr val="1F2933"/>
                </a:solidFill>
              </a:defRPr>
            </a:pPr>
            <a:r>
              <a:t>      else: return 'Strong'</a:t>
            </a:r>
          </a:p>
          <a:p>
            <a:pPr>
              <a:spcAft>
                <a:spcPts val="1000"/>
              </a:spcAft>
              <a:defRPr sz="2200">
                <a:solidFill>
                  <a:srgbClr val="1F2933"/>
                </a:solidFill>
              </a:defRPr>
            </a:pPr>
            <a:endParaRPr/>
          </a:p>
          <a:p>
            <a:pPr>
              <a:spcAft>
                <a:spcPts val="1000"/>
              </a:spcAft>
              <a:defRPr sz="2200">
                <a:solidFill>
                  <a:srgbClr val="1F2933"/>
                </a:solidFill>
              </a:defRPr>
            </a:pPr>
            <a:r>
              <a:t>Pseudocode — Planning before coding:</a:t>
            </a:r>
          </a:p>
          <a:p>
            <a:pPr>
              <a:spcAft>
                <a:spcPts val="1000"/>
              </a:spcAft>
              <a:defRPr sz="2200">
                <a:solidFill>
                  <a:srgbClr val="1F2933"/>
                </a:solidFill>
              </a:defRPr>
            </a:pPr>
            <a:r>
              <a:t>  START → INPUT username → INPUT password</a:t>
            </a:r>
          </a:p>
          <a:p>
            <a:pPr>
              <a:spcAft>
                <a:spcPts val="1000"/>
              </a:spcAft>
              <a:defRPr sz="2200">
                <a:solidFill>
                  <a:srgbClr val="1F2933"/>
                </a:solidFill>
              </a:defRPr>
            </a:pPr>
            <a:r>
              <a:t>  IF username EXISTS AND password MATCHES:</a:t>
            </a:r>
          </a:p>
          <a:p>
            <a:pPr>
              <a:spcAft>
                <a:spcPts val="1000"/>
              </a:spcAft>
              <a:defRPr sz="2200">
                <a:solidFill>
                  <a:srgbClr val="1F2933"/>
                </a:solidFill>
              </a:defRPr>
            </a:pPr>
            <a:r>
              <a:t>      GRANT access → LOG success</a:t>
            </a:r>
          </a:p>
          <a:p>
            <a:pPr>
              <a:spcAft>
                <a:spcPts val="1000"/>
              </a:spcAft>
              <a:defRPr sz="2200">
                <a:solidFill>
                  <a:srgbClr val="1F2933"/>
                </a:solidFill>
              </a:defRPr>
            </a:pPr>
            <a:r>
              <a:t>  ELSE:</a:t>
            </a:r>
          </a:p>
          <a:p>
            <a:pPr>
              <a:spcAft>
                <a:spcPts val="1000"/>
              </a:spcAft>
              <a:defRPr sz="2200">
                <a:solidFill>
                  <a:srgbClr val="1F2933"/>
                </a:solidFill>
              </a:defRPr>
            </a:pPr>
            <a:r>
              <a:t>      INCREMENT failed_attempts</a:t>
            </a:r>
          </a:p>
          <a:p>
            <a:pPr>
              <a:spcAft>
                <a:spcPts val="1000"/>
              </a:spcAft>
              <a:defRPr sz="2200">
                <a:solidFill>
                  <a:srgbClr val="1F2933"/>
                </a:solidFill>
              </a:defRPr>
            </a:pPr>
            <a:r>
              <a:t>      IF failed_attempts &gt;= 3: LOCK account</a:t>
            </a:r>
          </a:p>
          <a:p>
            <a:pPr>
              <a:spcAft>
                <a:spcPts val="1000"/>
              </a:spcAft>
              <a:defRPr sz="2200">
                <a:solidFill>
                  <a:srgbClr val="1F2933"/>
                </a:solidFill>
              </a:defRPr>
            </a:pPr>
            <a:endParaRPr/>
          </a:p>
          <a:p>
            <a:pPr>
              <a:spcAft>
                <a:spcPts val="1000"/>
              </a:spcAft>
              <a:defRPr sz="2200">
                <a:solidFill>
                  <a:srgbClr val="1F2933"/>
                </a:solidFill>
              </a:defRPr>
            </a:pPr>
            <a:r>
              <a:t>Bash — Network health check:</a:t>
            </a:r>
          </a:p>
          <a:p>
            <a:pPr>
              <a:spcAft>
                <a:spcPts val="1000"/>
              </a:spcAft>
              <a:defRPr sz="2200">
                <a:solidFill>
                  <a:srgbClr val="1F2933"/>
                </a:solidFill>
              </a:defRPr>
            </a:pPr>
            <a:r>
              <a:t>  #!/bin/bash</a:t>
            </a:r>
          </a:p>
          <a:p>
            <a:pPr>
              <a:spcAft>
                <a:spcPts val="1000"/>
              </a:spcAft>
              <a:defRPr sz="2200">
                <a:solidFill>
                  <a:srgbClr val="1F2933"/>
                </a:solidFill>
              </a:defRPr>
            </a:pPr>
            <a:r>
              <a:t>  ping -c 4 8.8.8.8</a:t>
            </a:r>
          </a:p>
          <a:p>
            <a:pPr>
              <a:spcAft>
                <a:spcPts val="1000"/>
              </a:spcAft>
              <a:defRPr sz="2200">
                <a:solidFill>
                  <a:srgbClr val="1F2933"/>
                </a:solidFill>
              </a:defRPr>
            </a:pPr>
            <a:r>
              <a:t>  ip a | grep 'inet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4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0"/>
            <a:ext cx="11277295" cy="1371600"/>
          </a:xfrm>
          <a:prstGeom prst="rect">
            <a:avLst/>
          </a:prstGeom>
          <a:noFill/>
        </p:spPr>
        <p:txBody>
          <a:bodyPr wrap="none">
            <a:spAutoFit/>
          </a:bodyPr>
          <a:lstStyle/>
          <a:p>
            <a:pPr algn="ctr">
              <a:defRPr sz="4800" b="1">
                <a:solidFill>
                  <a:srgbClr val="FFFFFF"/>
                </a:solidFill>
              </a:defRPr>
            </a:pPr>
            <a:r>
              <a:t>4. Mathematics for Cybersecurity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Number Systems: Decimal, Binary, Hexadecimal</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Decimal (Base 10) — Human system</a:t>
            </a:r>
          </a:p>
          <a:p>
            <a:pPr>
              <a:spcAft>
                <a:spcPts val="1000"/>
              </a:spcAft>
              <a:defRPr sz="2200">
                <a:solidFill>
                  <a:srgbClr val="1F2933"/>
                </a:solidFill>
              </a:defRPr>
            </a:pPr>
            <a:r>
              <a:t>   Digits: 0-9     Example: 255</a:t>
            </a:r>
          </a:p>
          <a:p>
            <a:pPr>
              <a:spcAft>
                <a:spcPts val="1000"/>
              </a:spcAft>
              <a:defRPr sz="2200">
                <a:solidFill>
                  <a:srgbClr val="1F2933"/>
                </a:solidFill>
              </a:defRPr>
            </a:pPr>
            <a:endParaRPr/>
          </a:p>
          <a:p>
            <a:pPr>
              <a:spcAft>
                <a:spcPts val="1000"/>
              </a:spcAft>
              <a:defRPr sz="2200">
                <a:solidFill>
                  <a:srgbClr val="1F2933"/>
                </a:solidFill>
              </a:defRPr>
            </a:pPr>
            <a:r>
              <a:t>Binary (Base 2) — Computer system</a:t>
            </a:r>
          </a:p>
          <a:p>
            <a:pPr>
              <a:spcAft>
                <a:spcPts val="1000"/>
              </a:spcAft>
              <a:defRPr sz="2200">
                <a:solidFill>
                  <a:srgbClr val="1F2933"/>
                </a:solidFill>
              </a:defRPr>
            </a:pPr>
            <a:r>
              <a:t>   Digits: 0, 1    Example: 1111 1111</a:t>
            </a:r>
          </a:p>
          <a:p>
            <a:pPr>
              <a:spcAft>
                <a:spcPts val="1000"/>
              </a:spcAft>
              <a:defRPr sz="2200">
                <a:solidFill>
                  <a:srgbClr val="1F2933"/>
                </a:solidFill>
              </a:defRPr>
            </a:pPr>
            <a:r>
              <a:t>   1 bit = one digit    8 bits = 1 byte</a:t>
            </a:r>
          </a:p>
          <a:p>
            <a:pPr>
              <a:spcAft>
                <a:spcPts val="1000"/>
              </a:spcAft>
              <a:defRPr sz="2200">
                <a:solidFill>
                  <a:srgbClr val="1F2933"/>
                </a:solidFill>
              </a:defRPr>
            </a:pPr>
            <a:endParaRPr/>
          </a:p>
          <a:p>
            <a:pPr>
              <a:spcAft>
                <a:spcPts val="1000"/>
              </a:spcAft>
              <a:defRPr sz="2200">
                <a:solidFill>
                  <a:srgbClr val="1F2933"/>
                </a:solidFill>
              </a:defRPr>
            </a:pPr>
            <a:r>
              <a:t>Hexadecimal (Base 16) — Compact notation</a:t>
            </a:r>
          </a:p>
          <a:p>
            <a:pPr>
              <a:spcAft>
                <a:spcPts val="1000"/>
              </a:spcAft>
              <a:defRPr sz="2200">
                <a:solidFill>
                  <a:srgbClr val="1F2933"/>
                </a:solidFill>
              </a:defRPr>
            </a:pPr>
            <a:r>
              <a:t>   Digits: 0-9, A=10..F=15</a:t>
            </a:r>
          </a:p>
          <a:p>
            <a:pPr>
              <a:spcAft>
                <a:spcPts val="1000"/>
              </a:spcAft>
              <a:defRPr sz="2200">
                <a:solidFill>
                  <a:srgbClr val="1F2933"/>
                </a:solidFill>
              </a:defRPr>
            </a:pPr>
            <a:r>
              <a:t>   Example: FF</a:t>
            </a:r>
          </a:p>
          <a:p>
            <a:pPr>
              <a:spcAft>
                <a:spcPts val="1000"/>
              </a:spcAft>
              <a:defRPr sz="2200">
                <a:solidFill>
                  <a:srgbClr val="1F2933"/>
                </a:solidFill>
              </a:defRPr>
            </a:pPr>
            <a:endParaRPr/>
          </a:p>
          <a:p>
            <a:pPr>
              <a:spcAft>
                <a:spcPts val="1000"/>
              </a:spcAft>
              <a:defRPr sz="2200">
                <a:solidFill>
                  <a:srgbClr val="1F2933"/>
                </a:solidFill>
              </a:defRPr>
            </a:pPr>
            <a:r>
              <a:t>Cybersecurity uses:</a:t>
            </a:r>
          </a:p>
          <a:p>
            <a:pPr>
              <a:spcAft>
                <a:spcPts val="1000"/>
              </a:spcAft>
              <a:defRPr sz="2200">
                <a:solidFill>
                  <a:srgbClr val="1F2933"/>
                </a:solidFill>
              </a:defRPr>
            </a:pPr>
            <a:r>
              <a:t>• Binary  → IP addressing, subnet masks, Boolean logic</a:t>
            </a:r>
          </a:p>
          <a:p>
            <a:pPr>
              <a:spcAft>
                <a:spcPts val="1000"/>
              </a:spcAft>
              <a:defRPr sz="2200">
                <a:solidFill>
                  <a:srgbClr val="1F2933"/>
                </a:solidFill>
              </a:defRPr>
            </a:pPr>
            <a:r>
              <a:t>• Hex     → MAC addresses, memory addresses, hashes</a:t>
            </a:r>
          </a:p>
          <a:p>
            <a:pPr>
              <a:spcAft>
                <a:spcPts val="1000"/>
              </a:spcAft>
              <a:defRPr sz="2200">
                <a:solidFill>
                  <a:srgbClr val="1F2933"/>
                </a:solidFill>
              </a:defRPr>
            </a:pPr>
            <a:r>
              <a:t>• Decimal → Human-readable port numbers, IP octets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Binary Conversion with Examples</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Decimal to Binary: Divide by 2, collect remainders</a:t>
            </a:r>
          </a:p>
          <a:p>
            <a:pPr>
              <a:spcAft>
                <a:spcPts val="1000"/>
              </a:spcAft>
              <a:defRPr sz="2200">
                <a:solidFill>
                  <a:srgbClr val="1F2933"/>
                </a:solidFill>
              </a:defRPr>
            </a:pPr>
            <a:r>
              <a:t>   Convert 45 to binary:</a:t>
            </a:r>
          </a:p>
          <a:p>
            <a:pPr>
              <a:spcAft>
                <a:spcPts val="1000"/>
              </a:spcAft>
              <a:defRPr sz="2200">
                <a:solidFill>
                  <a:srgbClr val="1F2933"/>
                </a:solidFill>
              </a:defRPr>
            </a:pPr>
            <a:r>
              <a:t>   45 ÷ 2 = 22 r 1</a:t>
            </a:r>
          </a:p>
          <a:p>
            <a:pPr>
              <a:spcAft>
                <a:spcPts val="1000"/>
              </a:spcAft>
              <a:defRPr sz="2200">
                <a:solidFill>
                  <a:srgbClr val="1F2933"/>
                </a:solidFill>
              </a:defRPr>
            </a:pPr>
            <a:r>
              <a:t>   22 ÷ 2 = 11 r 0</a:t>
            </a:r>
          </a:p>
          <a:p>
            <a:pPr>
              <a:spcAft>
                <a:spcPts val="1000"/>
              </a:spcAft>
              <a:defRPr sz="2200">
                <a:solidFill>
                  <a:srgbClr val="1F2933"/>
                </a:solidFill>
              </a:defRPr>
            </a:pPr>
            <a:r>
              <a:t>   11 ÷ 2 =  5 r 1</a:t>
            </a:r>
          </a:p>
          <a:p>
            <a:pPr>
              <a:spcAft>
                <a:spcPts val="1000"/>
              </a:spcAft>
              <a:defRPr sz="2200">
                <a:solidFill>
                  <a:srgbClr val="1F2933"/>
                </a:solidFill>
              </a:defRPr>
            </a:pPr>
            <a:r>
              <a:t>    5 ÷ 2 =  2 r 1</a:t>
            </a:r>
          </a:p>
          <a:p>
            <a:pPr>
              <a:spcAft>
                <a:spcPts val="1000"/>
              </a:spcAft>
              <a:defRPr sz="2200">
                <a:solidFill>
                  <a:srgbClr val="1F2933"/>
                </a:solidFill>
              </a:defRPr>
            </a:pPr>
            <a:r>
              <a:t>    2 ÷ 2 =  1 r 0</a:t>
            </a:r>
          </a:p>
          <a:p>
            <a:pPr>
              <a:spcAft>
                <a:spcPts val="1000"/>
              </a:spcAft>
              <a:defRPr sz="2200">
                <a:solidFill>
                  <a:srgbClr val="1F2933"/>
                </a:solidFill>
              </a:defRPr>
            </a:pPr>
            <a:r>
              <a:t>    1 ÷ 2 =  0 r 1</a:t>
            </a:r>
          </a:p>
          <a:p>
            <a:pPr>
              <a:spcAft>
                <a:spcPts val="1000"/>
              </a:spcAft>
              <a:defRPr sz="2200">
                <a:solidFill>
                  <a:srgbClr val="1F2933"/>
                </a:solidFill>
              </a:defRPr>
            </a:pPr>
            <a:r>
              <a:t>   Read bottom-up: 101101</a:t>
            </a:r>
          </a:p>
          <a:p>
            <a:pPr>
              <a:spcAft>
                <a:spcPts val="1000"/>
              </a:spcAft>
              <a:defRPr sz="2200">
                <a:solidFill>
                  <a:srgbClr val="1F2933"/>
                </a:solidFill>
              </a:defRPr>
            </a:pPr>
            <a:endParaRPr/>
          </a:p>
          <a:p>
            <a:pPr>
              <a:spcAft>
                <a:spcPts val="1000"/>
              </a:spcAft>
              <a:defRPr sz="2200">
                <a:solidFill>
                  <a:srgbClr val="1F2933"/>
                </a:solidFill>
              </a:defRPr>
            </a:pPr>
            <a:r>
              <a:t>Binary to Decimal: Multiply by position values</a:t>
            </a:r>
          </a:p>
          <a:p>
            <a:pPr>
              <a:spcAft>
                <a:spcPts val="1000"/>
              </a:spcAft>
              <a:defRPr sz="2200">
                <a:solidFill>
                  <a:srgbClr val="1F2933"/>
                </a:solidFill>
              </a:defRPr>
            </a:pPr>
            <a:r>
              <a:t>   128  64  32  16   8   4   2   1</a:t>
            </a:r>
          </a:p>
          <a:p>
            <a:pPr>
              <a:spcAft>
                <a:spcPts val="1000"/>
              </a:spcAft>
              <a:defRPr sz="2200">
                <a:solidFill>
                  <a:srgbClr val="1F2933"/>
                </a:solidFill>
              </a:defRPr>
            </a:pPr>
            <a:r>
              <a:t>     1   0   1   0   1   1   0   0</a:t>
            </a:r>
          </a:p>
          <a:p>
            <a:pPr>
              <a:spcAft>
                <a:spcPts val="1000"/>
              </a:spcAft>
              <a:defRPr sz="2200">
                <a:solidFill>
                  <a:srgbClr val="1F2933"/>
                </a:solidFill>
              </a:defRPr>
            </a:pPr>
            <a:r>
              <a:t>   = 128 + 32 + 8 + 4 = 172</a:t>
            </a:r>
          </a:p>
          <a:p>
            <a:pPr>
              <a:spcAft>
                <a:spcPts val="1000"/>
              </a:spcAft>
              <a:defRPr sz="2200">
                <a:solidFill>
                  <a:srgbClr val="1F2933"/>
                </a:solidFill>
              </a:defRPr>
            </a:pPr>
            <a:endParaRPr/>
          </a:p>
          <a:p>
            <a:pPr>
              <a:spcAft>
                <a:spcPts val="1000"/>
              </a:spcAft>
              <a:defRPr sz="2200">
                <a:solidFill>
                  <a:srgbClr val="1F2933"/>
                </a:solidFill>
              </a:defRPr>
            </a:pPr>
            <a:r>
              <a:t>This octet (172) appears in IP addresses like 172.16.0.1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Hexadecimal Conversion: The Binary Shortcut</a:t>
            </a:r>
          </a:p>
        </p:txBody>
      </p:sp>
      <p:sp>
        <p:nvSpPr>
          <p:cNvPr id="4" name="TextBox 3"/>
          <p:cNvSpPr txBox="1"/>
          <p:nvPr/>
        </p:nvSpPr>
        <p:spPr>
          <a:xfrm>
            <a:off x="457200" y="1371600"/>
            <a:ext cx="6035040" cy="5303520"/>
          </a:xfrm>
          <a:prstGeom prst="rect">
            <a:avLst/>
          </a:prstGeom>
          <a:noFill/>
        </p:spPr>
        <p:txBody>
          <a:bodyPr wrap="square">
            <a:spAutoFit/>
          </a:bodyPr>
          <a:lstStyle/>
          <a:p>
            <a:pPr>
              <a:spcAft>
                <a:spcPts val="1000"/>
              </a:spcAft>
              <a:defRPr sz="2000">
                <a:solidFill>
                  <a:srgbClr val="1F2933"/>
                </a:solidFill>
              </a:defRPr>
            </a:pPr>
            <a:r>
              <a:t>Binary to Hex: Group into 4 bits</a:t>
            </a:r>
          </a:p>
          <a:p>
            <a:pPr>
              <a:spcAft>
                <a:spcPts val="1000"/>
              </a:spcAft>
              <a:defRPr sz="2000">
                <a:solidFill>
                  <a:srgbClr val="1F2933"/>
                </a:solidFill>
              </a:defRPr>
            </a:pPr>
            <a:r>
              <a:t>   Binary:  1010  1100</a:t>
            </a:r>
          </a:p>
          <a:p>
            <a:pPr>
              <a:spcAft>
                <a:spcPts val="1000"/>
              </a:spcAft>
              <a:defRPr sz="2000">
                <a:solidFill>
                  <a:srgbClr val="1F2933"/>
                </a:solidFill>
              </a:defRPr>
            </a:pPr>
            <a:r>
              <a:t>   Hex:        A     C</a:t>
            </a:r>
          </a:p>
          <a:p>
            <a:pPr>
              <a:spcAft>
                <a:spcPts val="1000"/>
              </a:spcAft>
              <a:defRPr sz="2000">
                <a:solidFill>
                  <a:srgbClr val="1F2933"/>
                </a:solidFill>
              </a:defRPr>
            </a:pPr>
            <a:r>
              <a:t>   So 10101100 binary = AC hex = 172 decimal</a:t>
            </a:r>
          </a:p>
          <a:p>
            <a:pPr>
              <a:spcAft>
                <a:spcPts val="1000"/>
              </a:spcAft>
              <a:defRPr sz="2000">
                <a:solidFill>
                  <a:srgbClr val="1F2933"/>
                </a:solidFill>
              </a:defRPr>
            </a:pPr>
            <a:endParaRPr/>
          </a:p>
          <a:p>
            <a:pPr>
              <a:spcAft>
                <a:spcPts val="1000"/>
              </a:spcAft>
              <a:defRPr sz="2000">
                <a:solidFill>
                  <a:srgbClr val="1F2933"/>
                </a:solidFill>
              </a:defRPr>
            </a:pPr>
            <a:r>
              <a:t>Decimal to Hex: Divide by 16</a:t>
            </a:r>
          </a:p>
          <a:p>
            <a:pPr>
              <a:spcAft>
                <a:spcPts val="1000"/>
              </a:spcAft>
              <a:defRPr sz="2000">
                <a:solidFill>
                  <a:srgbClr val="1F2933"/>
                </a:solidFill>
              </a:defRPr>
            </a:pPr>
            <a:r>
              <a:t>   Convert 255 to hex:</a:t>
            </a:r>
          </a:p>
          <a:p>
            <a:pPr>
              <a:spcAft>
                <a:spcPts val="1000"/>
              </a:spcAft>
              <a:defRPr sz="2000">
                <a:solidFill>
                  <a:srgbClr val="1F2933"/>
                </a:solidFill>
              </a:defRPr>
            </a:pPr>
            <a:r>
              <a:t>   255 ÷ 16 = 15 remainder 15 → F</a:t>
            </a:r>
          </a:p>
          <a:p>
            <a:pPr>
              <a:spcAft>
                <a:spcPts val="1000"/>
              </a:spcAft>
              <a:defRPr sz="2000">
                <a:solidFill>
                  <a:srgbClr val="1F2933"/>
                </a:solidFill>
              </a:defRPr>
            </a:pPr>
            <a:r>
              <a:t>    15 ÷ 16 =  0 remainder 15 → F</a:t>
            </a:r>
          </a:p>
          <a:p>
            <a:pPr>
              <a:spcAft>
                <a:spcPts val="1000"/>
              </a:spcAft>
              <a:defRPr sz="2000">
                <a:solidFill>
                  <a:srgbClr val="1F2933"/>
                </a:solidFill>
              </a:defRPr>
            </a:pPr>
            <a:r>
              <a:t>   Result: FF</a:t>
            </a:r>
          </a:p>
          <a:p>
            <a:pPr>
              <a:spcAft>
                <a:spcPts val="1000"/>
              </a:spcAft>
              <a:defRPr sz="2000">
                <a:solidFill>
                  <a:srgbClr val="1F2933"/>
                </a:solidFill>
              </a:defRPr>
            </a:pPr>
            <a:endParaRPr/>
          </a:p>
          <a:p>
            <a:pPr>
              <a:spcAft>
                <a:spcPts val="1000"/>
              </a:spcAft>
              <a:defRPr sz="2000">
                <a:solidFill>
                  <a:srgbClr val="1F2933"/>
                </a:solidFill>
              </a:defRPr>
            </a:pPr>
            <a:r>
              <a:t>Quick Reference:</a:t>
            </a:r>
          </a:p>
          <a:p>
            <a:pPr>
              <a:spcAft>
                <a:spcPts val="1000"/>
              </a:spcAft>
              <a:defRPr sz="2000">
                <a:solidFill>
                  <a:srgbClr val="1F2933"/>
                </a:solidFill>
              </a:defRPr>
            </a:pPr>
            <a:r>
              <a:t>   Dec  0   5   9   10   15   16   255</a:t>
            </a:r>
          </a:p>
          <a:p>
            <a:pPr>
              <a:spcAft>
                <a:spcPts val="1000"/>
              </a:spcAft>
              <a:defRPr sz="2000">
                <a:solidFill>
                  <a:srgbClr val="1F2933"/>
                </a:solidFill>
              </a:defRPr>
            </a:pPr>
            <a:r>
              <a:t>   Hex  0    5    9    A    F    10       FF</a:t>
            </a:r>
          </a:p>
        </p:txBody>
      </p:sp>
      <p:pic>
        <p:nvPicPr>
          <p:cNvPr id="5" name="Picture 4" descr="binary_hex_table.png"/>
          <p:cNvPicPr>
            <a:picLocks noChangeAspect="1"/>
          </p:cNvPicPr>
          <p:nvPr/>
        </p:nvPicPr>
        <p:blipFill>
          <a:blip r:embed="rId3"/>
          <a:stretch>
            <a:fillRect/>
          </a:stretch>
        </p:blipFill>
        <p:spPr>
          <a:xfrm>
            <a:off x="6400800" y="1280160"/>
            <a:ext cx="5486400" cy="30861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Boolean Algebra &amp; Logic Gates</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Boolean algebra uses only TRUE (1) and FALSE (0).</a:t>
            </a:r>
          </a:p>
          <a:p>
            <a:pPr>
              <a:spcAft>
                <a:spcPts val="1000"/>
              </a:spcAft>
              <a:defRPr sz="2200">
                <a:solidFill>
                  <a:srgbClr val="1F2933"/>
                </a:solidFill>
              </a:defRPr>
            </a:pPr>
            <a:endParaRPr/>
          </a:p>
          <a:p>
            <a:pPr>
              <a:spcAft>
                <a:spcPts val="1000"/>
              </a:spcAft>
              <a:defRPr sz="2200">
                <a:solidFill>
                  <a:srgbClr val="1F2933"/>
                </a:solidFill>
              </a:defRPr>
            </a:pPr>
            <a:r>
              <a:t>Logic Operations:</a:t>
            </a:r>
          </a:p>
          <a:p>
            <a:pPr>
              <a:spcAft>
                <a:spcPts val="1000"/>
              </a:spcAft>
              <a:defRPr sz="2200">
                <a:solidFill>
                  <a:srgbClr val="1F2933"/>
                </a:solidFill>
              </a:defRPr>
            </a:pPr>
            <a:r>
              <a:t>• AND (∧)  → Both must be true      1 AND 1 = 1</a:t>
            </a:r>
          </a:p>
          <a:p>
            <a:pPr>
              <a:spcAft>
                <a:spcPts val="1000"/>
              </a:spcAft>
              <a:defRPr sz="2200">
                <a:solidFill>
                  <a:srgbClr val="1F2933"/>
                </a:solidFill>
              </a:defRPr>
            </a:pPr>
            <a:r>
              <a:t>• OR (∨)   → At least one true      0 OR 1 = 1</a:t>
            </a:r>
          </a:p>
          <a:p>
            <a:pPr>
              <a:spcAft>
                <a:spcPts val="1000"/>
              </a:spcAft>
              <a:defRPr sz="2200">
                <a:solidFill>
                  <a:srgbClr val="1F2933"/>
                </a:solidFill>
              </a:defRPr>
            </a:pPr>
            <a:r>
              <a:t>• NOT (¬)  → Inverts the value      NOT 1 = 0</a:t>
            </a:r>
          </a:p>
          <a:p>
            <a:pPr>
              <a:spcAft>
                <a:spcPts val="1000"/>
              </a:spcAft>
              <a:defRPr sz="2200">
                <a:solidFill>
                  <a:srgbClr val="1F2933"/>
                </a:solidFill>
              </a:defRPr>
            </a:pPr>
            <a:r>
              <a:t>• XOR (⊕)  → One or other, not both 1 XOR 1 = 0</a:t>
            </a:r>
          </a:p>
          <a:p>
            <a:pPr>
              <a:spcAft>
                <a:spcPts val="1000"/>
              </a:spcAft>
              <a:defRPr sz="2200">
                <a:solidFill>
                  <a:srgbClr val="1F2933"/>
                </a:solidFill>
              </a:defRPr>
            </a:pPr>
            <a:endParaRPr/>
          </a:p>
          <a:p>
            <a:pPr>
              <a:spcAft>
                <a:spcPts val="1000"/>
              </a:spcAft>
              <a:defRPr sz="2200">
                <a:solidFill>
                  <a:srgbClr val="1F2933"/>
                </a:solidFill>
              </a:defRPr>
            </a:pPr>
            <a:r>
              <a:t>AND Gate Truth Table:</a:t>
            </a:r>
          </a:p>
          <a:p>
            <a:pPr>
              <a:spcAft>
                <a:spcPts val="1000"/>
              </a:spcAft>
              <a:defRPr sz="2200">
                <a:solidFill>
                  <a:srgbClr val="1F2933"/>
                </a:solidFill>
              </a:defRPr>
            </a:pPr>
            <a:r>
              <a:t>   A | B | A AND B</a:t>
            </a:r>
          </a:p>
          <a:p>
            <a:pPr>
              <a:spcAft>
                <a:spcPts val="1000"/>
              </a:spcAft>
              <a:defRPr sz="2200">
                <a:solidFill>
                  <a:srgbClr val="1F2933"/>
                </a:solidFill>
              </a:defRPr>
            </a:pPr>
            <a:r>
              <a:t>   0 | 0 |    0</a:t>
            </a:r>
          </a:p>
          <a:p>
            <a:pPr>
              <a:spcAft>
                <a:spcPts val="1000"/>
              </a:spcAft>
              <a:defRPr sz="2200">
                <a:solidFill>
                  <a:srgbClr val="1F2933"/>
                </a:solidFill>
              </a:defRPr>
            </a:pPr>
            <a:r>
              <a:t>   0 | 1 |    0</a:t>
            </a:r>
          </a:p>
          <a:p>
            <a:pPr>
              <a:spcAft>
                <a:spcPts val="1000"/>
              </a:spcAft>
              <a:defRPr sz="2200">
                <a:solidFill>
                  <a:srgbClr val="1F2933"/>
                </a:solidFill>
              </a:defRPr>
            </a:pPr>
            <a:r>
              <a:t>   1 | 0 |    0</a:t>
            </a:r>
          </a:p>
          <a:p>
            <a:pPr>
              <a:spcAft>
                <a:spcPts val="1000"/>
              </a:spcAft>
              <a:defRPr sz="2200">
                <a:solidFill>
                  <a:srgbClr val="1F2933"/>
                </a:solidFill>
              </a:defRPr>
            </a:pPr>
            <a:r>
              <a:t>   1 | 1 |    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XOR: The Foundation of Encryption</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XOR Truth Table:</a:t>
            </a:r>
          </a:p>
          <a:p>
            <a:pPr>
              <a:spcAft>
                <a:spcPts val="1000"/>
              </a:spcAft>
              <a:defRPr sz="2200">
                <a:solidFill>
                  <a:srgbClr val="1F2933"/>
                </a:solidFill>
              </a:defRPr>
            </a:pPr>
            <a:r>
              <a:t>   A | B | A XOR B</a:t>
            </a:r>
          </a:p>
          <a:p>
            <a:pPr>
              <a:spcAft>
                <a:spcPts val="1000"/>
              </a:spcAft>
              <a:defRPr sz="2200">
                <a:solidFill>
                  <a:srgbClr val="1F2933"/>
                </a:solidFill>
              </a:defRPr>
            </a:pPr>
            <a:r>
              <a:t>   0 | 0 |    0</a:t>
            </a:r>
          </a:p>
          <a:p>
            <a:pPr>
              <a:spcAft>
                <a:spcPts val="1000"/>
              </a:spcAft>
              <a:defRPr sz="2200">
                <a:solidFill>
                  <a:srgbClr val="1F2933"/>
                </a:solidFill>
              </a:defRPr>
            </a:pPr>
            <a:r>
              <a:t>   0 | 1 |    1</a:t>
            </a:r>
          </a:p>
          <a:p>
            <a:pPr>
              <a:spcAft>
                <a:spcPts val="1000"/>
              </a:spcAft>
              <a:defRPr sz="2200">
                <a:solidFill>
                  <a:srgbClr val="1F2933"/>
                </a:solidFill>
              </a:defRPr>
            </a:pPr>
            <a:r>
              <a:t>   1 | 0 |    1</a:t>
            </a:r>
          </a:p>
          <a:p>
            <a:pPr>
              <a:spcAft>
                <a:spcPts val="1000"/>
              </a:spcAft>
              <a:defRPr sz="2200">
                <a:solidFill>
                  <a:srgbClr val="1F2933"/>
                </a:solidFill>
              </a:defRPr>
            </a:pPr>
            <a:r>
              <a:t>   1 | 1 |    0</a:t>
            </a:r>
          </a:p>
          <a:p>
            <a:pPr>
              <a:spcAft>
                <a:spcPts val="1000"/>
              </a:spcAft>
              <a:defRPr sz="2200">
                <a:solidFill>
                  <a:srgbClr val="1F2933"/>
                </a:solidFill>
              </a:defRPr>
            </a:pPr>
            <a:endParaRPr/>
          </a:p>
          <a:p>
            <a:pPr>
              <a:spcAft>
                <a:spcPts val="1000"/>
              </a:spcAft>
              <a:defRPr sz="2200">
                <a:solidFill>
                  <a:srgbClr val="1F2933"/>
                </a:solidFill>
              </a:defRPr>
            </a:pPr>
            <a:r>
              <a:t>The Magic Property:</a:t>
            </a:r>
          </a:p>
          <a:p>
            <a:pPr>
              <a:spcAft>
                <a:spcPts val="1000"/>
              </a:spcAft>
              <a:defRPr sz="2200">
                <a:solidFill>
                  <a:srgbClr val="1F2933"/>
                </a:solidFill>
              </a:defRPr>
            </a:pPr>
            <a:r>
              <a:t>   If you XOR a value with a key, then XOR the result</a:t>
            </a:r>
          </a:p>
          <a:p>
            <a:pPr>
              <a:spcAft>
                <a:spcPts val="1000"/>
              </a:spcAft>
              <a:defRPr sz="2200">
                <a:solidFill>
                  <a:srgbClr val="1F2933"/>
                </a:solidFill>
              </a:defRPr>
            </a:pPr>
            <a:r>
              <a:t>   with the SAME key, you get the original value back!</a:t>
            </a:r>
          </a:p>
          <a:p>
            <a:pPr>
              <a:spcAft>
                <a:spcPts val="1000"/>
              </a:spcAft>
              <a:defRPr sz="2200">
                <a:solidFill>
                  <a:srgbClr val="1F2933"/>
                </a:solidFill>
              </a:defRPr>
            </a:pPr>
            <a:endParaRPr/>
          </a:p>
          <a:p>
            <a:pPr>
              <a:spcAft>
                <a:spcPts val="1000"/>
              </a:spcAft>
              <a:defRPr sz="2200">
                <a:solidFill>
                  <a:srgbClr val="1F2933"/>
                </a:solidFill>
              </a:defRPr>
            </a:pPr>
            <a:r>
              <a:t>Example:</a:t>
            </a:r>
          </a:p>
          <a:p>
            <a:pPr>
              <a:spcAft>
                <a:spcPts val="1000"/>
              </a:spcAft>
              <a:defRPr sz="2200">
                <a:solidFill>
                  <a:srgbClr val="1F2933"/>
                </a:solidFill>
              </a:defRPr>
            </a:pPr>
            <a:r>
              <a:t>   Plaintext:  1010</a:t>
            </a:r>
          </a:p>
          <a:p>
            <a:pPr>
              <a:spcAft>
                <a:spcPts val="1000"/>
              </a:spcAft>
              <a:defRPr sz="2200">
                <a:solidFill>
                  <a:srgbClr val="1F2933"/>
                </a:solidFill>
              </a:defRPr>
            </a:pPr>
            <a:r>
              <a:t>   Key:        1100</a:t>
            </a:r>
          </a:p>
          <a:p>
            <a:pPr>
              <a:spcAft>
                <a:spcPts val="1000"/>
              </a:spcAft>
              <a:defRPr sz="2200">
                <a:solidFill>
                  <a:srgbClr val="1F2933"/>
                </a:solidFill>
              </a:defRPr>
            </a:pPr>
            <a:r>
              <a:t>   Ciphertext: 0110   (1010 XOR 1100)</a:t>
            </a:r>
          </a:p>
          <a:p>
            <a:pPr>
              <a:spcAft>
                <a:spcPts val="1000"/>
              </a:spcAft>
              <a:defRPr sz="2200">
                <a:solidFill>
                  <a:srgbClr val="1F2933"/>
                </a:solidFill>
              </a:defRPr>
            </a:pPr>
            <a:r>
              <a:t>   Decrypt:    1010   (0110 XOR 1100) ← Original!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4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0"/>
            <a:ext cx="11277295" cy="1371600"/>
          </a:xfrm>
          <a:prstGeom prst="rect">
            <a:avLst/>
          </a:prstGeom>
          <a:noFill/>
        </p:spPr>
        <p:txBody>
          <a:bodyPr wrap="none">
            <a:spAutoFit/>
          </a:bodyPr>
          <a:lstStyle/>
          <a:p>
            <a:pPr algn="ctr">
              <a:defRPr sz="4800" b="1">
                <a:solidFill>
                  <a:srgbClr val="FFFFFF"/>
                </a:solidFill>
              </a:defRPr>
            </a:pPr>
            <a:r>
              <a:t>5. Networking Essentials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What is a Network? Types &amp; Security Relevance</a:t>
            </a:r>
          </a:p>
        </p:txBody>
      </p:sp>
      <p:sp>
        <p:nvSpPr>
          <p:cNvPr id="4" name="TextBox 3"/>
          <p:cNvSpPr txBox="1"/>
          <p:nvPr/>
        </p:nvSpPr>
        <p:spPr>
          <a:xfrm>
            <a:off x="457200" y="1371600"/>
            <a:ext cx="6035040" cy="5303520"/>
          </a:xfrm>
          <a:prstGeom prst="rect">
            <a:avLst/>
          </a:prstGeom>
          <a:noFill/>
        </p:spPr>
        <p:txBody>
          <a:bodyPr wrap="square">
            <a:spAutoFit/>
          </a:bodyPr>
          <a:lstStyle/>
          <a:p>
            <a:pPr>
              <a:spcAft>
                <a:spcPts val="1000"/>
              </a:spcAft>
              <a:defRPr sz="2000">
                <a:solidFill>
                  <a:srgbClr val="1F2933"/>
                </a:solidFill>
              </a:defRPr>
            </a:pPr>
            <a:r>
              <a:t>A network is two or more computers connected to share resources.</a:t>
            </a:r>
          </a:p>
          <a:p>
            <a:pPr>
              <a:spcAft>
                <a:spcPts val="1000"/>
              </a:spcAft>
              <a:defRPr sz="2000">
                <a:solidFill>
                  <a:srgbClr val="1F2933"/>
                </a:solidFill>
              </a:defRPr>
            </a:pPr>
            <a:r>
              <a:t>Virtually all cybersecurity work involves networks.</a:t>
            </a:r>
          </a:p>
          <a:p>
            <a:pPr>
              <a:spcAft>
                <a:spcPts val="1000"/>
              </a:spcAft>
              <a:defRPr sz="2000">
                <a:solidFill>
                  <a:srgbClr val="1F2933"/>
                </a:solidFill>
              </a:defRPr>
            </a:pPr>
            <a:endParaRPr/>
          </a:p>
          <a:p>
            <a:pPr>
              <a:spcAft>
                <a:spcPts val="1000"/>
              </a:spcAft>
              <a:defRPr sz="2000">
                <a:solidFill>
                  <a:srgbClr val="1F2933"/>
                </a:solidFill>
              </a:defRPr>
            </a:pPr>
            <a:r>
              <a:t>Network Types:</a:t>
            </a:r>
          </a:p>
          <a:p>
            <a:pPr>
              <a:spcAft>
                <a:spcPts val="1000"/>
              </a:spcAft>
              <a:defRPr sz="2000">
                <a:solidFill>
                  <a:srgbClr val="1F2933"/>
                </a:solidFill>
              </a:defRPr>
            </a:pPr>
            <a:r>
              <a:t>• LAN  → School lab, office building</a:t>
            </a:r>
          </a:p>
          <a:p>
            <a:pPr>
              <a:spcAft>
                <a:spcPts val="1000"/>
              </a:spcAft>
              <a:defRPr sz="2000">
                <a:solidFill>
                  <a:srgbClr val="1F2933"/>
                </a:solidFill>
              </a:defRPr>
            </a:pPr>
            <a:r>
              <a:t>• WAN  → National backbone (ZAMTEL)</a:t>
            </a:r>
          </a:p>
          <a:p>
            <a:pPr>
              <a:spcAft>
                <a:spcPts val="1000"/>
              </a:spcAft>
              <a:defRPr sz="2000">
                <a:solidFill>
                  <a:srgbClr val="1F2933"/>
                </a:solidFill>
              </a:defRPr>
            </a:pPr>
            <a:r>
              <a:t>• MAN  → City-wide network (Lusaka)</a:t>
            </a:r>
          </a:p>
          <a:p>
            <a:pPr>
              <a:spcAft>
                <a:spcPts val="1000"/>
              </a:spcAft>
              <a:defRPr sz="2000">
                <a:solidFill>
                  <a:srgbClr val="1F2933"/>
                </a:solidFill>
              </a:defRPr>
            </a:pPr>
            <a:r>
              <a:t>• WLAN → Home WiFi, coffee shop hotspots</a:t>
            </a:r>
          </a:p>
          <a:p>
            <a:pPr>
              <a:spcAft>
                <a:spcPts val="1000"/>
              </a:spcAft>
              <a:defRPr sz="2000">
                <a:solidFill>
                  <a:srgbClr val="1F2933"/>
                </a:solidFill>
              </a:defRPr>
            </a:pPr>
            <a:r>
              <a:t>• VPN  → Encrypted tunnel for remote work</a:t>
            </a:r>
          </a:p>
          <a:p>
            <a:pPr>
              <a:spcAft>
                <a:spcPts val="1000"/>
              </a:spcAft>
              <a:defRPr sz="2000">
                <a:solidFill>
                  <a:srgbClr val="1F2933"/>
                </a:solidFill>
              </a:defRPr>
            </a:pPr>
            <a:endParaRPr/>
          </a:p>
          <a:p>
            <a:pPr>
              <a:spcAft>
                <a:spcPts val="1000"/>
              </a:spcAft>
              <a:defRPr sz="2000">
                <a:solidFill>
                  <a:srgbClr val="1F2933"/>
                </a:solidFill>
              </a:defRPr>
            </a:pPr>
            <a:r>
              <a:t>Security perspective:</a:t>
            </a:r>
          </a:p>
          <a:p>
            <a:pPr>
              <a:spcAft>
                <a:spcPts val="1000"/>
              </a:spcAft>
              <a:defRPr sz="2000">
                <a:solidFill>
                  <a:srgbClr val="1F2933"/>
                </a:solidFill>
              </a:defRPr>
            </a:pPr>
            <a:r>
              <a:t>• LANs need segmentation to limit breach spread</a:t>
            </a:r>
          </a:p>
          <a:p>
            <a:pPr>
              <a:spcAft>
                <a:spcPts val="1000"/>
              </a:spcAft>
              <a:defRPr sz="2000">
                <a:solidFill>
                  <a:srgbClr val="1F2933"/>
                </a:solidFill>
              </a:defRPr>
            </a:pPr>
            <a:r>
              <a:t>• WANs need encryption</a:t>
            </a:r>
          </a:p>
          <a:p>
            <a:pPr>
              <a:spcAft>
                <a:spcPts val="1000"/>
              </a:spcAft>
              <a:defRPr sz="2000">
                <a:solidFill>
                  <a:srgbClr val="1F2933"/>
                </a:solidFill>
              </a:defRPr>
            </a:pPr>
            <a:r>
              <a:t>• WLANs are vulnerable to eavesdropping</a:t>
            </a:r>
          </a:p>
          <a:p>
            <a:pPr>
              <a:spcAft>
                <a:spcPts val="1000"/>
              </a:spcAft>
              <a:defRPr sz="2000">
                <a:solidFill>
                  <a:srgbClr val="1F2933"/>
                </a:solidFill>
              </a:defRPr>
            </a:pPr>
            <a:r>
              <a:t>• VPN misconfigurations are common breach causes</a:t>
            </a:r>
          </a:p>
        </p:txBody>
      </p:sp>
      <p:pic>
        <p:nvPicPr>
          <p:cNvPr id="5" name="Picture 4" descr="network_types.png"/>
          <p:cNvPicPr>
            <a:picLocks noChangeAspect="1"/>
          </p:cNvPicPr>
          <p:nvPr/>
        </p:nvPicPr>
        <p:blipFill>
          <a:blip r:embed="rId3"/>
          <a:stretch>
            <a:fillRect/>
          </a:stretch>
        </p:blipFill>
        <p:spPr>
          <a:xfrm>
            <a:off x="6400800" y="1280160"/>
            <a:ext cx="5486400" cy="30861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The OSI Model: 7 Layers of Communication</a:t>
            </a:r>
          </a:p>
        </p:txBody>
      </p:sp>
      <p:sp>
        <p:nvSpPr>
          <p:cNvPr id="4" name="TextBox 3"/>
          <p:cNvSpPr txBox="1"/>
          <p:nvPr/>
        </p:nvSpPr>
        <p:spPr>
          <a:xfrm>
            <a:off x="457200" y="1371600"/>
            <a:ext cx="6035040" cy="5303520"/>
          </a:xfrm>
          <a:prstGeom prst="rect">
            <a:avLst/>
          </a:prstGeom>
          <a:noFill/>
        </p:spPr>
        <p:txBody>
          <a:bodyPr wrap="square">
            <a:spAutoFit/>
          </a:bodyPr>
          <a:lstStyle/>
          <a:p>
            <a:pPr>
              <a:spcAft>
                <a:spcPts val="1000"/>
              </a:spcAft>
              <a:defRPr sz="2000">
                <a:solidFill>
                  <a:srgbClr val="1F2933"/>
                </a:solidFill>
              </a:defRPr>
            </a:pPr>
            <a:r>
              <a:t>Layer | Name          | Function            | Protocol</a:t>
            </a:r>
          </a:p>
          <a:p>
            <a:pPr>
              <a:spcAft>
                <a:spcPts val="1000"/>
              </a:spcAft>
              <a:defRPr sz="2000">
                <a:solidFill>
                  <a:srgbClr val="1F2933"/>
                </a:solidFill>
              </a:defRPr>
            </a:pPr>
            <a:r>
              <a:t>───── | ───────────── | ─────────────────── | ──────────────</a:t>
            </a:r>
          </a:p>
          <a:p>
            <a:pPr>
              <a:spcAft>
                <a:spcPts val="1000"/>
              </a:spcAft>
              <a:defRPr sz="2000">
                <a:solidFill>
                  <a:srgbClr val="1F2933"/>
                </a:solidFill>
              </a:defRPr>
            </a:pPr>
            <a:r>
              <a:t>  7   | Application   | User interface      | HTTP, DNS, FTP</a:t>
            </a:r>
          </a:p>
          <a:p>
            <a:pPr>
              <a:spcAft>
                <a:spcPts val="1000"/>
              </a:spcAft>
              <a:defRPr sz="2000">
                <a:solidFill>
                  <a:srgbClr val="1F2933"/>
                </a:solidFill>
              </a:defRPr>
            </a:pPr>
            <a:r>
              <a:t>  6   | Presentation  | Encryption/format   | SSL/TLS, JPEG</a:t>
            </a:r>
          </a:p>
          <a:p>
            <a:pPr>
              <a:spcAft>
                <a:spcPts val="1000"/>
              </a:spcAft>
              <a:defRPr sz="2000">
                <a:solidFill>
                  <a:srgbClr val="1F2933"/>
                </a:solidFill>
              </a:defRPr>
            </a:pPr>
            <a:r>
              <a:t>  5   | Session       | Manages connections | NetBIOS, RPC</a:t>
            </a:r>
          </a:p>
          <a:p>
            <a:pPr>
              <a:spcAft>
                <a:spcPts val="1000"/>
              </a:spcAft>
              <a:defRPr sz="2000">
                <a:solidFill>
                  <a:srgbClr val="1F2933"/>
                </a:solidFill>
              </a:defRPr>
            </a:pPr>
            <a:r>
              <a:t>  4   | Transport     | End-to-end delivery | TCP, UDP</a:t>
            </a:r>
          </a:p>
          <a:p>
            <a:pPr>
              <a:spcAft>
                <a:spcPts val="1000"/>
              </a:spcAft>
              <a:defRPr sz="2000">
                <a:solidFill>
                  <a:srgbClr val="1F2933"/>
                </a:solidFill>
              </a:defRPr>
            </a:pPr>
            <a:r>
              <a:t>  3   | Network       | Routing, IP address | IP, ICMP</a:t>
            </a:r>
          </a:p>
          <a:p>
            <a:pPr>
              <a:spcAft>
                <a:spcPts val="1000"/>
              </a:spcAft>
              <a:defRPr sz="2000">
                <a:solidFill>
                  <a:srgbClr val="1F2933"/>
                </a:solidFill>
              </a:defRPr>
            </a:pPr>
            <a:r>
              <a:t>  2   | Data Link     | MAC addressing      | Ethernet, WiFi</a:t>
            </a:r>
          </a:p>
          <a:p>
            <a:pPr>
              <a:spcAft>
                <a:spcPts val="1000"/>
              </a:spcAft>
              <a:defRPr sz="2000">
                <a:solidFill>
                  <a:srgbClr val="1F2933"/>
                </a:solidFill>
              </a:defRPr>
            </a:pPr>
            <a:r>
              <a:t>  1   | Physical      | Cables, signals     | Cables, radio</a:t>
            </a:r>
          </a:p>
          <a:p>
            <a:pPr>
              <a:spcAft>
                <a:spcPts val="1000"/>
              </a:spcAft>
              <a:defRPr sz="2000">
                <a:solidFill>
                  <a:srgbClr val="1F2933"/>
                </a:solidFill>
              </a:defRPr>
            </a:pPr>
            <a:endParaRPr/>
          </a:p>
          <a:p>
            <a:pPr>
              <a:spcAft>
                <a:spcPts val="1000"/>
              </a:spcAft>
              <a:defRPr sz="2000">
                <a:solidFill>
                  <a:srgbClr val="1F2933"/>
                </a:solidFill>
              </a:defRPr>
            </a:pPr>
            <a:r>
              <a:t>Memory Aid: All People Seem To Need Data Processing</a:t>
            </a:r>
          </a:p>
          <a:p>
            <a:pPr>
              <a:spcAft>
                <a:spcPts val="1000"/>
              </a:spcAft>
              <a:defRPr sz="2000">
                <a:solidFill>
                  <a:srgbClr val="1F2933"/>
                </a:solidFill>
              </a:defRPr>
            </a:pPr>
            <a:endParaRPr/>
          </a:p>
          <a:p>
            <a:pPr>
              <a:spcAft>
                <a:spcPts val="1000"/>
              </a:spcAft>
              <a:defRPr sz="2000">
                <a:solidFill>
                  <a:srgbClr val="1F2933"/>
                </a:solidFill>
              </a:defRPr>
            </a:pPr>
            <a:r>
              <a:t>Cybersecurity relevance: Attacks happen at specific layers.</a:t>
            </a:r>
          </a:p>
        </p:txBody>
      </p:sp>
      <p:pic>
        <p:nvPicPr>
          <p:cNvPr id="5" name="Picture 4" descr="osi_model.png"/>
          <p:cNvPicPr>
            <a:picLocks noChangeAspect="1"/>
          </p:cNvPicPr>
          <p:nvPr/>
        </p:nvPicPr>
        <p:blipFill>
          <a:blip r:embed="rId3"/>
          <a:stretch>
            <a:fillRect/>
          </a:stretch>
        </p:blipFill>
        <p:spPr>
          <a:xfrm>
            <a:off x="6400800" y="1188720"/>
            <a:ext cx="5303520" cy="62404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Mapping Cyber Attacks to OSI Layers</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Layer    Attack Type                    Defense</a:t>
            </a:r>
          </a:p>
          <a:p>
            <a:pPr>
              <a:spcAft>
                <a:spcPts val="1000"/>
              </a:spcAft>
              <a:defRPr sz="2200">
                <a:solidFill>
                  <a:srgbClr val="1F2933"/>
                </a:solidFill>
              </a:defRPr>
            </a:pPr>
            <a:r>
              <a:t>─────    ───────────────────────────    ──────────────────────────────</a:t>
            </a:r>
          </a:p>
          <a:p>
            <a:pPr>
              <a:spcAft>
                <a:spcPts val="1000"/>
              </a:spcAft>
              <a:defRPr sz="2200">
                <a:solidFill>
                  <a:srgbClr val="1F2933"/>
                </a:solidFill>
              </a:defRPr>
            </a:pPr>
            <a:r>
              <a:t>L7       SQL Injection, Phishing        WAF, Secure Coding</a:t>
            </a:r>
          </a:p>
          <a:p>
            <a:pPr>
              <a:spcAft>
                <a:spcPts val="1000"/>
              </a:spcAft>
              <a:defRPr sz="2200">
                <a:solidFill>
                  <a:srgbClr val="1F2933"/>
                </a:solidFill>
              </a:defRPr>
            </a:pPr>
            <a:r>
              <a:t>L6       Weak TLS/SSL                   Patch Management</a:t>
            </a:r>
          </a:p>
          <a:p>
            <a:pPr>
              <a:spcAft>
                <a:spcPts val="1000"/>
              </a:spcAft>
              <a:defRPr sz="2200">
                <a:solidFill>
                  <a:srgbClr val="1F2933"/>
                </a:solidFill>
              </a:defRPr>
            </a:pPr>
            <a:r>
              <a:t>L5       Session Hijacking              HTTPS, Secure Cookies</a:t>
            </a:r>
          </a:p>
          <a:p>
            <a:pPr>
              <a:spcAft>
                <a:spcPts val="1000"/>
              </a:spcAft>
              <a:defRPr sz="2200">
                <a:solidFill>
                  <a:srgbClr val="1F2933"/>
                </a:solidFill>
              </a:defRPr>
            </a:pPr>
            <a:r>
              <a:t>L4       SYN Flood, Port Scanning       Firewalls, IDS/IPS</a:t>
            </a:r>
          </a:p>
          <a:p>
            <a:pPr>
              <a:spcAft>
                <a:spcPts val="1000"/>
              </a:spcAft>
              <a:defRPr sz="2200">
                <a:solidFill>
                  <a:srgbClr val="1F2933"/>
                </a:solidFill>
              </a:defRPr>
            </a:pPr>
            <a:r>
              <a:t>L3       IP Spoofing, DDoS              ACLs, DDoS Mitigation</a:t>
            </a:r>
          </a:p>
          <a:p>
            <a:pPr>
              <a:spcAft>
                <a:spcPts val="1000"/>
              </a:spcAft>
              <a:defRPr sz="2200">
                <a:solidFill>
                  <a:srgbClr val="1F2933"/>
                </a:solidFill>
              </a:defRPr>
            </a:pPr>
            <a:r>
              <a:t>L2       ARP Spoofing                   Dynamic ARP Inspection</a:t>
            </a:r>
          </a:p>
          <a:p>
            <a:pPr>
              <a:spcAft>
                <a:spcPts val="1000"/>
              </a:spcAft>
              <a:defRPr sz="2200">
                <a:solidFill>
                  <a:srgbClr val="1F2933"/>
                </a:solidFill>
              </a:defRPr>
            </a:pPr>
            <a:r>
              <a:t>L1       Wiretapping, Physical Theft    Encryption, Locks</a:t>
            </a:r>
          </a:p>
          <a:p>
            <a:pPr>
              <a:spcAft>
                <a:spcPts val="1000"/>
              </a:spcAft>
              <a:defRPr sz="2200">
                <a:solidFill>
                  <a:srgbClr val="1F2933"/>
                </a:solidFill>
              </a:defRPr>
            </a:pPr>
            <a:endParaRPr/>
          </a:p>
          <a:p>
            <a:pPr>
              <a:spcAft>
                <a:spcPts val="1000"/>
              </a:spcAft>
              <a:defRPr sz="2200">
                <a:solidFill>
                  <a:srgbClr val="1F2933"/>
                </a:solidFill>
              </a:defRPr>
            </a:pPr>
            <a:r>
              <a:t>Key insight: Defense in Depth means protecting EVERY layer.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The TCP/IP Model: Real-World Implementation</a:t>
            </a:r>
          </a:p>
        </p:txBody>
      </p:sp>
      <p:sp>
        <p:nvSpPr>
          <p:cNvPr id="4" name="TextBox 3"/>
          <p:cNvSpPr txBox="1"/>
          <p:nvPr/>
        </p:nvSpPr>
        <p:spPr>
          <a:xfrm>
            <a:off x="457200" y="1371600"/>
            <a:ext cx="6035040" cy="5303520"/>
          </a:xfrm>
          <a:prstGeom prst="rect">
            <a:avLst/>
          </a:prstGeom>
          <a:noFill/>
        </p:spPr>
        <p:txBody>
          <a:bodyPr wrap="square">
            <a:spAutoFit/>
          </a:bodyPr>
          <a:lstStyle/>
          <a:p>
            <a:pPr>
              <a:spcAft>
                <a:spcPts val="1000"/>
              </a:spcAft>
              <a:defRPr sz="2000">
                <a:solidFill>
                  <a:srgbClr val="1F2933"/>
                </a:solidFill>
              </a:defRPr>
            </a:pPr>
            <a:r>
              <a:t>TCP/IP Layer       | Corresponds to OSI    | Protocols</a:t>
            </a:r>
          </a:p>
          <a:p>
            <a:pPr>
              <a:spcAft>
                <a:spcPts val="1000"/>
              </a:spcAft>
              <a:defRPr sz="2000">
                <a:solidFill>
                  <a:srgbClr val="1F2933"/>
                </a:solidFill>
              </a:defRPr>
            </a:pPr>
            <a:r>
              <a:t>─────────────────  | ──────────────────    | ───────────────────────────</a:t>
            </a:r>
          </a:p>
          <a:p>
            <a:pPr>
              <a:spcAft>
                <a:spcPts val="1000"/>
              </a:spcAft>
              <a:defRPr sz="2000">
                <a:solidFill>
                  <a:srgbClr val="1F2933"/>
                </a:solidFill>
              </a:defRPr>
            </a:pPr>
            <a:r>
              <a:t>Application        | Layers 5, 6, 7        | HTTP, HTTPS, DNS, FTP, SSH</a:t>
            </a:r>
          </a:p>
          <a:p>
            <a:pPr>
              <a:spcAft>
                <a:spcPts val="1000"/>
              </a:spcAft>
              <a:defRPr sz="2000">
                <a:solidFill>
                  <a:srgbClr val="1F2933"/>
                </a:solidFill>
              </a:defRPr>
            </a:pPr>
            <a:r>
              <a:t>Transport          | Layer 4               | TCP, UDP</a:t>
            </a:r>
          </a:p>
          <a:p>
            <a:pPr>
              <a:spcAft>
                <a:spcPts val="1000"/>
              </a:spcAft>
              <a:defRPr sz="2000">
                <a:solidFill>
                  <a:srgbClr val="1F2933"/>
                </a:solidFill>
              </a:defRPr>
            </a:pPr>
            <a:r>
              <a:t>Internet           | Layer 3               | IP, ICMP, ARP</a:t>
            </a:r>
          </a:p>
          <a:p>
            <a:pPr>
              <a:spcAft>
                <a:spcPts val="1000"/>
              </a:spcAft>
              <a:defRPr sz="2000">
                <a:solidFill>
                  <a:srgbClr val="1F2933"/>
                </a:solidFill>
              </a:defRPr>
            </a:pPr>
            <a:r>
              <a:t>Network Access     | Layers 1, 2           | Ethernet, WiFi</a:t>
            </a:r>
          </a:p>
          <a:p>
            <a:pPr>
              <a:spcAft>
                <a:spcPts val="1000"/>
              </a:spcAft>
              <a:defRPr sz="2000">
                <a:solidFill>
                  <a:srgbClr val="1F2933"/>
                </a:solidFill>
              </a:defRPr>
            </a:pPr>
            <a:endParaRPr/>
          </a:p>
          <a:p>
            <a:pPr>
              <a:spcAft>
                <a:spcPts val="1000"/>
              </a:spcAft>
              <a:defRPr sz="2000">
                <a:solidFill>
                  <a:srgbClr val="1F2933"/>
                </a:solidFill>
              </a:defRPr>
            </a:pPr>
            <a:r>
              <a:t>OSI is theory → used for learning and explaining.</a:t>
            </a:r>
          </a:p>
          <a:p>
            <a:pPr>
              <a:spcAft>
                <a:spcPts val="1000"/>
              </a:spcAft>
              <a:defRPr sz="2000">
                <a:solidFill>
                  <a:srgbClr val="1F2933"/>
                </a:solidFill>
              </a:defRPr>
            </a:pPr>
            <a:r>
              <a:t>TCP/IP is implementation → used by actual devices.</a:t>
            </a:r>
          </a:p>
          <a:p>
            <a:pPr>
              <a:spcAft>
                <a:spcPts val="1000"/>
              </a:spcAft>
              <a:defRPr sz="2000">
                <a:solidFill>
                  <a:srgbClr val="1F2933"/>
                </a:solidFill>
              </a:defRPr>
            </a:pPr>
            <a:endParaRPr/>
          </a:p>
          <a:p>
            <a:pPr>
              <a:spcAft>
                <a:spcPts val="1000"/>
              </a:spcAft>
              <a:defRPr sz="2000">
                <a:solidFill>
                  <a:srgbClr val="1F2933"/>
                </a:solidFill>
              </a:defRPr>
            </a:pPr>
            <a:r>
              <a:t>In practice, cybersecurity professionals use BOTH models.</a:t>
            </a:r>
          </a:p>
        </p:txBody>
      </p:sp>
      <p:pic>
        <p:nvPicPr>
          <p:cNvPr id="5" name="Picture 4" descr="osi_tcpip_comparison.png"/>
          <p:cNvPicPr>
            <a:picLocks noChangeAspect="1"/>
          </p:cNvPicPr>
          <p:nvPr/>
        </p:nvPicPr>
        <p:blipFill>
          <a:blip r:embed="rId3"/>
          <a:stretch>
            <a:fillRect/>
          </a:stretch>
        </p:blipFill>
        <p:spPr>
          <a:xfrm>
            <a:off x="6400800" y="1280160"/>
            <a:ext cx="5486400" cy="30861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TCP vs UDP: The Security Trade-off</a:t>
            </a:r>
          </a:p>
        </p:txBody>
      </p:sp>
      <p:sp>
        <p:nvSpPr>
          <p:cNvPr id="4" name="TextBox 3"/>
          <p:cNvSpPr txBox="1"/>
          <p:nvPr/>
        </p:nvSpPr>
        <p:spPr>
          <a:xfrm>
            <a:off x="457200" y="1371600"/>
            <a:ext cx="6035040" cy="5303520"/>
          </a:xfrm>
          <a:prstGeom prst="rect">
            <a:avLst/>
          </a:prstGeom>
          <a:noFill/>
        </p:spPr>
        <p:txBody>
          <a:bodyPr wrap="square">
            <a:spAutoFit/>
          </a:bodyPr>
          <a:lstStyle/>
          <a:p>
            <a:pPr>
              <a:spcAft>
                <a:spcPts val="1000"/>
              </a:spcAft>
              <a:defRPr sz="2000">
                <a:solidFill>
                  <a:srgbClr val="1F2933"/>
                </a:solidFill>
              </a:defRPr>
            </a:pPr>
            <a:r>
              <a:t>Feature        TCP                         UDP</a:t>
            </a:r>
          </a:p>
          <a:p>
            <a:pPr>
              <a:spcAft>
                <a:spcPts val="1000"/>
              </a:spcAft>
              <a:defRPr sz="2000">
                <a:solidFill>
                  <a:srgbClr val="1F2933"/>
                </a:solidFill>
              </a:defRPr>
            </a:pPr>
            <a:r>
              <a:t>─────────      ─────────────────────────   ─────────────────────────</a:t>
            </a:r>
          </a:p>
          <a:p>
            <a:pPr>
              <a:spcAft>
                <a:spcPts val="1000"/>
              </a:spcAft>
              <a:defRPr sz="2000">
                <a:solidFill>
                  <a:srgbClr val="1F2933"/>
                </a:solidFill>
              </a:defRPr>
            </a:pPr>
            <a:r>
              <a:t>Connection     Connection-oriented         Connectionless</a:t>
            </a:r>
          </a:p>
          <a:p>
            <a:pPr>
              <a:spcAft>
                <a:spcPts val="1000"/>
              </a:spcAft>
              <a:defRPr sz="2000">
                <a:solidFill>
                  <a:srgbClr val="1F2933"/>
                </a:solidFill>
              </a:defRPr>
            </a:pPr>
            <a:r>
              <a:t>Reliability    Guaranteed delivery         No guarantee</a:t>
            </a:r>
          </a:p>
          <a:p>
            <a:pPr>
              <a:spcAft>
                <a:spcPts val="1000"/>
              </a:spcAft>
              <a:defRPr sz="2000">
                <a:solidFill>
                  <a:srgbClr val="1F2933"/>
                </a:solidFill>
              </a:defRPr>
            </a:pPr>
            <a:r>
              <a:t>Speed          Slower (handshake)          Faster</a:t>
            </a:r>
          </a:p>
          <a:p>
            <a:pPr>
              <a:spcAft>
                <a:spcPts val="1000"/>
              </a:spcAft>
              <a:defRPr sz="2000">
                <a:solidFill>
                  <a:srgbClr val="1F2933"/>
                </a:solidFill>
              </a:defRPr>
            </a:pPr>
            <a:r>
              <a:t>Use Cases      Web, email, file transfer   Streaming, DNS, VoIP</a:t>
            </a:r>
          </a:p>
          <a:p>
            <a:pPr>
              <a:spcAft>
                <a:spcPts val="1000"/>
              </a:spcAft>
              <a:defRPr sz="2000">
                <a:solidFill>
                  <a:srgbClr val="1F2933"/>
                </a:solidFill>
              </a:defRPr>
            </a:pPr>
            <a:r>
              <a:t>Cyber Risk     SYN flood attacks           DDoS amplification</a:t>
            </a:r>
          </a:p>
          <a:p>
            <a:pPr>
              <a:spcAft>
                <a:spcPts val="1000"/>
              </a:spcAft>
              <a:defRPr sz="2000">
                <a:solidFill>
                  <a:srgbClr val="1F2933"/>
                </a:solidFill>
              </a:defRPr>
            </a:pPr>
            <a:endParaRPr/>
          </a:p>
          <a:p>
            <a:pPr>
              <a:spcAft>
                <a:spcPts val="1000"/>
              </a:spcAft>
              <a:defRPr sz="2000">
                <a:solidFill>
                  <a:srgbClr val="1F2933"/>
                </a:solidFill>
              </a:defRPr>
            </a:pPr>
            <a:r>
              <a:t>TCP Three-Way Handshake:</a:t>
            </a:r>
          </a:p>
          <a:p>
            <a:pPr>
              <a:spcAft>
                <a:spcPts val="1000"/>
              </a:spcAft>
              <a:defRPr sz="2000">
                <a:solidFill>
                  <a:srgbClr val="1F2933"/>
                </a:solidFill>
              </a:defRPr>
            </a:pPr>
            <a:r>
              <a:t>   Client → SYN → Server</a:t>
            </a:r>
          </a:p>
          <a:p>
            <a:pPr>
              <a:spcAft>
                <a:spcPts val="1000"/>
              </a:spcAft>
              <a:defRPr sz="2000">
                <a:solidFill>
                  <a:srgbClr val="1F2933"/>
                </a:solidFill>
              </a:defRPr>
            </a:pPr>
            <a:r>
              <a:t>   Client ← SYN-ACK ← Server</a:t>
            </a:r>
          </a:p>
          <a:p>
            <a:pPr>
              <a:spcAft>
                <a:spcPts val="1000"/>
              </a:spcAft>
              <a:defRPr sz="2000">
                <a:solidFill>
                  <a:srgbClr val="1F2933"/>
                </a:solidFill>
              </a:defRPr>
            </a:pPr>
            <a:r>
              <a:t>   Client → ACK → Server</a:t>
            </a:r>
          </a:p>
          <a:p>
            <a:pPr>
              <a:spcAft>
                <a:spcPts val="1000"/>
              </a:spcAft>
              <a:defRPr sz="2000">
                <a:solidFill>
                  <a:srgbClr val="1F2933"/>
                </a:solidFill>
              </a:defRPr>
            </a:pPr>
            <a:endParaRPr/>
          </a:p>
          <a:p>
            <a:pPr>
              <a:spcAft>
                <a:spcPts val="1000"/>
              </a:spcAft>
              <a:defRPr sz="2000">
                <a:solidFill>
                  <a:srgbClr val="1F2933"/>
                </a:solidFill>
              </a:defRPr>
            </a:pPr>
            <a:r>
              <a:t>Attackers exploit the handshake with SYN floods.</a:t>
            </a:r>
          </a:p>
        </p:txBody>
      </p:sp>
      <p:pic>
        <p:nvPicPr>
          <p:cNvPr id="5" name="Picture 4" descr="tcp_handshake.png"/>
          <p:cNvPicPr>
            <a:picLocks noChangeAspect="1"/>
          </p:cNvPicPr>
          <p:nvPr/>
        </p:nvPicPr>
        <p:blipFill>
          <a:blip r:embed="rId3"/>
          <a:stretch>
            <a:fillRect/>
          </a:stretch>
        </p:blipFill>
        <p:spPr>
          <a:xfrm>
            <a:off x="6217920" y="1280160"/>
            <a:ext cx="5669280" cy="507400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IP Addressing &amp; Subnetting Basics</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IPv4 Address:</a:t>
            </a:r>
          </a:p>
          <a:p>
            <a:pPr>
              <a:spcAft>
                <a:spcPts val="1000"/>
              </a:spcAft>
              <a:defRPr sz="2200">
                <a:solidFill>
                  <a:srgbClr val="1F2933"/>
                </a:solidFill>
              </a:defRPr>
            </a:pPr>
            <a:r>
              <a:t>   32-bit address written as 4 octets</a:t>
            </a:r>
          </a:p>
          <a:p>
            <a:pPr>
              <a:spcAft>
                <a:spcPts val="1000"/>
              </a:spcAft>
              <a:defRPr sz="2200">
                <a:solidFill>
                  <a:srgbClr val="1F2933"/>
                </a:solidFill>
              </a:defRPr>
            </a:pPr>
            <a:r>
              <a:t>   Example: 192.168.1.100</a:t>
            </a:r>
          </a:p>
          <a:p>
            <a:pPr>
              <a:spcAft>
                <a:spcPts val="1000"/>
              </a:spcAft>
              <a:defRPr sz="2200">
                <a:solidFill>
                  <a:srgbClr val="1F2933"/>
                </a:solidFill>
              </a:defRPr>
            </a:pPr>
            <a:r>
              <a:t>   Each octet = 8 bits = 0-255</a:t>
            </a:r>
          </a:p>
          <a:p>
            <a:pPr>
              <a:spcAft>
                <a:spcPts val="1000"/>
              </a:spcAft>
              <a:defRPr sz="2200">
                <a:solidFill>
                  <a:srgbClr val="1F2933"/>
                </a:solidFill>
              </a:defRPr>
            </a:pPr>
            <a:endParaRPr/>
          </a:p>
          <a:p>
            <a:pPr>
              <a:spcAft>
                <a:spcPts val="1000"/>
              </a:spcAft>
              <a:defRPr sz="2200">
                <a:solidFill>
                  <a:srgbClr val="1F2933"/>
                </a:solidFill>
              </a:defRPr>
            </a:pPr>
            <a:r>
              <a:t>Private IP Ranges (not routable on internet):</a:t>
            </a:r>
          </a:p>
          <a:p>
            <a:pPr>
              <a:spcAft>
                <a:spcPts val="1000"/>
              </a:spcAft>
              <a:defRPr sz="2200">
                <a:solidFill>
                  <a:srgbClr val="1F2933"/>
                </a:solidFill>
              </a:defRPr>
            </a:pPr>
            <a:r>
              <a:t>   10.0.0.0      – 10.255.255.255</a:t>
            </a:r>
          </a:p>
          <a:p>
            <a:pPr>
              <a:spcAft>
                <a:spcPts val="1000"/>
              </a:spcAft>
              <a:defRPr sz="2200">
                <a:solidFill>
                  <a:srgbClr val="1F2933"/>
                </a:solidFill>
              </a:defRPr>
            </a:pPr>
            <a:r>
              <a:t>   172.16.0.0    – 172.31.255.255</a:t>
            </a:r>
          </a:p>
          <a:p>
            <a:pPr>
              <a:spcAft>
                <a:spcPts val="1000"/>
              </a:spcAft>
              <a:defRPr sz="2200">
                <a:solidFill>
                  <a:srgbClr val="1F2933"/>
                </a:solidFill>
              </a:defRPr>
            </a:pPr>
            <a:r>
              <a:t>   192.168.0.0   – 192.168.255.255</a:t>
            </a:r>
          </a:p>
          <a:p>
            <a:pPr>
              <a:spcAft>
                <a:spcPts val="1000"/>
              </a:spcAft>
              <a:defRPr sz="2200">
                <a:solidFill>
                  <a:srgbClr val="1F2933"/>
                </a:solidFill>
              </a:defRPr>
            </a:pPr>
            <a:r>
              <a:t>   127.0.0.1     → Loopback / localhost</a:t>
            </a:r>
          </a:p>
          <a:p>
            <a:pPr>
              <a:spcAft>
                <a:spcPts val="1000"/>
              </a:spcAft>
              <a:defRPr sz="2200">
                <a:solidFill>
                  <a:srgbClr val="1F2933"/>
                </a:solidFill>
              </a:defRPr>
            </a:pPr>
            <a:endParaRPr/>
          </a:p>
          <a:p>
            <a:pPr>
              <a:spcAft>
                <a:spcPts val="1000"/>
              </a:spcAft>
              <a:defRPr sz="2200">
                <a:solidFill>
                  <a:srgbClr val="1F2933"/>
                </a:solidFill>
              </a:defRPr>
            </a:pPr>
            <a:r>
              <a:t>Subnetting Example:</a:t>
            </a:r>
          </a:p>
          <a:p>
            <a:pPr>
              <a:spcAft>
                <a:spcPts val="1000"/>
              </a:spcAft>
              <a:defRPr sz="2200">
                <a:solidFill>
                  <a:srgbClr val="1F2933"/>
                </a:solidFill>
              </a:defRPr>
            </a:pPr>
            <a:r>
              <a:t>   IP:       192.168.1.100</a:t>
            </a:r>
          </a:p>
          <a:p>
            <a:pPr>
              <a:spcAft>
                <a:spcPts val="1000"/>
              </a:spcAft>
              <a:defRPr sz="2200">
                <a:solidFill>
                  <a:srgbClr val="1F2933"/>
                </a:solidFill>
              </a:defRPr>
            </a:pPr>
            <a:r>
              <a:t>   Mask:     255.255.255.0  (/24)</a:t>
            </a:r>
          </a:p>
          <a:p>
            <a:pPr>
              <a:spcAft>
                <a:spcPts val="1000"/>
              </a:spcAft>
              <a:defRPr sz="2200">
                <a:solidFill>
                  <a:srgbClr val="1F2933"/>
                </a:solidFill>
              </a:defRPr>
            </a:pPr>
            <a:r>
              <a:t>   Network:  192.168.1.0</a:t>
            </a:r>
          </a:p>
          <a:p>
            <a:pPr>
              <a:spcAft>
                <a:spcPts val="1000"/>
              </a:spcAft>
              <a:defRPr sz="2200">
                <a:solidFill>
                  <a:srgbClr val="1F2933"/>
                </a:solidFill>
              </a:defRPr>
            </a:pPr>
            <a:r>
              <a:t>   Hosts:    192.168.1.1 – 192.168.1.254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Key Protocols: DNS, DHCP, HTTP vs HTTPS</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DNS (Domain Name System) — Port 53</a:t>
            </a:r>
          </a:p>
          <a:p>
            <a:pPr>
              <a:spcAft>
                <a:spcPts val="1000"/>
              </a:spcAft>
              <a:defRPr sz="2200">
                <a:solidFill>
                  <a:srgbClr val="1F2933"/>
                </a:solidFill>
              </a:defRPr>
            </a:pPr>
            <a:r>
              <a:t>   Translates names to IP addresses</a:t>
            </a:r>
          </a:p>
          <a:p>
            <a:pPr>
              <a:spcAft>
                <a:spcPts val="1000"/>
              </a:spcAft>
              <a:defRPr sz="2200">
                <a:solidFill>
                  <a:srgbClr val="1F2933"/>
                </a:solidFill>
              </a:defRPr>
            </a:pPr>
            <a:r>
              <a:t>   ⚠ Threat: DNS poisoning redirects to fake sites</a:t>
            </a:r>
          </a:p>
          <a:p>
            <a:pPr>
              <a:spcAft>
                <a:spcPts val="1000"/>
              </a:spcAft>
              <a:defRPr sz="2200">
                <a:solidFill>
                  <a:srgbClr val="1F2933"/>
                </a:solidFill>
              </a:defRPr>
            </a:pPr>
            <a:endParaRPr/>
          </a:p>
          <a:p>
            <a:pPr>
              <a:spcAft>
                <a:spcPts val="1000"/>
              </a:spcAft>
              <a:defRPr sz="2200">
                <a:solidFill>
                  <a:srgbClr val="1F2933"/>
                </a:solidFill>
              </a:defRPr>
            </a:pPr>
            <a:r>
              <a:t>DHCP — Ports 67/68</a:t>
            </a:r>
          </a:p>
          <a:p>
            <a:pPr>
              <a:spcAft>
                <a:spcPts val="1000"/>
              </a:spcAft>
              <a:defRPr sz="2200">
                <a:solidFill>
                  <a:srgbClr val="1F2933"/>
                </a:solidFill>
              </a:defRPr>
            </a:pPr>
            <a:r>
              <a:t>   Automatically assigns IP addresses</a:t>
            </a:r>
          </a:p>
          <a:p>
            <a:pPr>
              <a:spcAft>
                <a:spcPts val="1000"/>
              </a:spcAft>
              <a:defRPr sz="2200">
                <a:solidFill>
                  <a:srgbClr val="1F2933"/>
                </a:solidFill>
              </a:defRPr>
            </a:pPr>
            <a:r>
              <a:t>   ⚠ Threat: Rogue DHCP server hijacks traffic</a:t>
            </a:r>
          </a:p>
          <a:p>
            <a:pPr>
              <a:spcAft>
                <a:spcPts val="1000"/>
              </a:spcAft>
              <a:defRPr sz="2200">
                <a:solidFill>
                  <a:srgbClr val="1F2933"/>
                </a:solidFill>
              </a:defRPr>
            </a:pPr>
            <a:endParaRPr/>
          </a:p>
          <a:p>
            <a:pPr>
              <a:spcAft>
                <a:spcPts val="1000"/>
              </a:spcAft>
              <a:defRPr sz="2200">
                <a:solidFill>
                  <a:srgbClr val="1F2933"/>
                </a:solidFill>
              </a:defRPr>
            </a:pPr>
            <a:r>
              <a:t>HTTP (Port 80)  →  Unencrypted — readable on public WiFi</a:t>
            </a:r>
          </a:p>
          <a:p>
            <a:pPr>
              <a:spcAft>
                <a:spcPts val="1000"/>
              </a:spcAft>
              <a:defRPr sz="2200">
                <a:solidFill>
                  <a:srgbClr val="1F2933"/>
                </a:solidFill>
              </a:defRPr>
            </a:pPr>
            <a:r>
              <a:t>HTTPS (Port 443) →  Encrypted with TLS — safe for banking</a:t>
            </a:r>
          </a:p>
          <a:p>
            <a:pPr>
              <a:spcAft>
                <a:spcPts val="1000"/>
              </a:spcAft>
              <a:defRPr sz="2200">
                <a:solidFill>
                  <a:srgbClr val="1F2933"/>
                </a:solidFill>
              </a:defRPr>
            </a:pPr>
            <a:endParaRPr/>
          </a:p>
          <a:p>
            <a:pPr>
              <a:spcAft>
                <a:spcPts val="1000"/>
              </a:spcAft>
              <a:defRPr sz="2200">
                <a:solidFill>
                  <a:srgbClr val="1F2933"/>
                </a:solidFill>
              </a:defRPr>
            </a:pPr>
            <a:r>
              <a:t>SSH (Port 22) →  Encrypted remote access (replaces Telnet)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Common Port Numbers &amp; Their Security Risks</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Port    Protocol    Use</a:t>
            </a:r>
          </a:p>
          <a:p>
            <a:pPr>
              <a:spcAft>
                <a:spcPts val="1000"/>
              </a:spcAft>
              <a:defRPr sz="2200">
                <a:solidFill>
                  <a:srgbClr val="1F2933"/>
                </a:solidFill>
              </a:defRPr>
            </a:pPr>
            <a:r>
              <a:t>────    ────────    ─────────────────────────────</a:t>
            </a:r>
          </a:p>
          <a:p>
            <a:pPr>
              <a:spcAft>
                <a:spcPts val="1000"/>
              </a:spcAft>
              <a:defRPr sz="2200">
                <a:solidFill>
                  <a:srgbClr val="1F2933"/>
                </a:solidFill>
              </a:defRPr>
            </a:pPr>
            <a:r>
              <a:t>22      SSH         Secure remote access</a:t>
            </a:r>
          </a:p>
          <a:p>
            <a:pPr>
              <a:spcAft>
                <a:spcPts val="1000"/>
              </a:spcAft>
              <a:defRPr sz="2200">
                <a:solidFill>
                  <a:srgbClr val="1F2933"/>
                </a:solidFill>
              </a:defRPr>
            </a:pPr>
            <a:r>
              <a:t>23      Telnet      Insecure — AVOID</a:t>
            </a:r>
          </a:p>
          <a:p>
            <a:pPr>
              <a:spcAft>
                <a:spcPts val="1000"/>
              </a:spcAft>
              <a:defRPr sz="2200">
                <a:solidFill>
                  <a:srgbClr val="1F2933"/>
                </a:solidFill>
              </a:defRPr>
            </a:pPr>
            <a:r>
              <a:t>25      SMTP        Sending email</a:t>
            </a:r>
          </a:p>
          <a:p>
            <a:pPr>
              <a:spcAft>
                <a:spcPts val="1000"/>
              </a:spcAft>
              <a:defRPr sz="2200">
                <a:solidFill>
                  <a:srgbClr val="1F2933"/>
                </a:solidFill>
              </a:defRPr>
            </a:pPr>
            <a:r>
              <a:t>53      DNS         Domain resolution</a:t>
            </a:r>
          </a:p>
          <a:p>
            <a:pPr>
              <a:spcAft>
                <a:spcPts val="1000"/>
              </a:spcAft>
              <a:defRPr sz="2200">
                <a:solidFill>
                  <a:srgbClr val="1F2933"/>
                </a:solidFill>
              </a:defRPr>
            </a:pPr>
            <a:r>
              <a:t>80      HTTP        Web (unencrypted)</a:t>
            </a:r>
          </a:p>
          <a:p>
            <a:pPr>
              <a:spcAft>
                <a:spcPts val="1000"/>
              </a:spcAft>
              <a:defRPr sz="2200">
                <a:solidFill>
                  <a:srgbClr val="1F2933"/>
                </a:solidFill>
              </a:defRPr>
            </a:pPr>
            <a:r>
              <a:t>443     HTTPS       Web (encrypted)</a:t>
            </a:r>
          </a:p>
          <a:p>
            <a:pPr>
              <a:spcAft>
                <a:spcPts val="1000"/>
              </a:spcAft>
              <a:defRPr sz="2200">
                <a:solidFill>
                  <a:srgbClr val="1F2933"/>
                </a:solidFill>
              </a:defRPr>
            </a:pPr>
            <a:r>
              <a:t>445     SMB         Windows file sharing</a:t>
            </a:r>
          </a:p>
          <a:p>
            <a:pPr>
              <a:spcAft>
                <a:spcPts val="1000"/>
              </a:spcAft>
              <a:defRPr sz="2200">
                <a:solidFill>
                  <a:srgbClr val="1F2933"/>
                </a:solidFill>
              </a:defRPr>
            </a:pPr>
            <a:r>
              <a:t>3389    RDP         Windows remote desktop</a:t>
            </a:r>
          </a:p>
          <a:p>
            <a:pPr>
              <a:spcAft>
                <a:spcPts val="1000"/>
              </a:spcAft>
              <a:defRPr sz="2200">
                <a:solidFill>
                  <a:srgbClr val="1F2933"/>
                </a:solidFill>
              </a:defRPr>
            </a:pPr>
            <a:r>
              <a:t>3306    MySQL       Database</a:t>
            </a:r>
          </a:p>
          <a:p>
            <a:pPr>
              <a:spcAft>
                <a:spcPts val="1000"/>
              </a:spcAft>
              <a:defRPr sz="2200">
                <a:solidFill>
                  <a:srgbClr val="1F2933"/>
                </a:solidFill>
              </a:defRPr>
            </a:pPr>
            <a:endParaRPr/>
          </a:p>
          <a:p>
            <a:pPr>
              <a:spcAft>
                <a:spcPts val="1000"/>
              </a:spcAft>
              <a:defRPr sz="2200">
                <a:solidFill>
                  <a:srgbClr val="1F2933"/>
                </a:solidFill>
              </a:defRPr>
            </a:pPr>
            <a:r>
              <a:t>Attackers scan for open ports to find ways in.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4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0"/>
            <a:ext cx="11277295" cy="1371600"/>
          </a:xfrm>
          <a:prstGeom prst="rect">
            <a:avLst/>
          </a:prstGeom>
          <a:noFill/>
        </p:spPr>
        <p:txBody>
          <a:bodyPr wrap="none">
            <a:spAutoFit/>
          </a:bodyPr>
          <a:lstStyle/>
          <a:p>
            <a:pPr algn="ctr">
              <a:defRPr sz="4800" b="1">
                <a:solidFill>
                  <a:srgbClr val="FFFFFF"/>
                </a:solidFill>
              </a:defRPr>
            </a:pPr>
            <a:r>
              <a:t>Module 1 Review &amp; What's Next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Module 1 Revision: Key Takeaways</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Computer Fundamentals:</a:t>
            </a:r>
          </a:p>
          <a:p>
            <a:pPr>
              <a:spcAft>
                <a:spcPts val="1000"/>
              </a:spcAft>
              <a:defRPr sz="2200">
                <a:solidFill>
                  <a:srgbClr val="1F2933"/>
                </a:solidFill>
              </a:defRPr>
            </a:pPr>
            <a:r>
              <a:t>   ✓ IPOS model — every stage is an attack surface</a:t>
            </a:r>
          </a:p>
          <a:p>
            <a:pPr>
              <a:spcAft>
                <a:spcPts val="1000"/>
              </a:spcAft>
              <a:defRPr sz="2200">
                <a:solidFill>
                  <a:srgbClr val="1F2933"/>
                </a:solidFill>
              </a:defRPr>
            </a:pPr>
            <a:r>
              <a:t>   ✓ CPU, RAM, Storage, NIC — security implications</a:t>
            </a:r>
          </a:p>
          <a:p>
            <a:pPr>
              <a:spcAft>
                <a:spcPts val="1000"/>
              </a:spcAft>
              <a:defRPr sz="2200">
                <a:solidFill>
                  <a:srgbClr val="1F2933"/>
                </a:solidFill>
              </a:defRPr>
            </a:pPr>
            <a:endParaRPr/>
          </a:p>
          <a:p>
            <a:pPr>
              <a:spcAft>
                <a:spcPts val="1000"/>
              </a:spcAft>
              <a:defRPr sz="2200">
                <a:solidFill>
                  <a:srgbClr val="1F2933"/>
                </a:solidFill>
              </a:defRPr>
            </a:pPr>
            <a:r>
              <a:t>Operating Systems:</a:t>
            </a:r>
          </a:p>
          <a:p>
            <a:pPr>
              <a:spcAft>
                <a:spcPts val="1000"/>
              </a:spcAft>
              <a:defRPr sz="2200">
                <a:solidFill>
                  <a:srgbClr val="1F2933"/>
                </a:solidFill>
              </a:defRPr>
            </a:pPr>
            <a:r>
              <a:t>   ✓ Windows &amp; Linux file systems</a:t>
            </a:r>
          </a:p>
          <a:p>
            <a:pPr>
              <a:spcAft>
                <a:spcPts val="1000"/>
              </a:spcAft>
              <a:defRPr sz="2200">
                <a:solidFill>
                  <a:srgbClr val="1F2933"/>
                </a:solidFill>
              </a:defRPr>
            </a:pPr>
            <a:r>
              <a:t>   ✓ Command-line navigation &amp; Linux permissions</a:t>
            </a:r>
          </a:p>
          <a:p>
            <a:pPr>
              <a:spcAft>
                <a:spcPts val="1000"/>
              </a:spcAft>
              <a:defRPr sz="2200">
                <a:solidFill>
                  <a:srgbClr val="1F2933"/>
                </a:solidFill>
              </a:defRPr>
            </a:pPr>
            <a:endParaRPr/>
          </a:p>
          <a:p>
            <a:pPr>
              <a:spcAft>
                <a:spcPts val="1000"/>
              </a:spcAft>
              <a:defRPr sz="2200">
                <a:solidFill>
                  <a:srgbClr val="1F2933"/>
                </a:solidFill>
              </a:defRPr>
            </a:pPr>
            <a:r>
              <a:t>Programming Logic:</a:t>
            </a:r>
          </a:p>
          <a:p>
            <a:pPr>
              <a:spcAft>
                <a:spcPts val="1000"/>
              </a:spcAft>
              <a:defRPr sz="2200">
                <a:solidFill>
                  <a:srgbClr val="1F2933"/>
                </a:solidFill>
              </a:defRPr>
            </a:pPr>
            <a:r>
              <a:t>   ✓ Variables, if/else, loops, functions</a:t>
            </a:r>
          </a:p>
          <a:p>
            <a:pPr>
              <a:spcAft>
                <a:spcPts val="1000"/>
              </a:spcAft>
              <a:defRPr sz="2200">
                <a:solidFill>
                  <a:srgbClr val="1F2933"/>
                </a:solidFill>
              </a:defRPr>
            </a:pPr>
            <a:r>
              <a:t>   ✓ Pseudocode and Bash scripting</a:t>
            </a:r>
          </a:p>
          <a:p>
            <a:pPr>
              <a:spcAft>
                <a:spcPts val="1000"/>
              </a:spcAft>
              <a:defRPr sz="2200">
                <a:solidFill>
                  <a:srgbClr val="1F2933"/>
                </a:solidFill>
              </a:defRPr>
            </a:pPr>
            <a:endParaRPr/>
          </a:p>
          <a:p>
            <a:pPr>
              <a:spcAft>
                <a:spcPts val="1000"/>
              </a:spcAft>
              <a:defRPr sz="2200">
                <a:solidFill>
                  <a:srgbClr val="1F2933"/>
                </a:solidFill>
              </a:defRPr>
            </a:pPr>
            <a:r>
              <a:t>Mathematics:</a:t>
            </a:r>
          </a:p>
          <a:p>
            <a:pPr>
              <a:spcAft>
                <a:spcPts val="1000"/>
              </a:spcAft>
              <a:defRPr sz="2200">
                <a:solidFill>
                  <a:srgbClr val="1F2933"/>
                </a:solidFill>
              </a:defRPr>
            </a:pPr>
            <a:r>
              <a:t>   ✓ Binary, decimal, hexadecimal conversions</a:t>
            </a:r>
          </a:p>
          <a:p>
            <a:pPr>
              <a:spcAft>
                <a:spcPts val="1000"/>
              </a:spcAft>
              <a:defRPr sz="2200">
                <a:solidFill>
                  <a:srgbClr val="1F2933"/>
                </a:solidFill>
              </a:defRPr>
            </a:pPr>
            <a:r>
              <a:t>   ✓ Boolean algebra and XOR in cryptography</a:t>
            </a:r>
          </a:p>
          <a:p>
            <a:pPr>
              <a:spcAft>
                <a:spcPts val="1000"/>
              </a:spcAft>
              <a:defRPr sz="2200">
                <a:solidFill>
                  <a:srgbClr val="1F2933"/>
                </a:solidFill>
              </a:defRPr>
            </a:pPr>
            <a:endParaRPr/>
          </a:p>
          <a:p>
            <a:pPr>
              <a:spcAft>
                <a:spcPts val="1000"/>
              </a:spcAft>
              <a:defRPr sz="2200">
                <a:solidFill>
                  <a:srgbClr val="1F2933"/>
                </a:solidFill>
              </a:defRPr>
            </a:pPr>
            <a:r>
              <a:t>Networking:</a:t>
            </a:r>
          </a:p>
          <a:p>
            <a:pPr>
              <a:spcAft>
                <a:spcPts val="1000"/>
              </a:spcAft>
              <a:defRPr sz="2200">
                <a:solidFill>
                  <a:srgbClr val="1F2933"/>
                </a:solidFill>
              </a:defRPr>
            </a:pPr>
            <a:r>
              <a:t>   ✓ OSI &amp; TCP/IP models, IP addressing, subnetting</a:t>
            </a:r>
          </a:p>
          <a:p>
            <a:pPr>
              <a:spcAft>
                <a:spcPts val="1000"/>
              </a:spcAft>
              <a:defRPr sz="2200">
                <a:solidFill>
                  <a:srgbClr val="1F2933"/>
                </a:solidFill>
              </a:defRPr>
            </a:pPr>
            <a:r>
              <a:t>   ✓ DNS, DHCP, ports, and protocol security risks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731520"/>
          </a:xfrm>
          <a:prstGeom prst="rect">
            <a:avLst/>
          </a:prstGeom>
          <a:noFill/>
        </p:spPr>
        <p:txBody>
          <a:bodyPr wrap="none">
            <a:spAutoFit/>
          </a:bodyPr>
          <a:lstStyle/>
          <a:p>
            <a:pPr>
              <a:defRPr sz="3600" b="1">
                <a:solidFill>
                  <a:srgbClr val="FFFFFF"/>
                </a:solidFill>
              </a:defRPr>
            </a:pPr>
            <a:r>
              <a:t>What's Next? Module 2 Preview</a:t>
            </a:r>
          </a:p>
        </p:txBody>
      </p:sp>
      <p:sp>
        <p:nvSpPr>
          <p:cNvPr id="4" name="TextBox 3"/>
          <p:cNvSpPr txBox="1"/>
          <p:nvPr/>
        </p:nvSpPr>
        <p:spPr>
          <a:xfrm>
            <a:off x="457200" y="1371600"/>
            <a:ext cx="11277295" cy="5303520"/>
          </a:xfrm>
          <a:prstGeom prst="rect">
            <a:avLst/>
          </a:prstGeom>
          <a:noFill/>
        </p:spPr>
        <p:txBody>
          <a:bodyPr wrap="square">
            <a:spAutoFit/>
          </a:bodyPr>
          <a:lstStyle/>
          <a:p>
            <a:pPr>
              <a:spcAft>
                <a:spcPts val="1000"/>
              </a:spcAft>
              <a:defRPr sz="2200">
                <a:solidFill>
                  <a:srgbClr val="1F2933"/>
                </a:solidFill>
              </a:defRPr>
            </a:pPr>
            <a:r>
              <a:t>Now that you understand how computers, OSs, and networks work...</a:t>
            </a:r>
          </a:p>
          <a:p>
            <a:pPr>
              <a:spcAft>
                <a:spcPts val="1000"/>
              </a:spcAft>
              <a:defRPr sz="2200">
                <a:solidFill>
                  <a:srgbClr val="1F2933"/>
                </a:solidFill>
              </a:defRPr>
            </a:pPr>
            <a:endParaRPr/>
          </a:p>
          <a:p>
            <a:pPr>
              <a:spcAft>
                <a:spcPts val="1000"/>
              </a:spcAft>
              <a:defRPr sz="2200">
                <a:solidFill>
                  <a:srgbClr val="1F2933"/>
                </a:solidFill>
              </a:defRPr>
            </a:pPr>
            <a:r>
              <a:t>Module 2: Cybersecurity Principles and Defense</a:t>
            </a:r>
          </a:p>
          <a:p>
            <a:pPr>
              <a:spcAft>
                <a:spcPts val="1000"/>
              </a:spcAft>
              <a:defRPr sz="2200">
                <a:solidFill>
                  <a:srgbClr val="1F2933"/>
                </a:solidFill>
              </a:defRPr>
            </a:pPr>
            <a:endParaRPr/>
          </a:p>
          <a:p>
            <a:pPr>
              <a:spcAft>
                <a:spcPts val="1000"/>
              </a:spcAft>
              <a:defRPr sz="2200">
                <a:solidFill>
                  <a:srgbClr val="1F2933"/>
                </a:solidFill>
              </a:defRPr>
            </a:pPr>
            <a:r>
              <a:t>• We will learn HOW attackers exploit everything we just studied:</a:t>
            </a:r>
          </a:p>
          <a:p>
            <a:pPr>
              <a:spcAft>
                <a:spcPts val="1000"/>
              </a:spcAft>
              <a:defRPr sz="2200">
                <a:solidFill>
                  <a:srgbClr val="1F2933"/>
                </a:solidFill>
              </a:defRPr>
            </a:pPr>
            <a:r>
              <a:t>   → Port 23 Telnet? That's a vulnerability.</a:t>
            </a:r>
          </a:p>
          <a:p>
            <a:pPr>
              <a:spcAft>
                <a:spcPts val="1000"/>
              </a:spcAft>
              <a:defRPr sz="2200">
                <a:solidFill>
                  <a:srgbClr val="1F2933"/>
                </a:solidFill>
              </a:defRPr>
            </a:pPr>
            <a:r>
              <a:t>   → XOR operations? That's how malware hides.</a:t>
            </a:r>
          </a:p>
          <a:p>
            <a:pPr>
              <a:spcAft>
                <a:spcPts val="1000"/>
              </a:spcAft>
              <a:defRPr sz="2200">
                <a:solidFill>
                  <a:srgbClr val="1F2933"/>
                </a:solidFill>
              </a:defRPr>
            </a:pPr>
            <a:r>
              <a:t>   → /tmp and C:\Temp? Malware's favorite hiding spots.</a:t>
            </a:r>
          </a:p>
          <a:p>
            <a:pPr>
              <a:spcAft>
                <a:spcPts val="1000"/>
              </a:spcAft>
              <a:defRPr sz="2200">
                <a:solidFill>
                  <a:srgbClr val="1F2933"/>
                </a:solidFill>
              </a:defRPr>
            </a:pPr>
            <a:endParaRPr/>
          </a:p>
          <a:p>
            <a:pPr>
              <a:spcAft>
                <a:spcPts val="1000"/>
              </a:spcAft>
              <a:defRPr sz="2200">
                <a:solidFill>
                  <a:srgbClr val="1F2933"/>
                </a:solidFill>
              </a:defRPr>
            </a:pPr>
            <a:r>
              <a:t>Coming up:</a:t>
            </a:r>
          </a:p>
          <a:p>
            <a:pPr>
              <a:spcAft>
                <a:spcPts val="1000"/>
              </a:spcAft>
              <a:defRPr sz="2200">
                <a:solidFill>
                  <a:srgbClr val="1F2933"/>
                </a:solidFill>
              </a:defRPr>
            </a:pPr>
            <a:r>
              <a:t>   • CIA Triad, Threats &amp; Attack Types</a:t>
            </a:r>
          </a:p>
          <a:p>
            <a:pPr>
              <a:spcAft>
                <a:spcPts val="1000"/>
              </a:spcAft>
              <a:defRPr sz="2200">
                <a:solidFill>
                  <a:srgbClr val="1F2933"/>
                </a:solidFill>
              </a:defRPr>
            </a:pPr>
            <a:r>
              <a:t>   • Network Security: Firewalls, VPNs, Wireless</a:t>
            </a:r>
          </a:p>
          <a:p>
            <a:pPr>
              <a:spcAft>
                <a:spcPts val="1000"/>
              </a:spcAft>
              <a:defRPr sz="2200">
                <a:solidFill>
                  <a:srgbClr val="1F2933"/>
                </a:solidFill>
              </a:defRPr>
            </a:pPr>
            <a:r>
              <a:t>   • Cryptography: Encryption, Hashing, Digital Signatures</a:t>
            </a:r>
          </a:p>
          <a:p>
            <a:pPr>
              <a:spcAft>
                <a:spcPts val="1000"/>
              </a:spcAft>
              <a:defRPr sz="2200">
                <a:solidFill>
                  <a:srgbClr val="1F2933"/>
                </a:solidFill>
              </a:defRPr>
            </a:pPr>
            <a:r>
              <a:t>   • Authentication, Access Control, IDS/IPS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7135</Words>
  <Application>Microsoft Macintosh PowerPoint</Application>
  <PresentationFormat>Widescreen</PresentationFormat>
  <Paragraphs>482</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siame</cp:lastModifiedBy>
  <cp:revision>2</cp:revision>
  <dcterms:created xsi:type="dcterms:W3CDTF">2013-01-27T09:14:16Z</dcterms:created>
  <dcterms:modified xsi:type="dcterms:W3CDTF">2026-04-02T21:00:27Z</dcterms:modified>
  <cp:category/>
</cp:coreProperties>
</file>